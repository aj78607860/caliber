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640080" y="640080"/>
            <a:ext cx="365760" cy="365760"/>
          </a:xfrm>
          <a:prstGeom prst="rect">
            <a:avLst/>
          </a:prstGeom>
          <a:solidFill>
            <a:srgbClr val="ED2024"/>
          </a:solidFill>
          <a:ln/>
        </p:spPr>
      </p:sp>
      <p:sp>
        <p:nvSpPr>
          <p:cNvPr id="3" name="Text 1"/>
          <p:cNvSpPr/>
          <p:nvPr/>
        </p:nvSpPr>
        <p:spPr>
          <a:xfrm>
            <a:off x="640080" y="640080"/>
            <a:ext cx="365760" cy="365760"/>
          </a:xfrm>
          <a:prstGeom prst="rect">
            <a:avLst/>
          </a:prstGeom>
          <a:noFill/>
          <a:ln/>
        </p:spPr>
        <p:txBody>
          <a:bodyPr wrap="square" lIns="0" tIns="0" rIns="0" bIns="0" rtlCol="0" anchor="ctr"/>
          <a:lstStyle/>
          <a:p>
            <a:pPr algn="ctr" indent="0" marL="0">
              <a:buNone/>
            </a:pPr>
            <a:r>
              <a:rPr lang="en-US" sz="1800" b="1" dirty="0">
                <a:solidFill>
                  <a:srgbClr val="000000"/>
                </a:solidFill>
                <a:latin typeface="Britti Sans, Helvetica Neue, Helvetica, Arial" pitchFamily="34" charset="0"/>
                <a:ea typeface="Britti Sans, Helvetica Neue, Helvetica, Arial" pitchFamily="34" charset="-122"/>
                <a:cs typeface="Britti Sans, Helvetica Neue, Helvetica, Arial" pitchFamily="34" charset="-120"/>
              </a:rPr>
              <a:t>C</a:t>
            </a:r>
            <a:endParaRPr lang="en-US" sz="1800" dirty="0"/>
          </a:p>
        </p:txBody>
      </p:sp>
      <p:sp>
        <p:nvSpPr>
          <p:cNvPr id="4" name="Text 2"/>
          <p:cNvSpPr/>
          <p:nvPr/>
        </p:nvSpPr>
        <p:spPr>
          <a:xfrm>
            <a:off x="1143000" y="658368"/>
            <a:ext cx="3657600" cy="329184"/>
          </a:xfrm>
          <a:prstGeom prst="rect">
            <a:avLst/>
          </a:prstGeom>
          <a:noFill/>
          <a:ln/>
        </p:spPr>
        <p:txBody>
          <a:bodyPr wrap="square" lIns="0" tIns="0" rIns="0" bIns="0" rtlCol="0" anchor="ctr"/>
          <a:lstStyle/>
          <a:p>
            <a:pPr indent="0" marL="0">
              <a:buNone/>
            </a:pPr>
            <a:r>
              <a:rPr lang="en-US" sz="1600" spc="1000" kern="0" dirty="0">
                <a:solidFill>
                  <a:srgbClr val="F5F5F3"/>
                </a:solidFill>
                <a:latin typeface="Dialectic-Type-230710, Helvetica Neue, Helvetica, Arial" pitchFamily="34" charset="0"/>
                <a:ea typeface="Dialectic-Type-230710, Helvetica Neue, Helvetica, Arial" pitchFamily="34" charset="-122"/>
                <a:cs typeface="Dialectic-Type-230710, Helvetica Neue, Helvetica, Arial" pitchFamily="34" charset="-120"/>
              </a:rPr>
              <a:t>CALIBER</a:t>
            </a:r>
            <a:endParaRPr lang="en-US" sz="1600" dirty="0"/>
          </a:p>
        </p:txBody>
      </p:sp>
      <p:sp>
        <p:nvSpPr>
          <p:cNvPr id="5" name="Text 3"/>
          <p:cNvSpPr/>
          <p:nvPr/>
        </p:nvSpPr>
        <p:spPr>
          <a:xfrm>
            <a:off x="640080" y="2103120"/>
            <a:ext cx="10972800" cy="1005840"/>
          </a:xfrm>
          <a:prstGeom prst="rect">
            <a:avLst/>
          </a:prstGeom>
          <a:noFill/>
          <a:ln/>
        </p:spPr>
        <p:txBody>
          <a:bodyPr wrap="square" lIns="0" tIns="0" rIns="0" bIns="0" rtlCol="0" anchor="t"/>
          <a:lstStyle/>
          <a:p>
            <a:pPr indent="0" marL="0">
              <a:buNone/>
            </a:pPr>
            <a:r>
              <a:rPr lang="en-US" sz="4800" dirty="0">
                <a:solidFill>
                  <a:srgbClr val="F5F5F3"/>
                </a:solidFill>
                <a:latin typeface="Britti Sans, Helvetica Neue, Helvetica, Arial" pitchFamily="34" charset="0"/>
                <a:ea typeface="Britti Sans, Helvetica Neue, Helvetica, Arial" pitchFamily="34" charset="-122"/>
                <a:cs typeface="Britti Sans, Helvetica Neue, Helvetica, Arial" pitchFamily="34" charset="-120"/>
              </a:rPr>
              <a:t>The privacy</a:t>
            </a:r>
            <a:endParaRPr lang="en-US" sz="4800" dirty="0"/>
          </a:p>
        </p:txBody>
      </p:sp>
      <p:sp>
        <p:nvSpPr>
          <p:cNvPr id="6" name="Text 4"/>
          <p:cNvSpPr/>
          <p:nvPr/>
        </p:nvSpPr>
        <p:spPr>
          <a:xfrm>
            <a:off x="640080" y="2926080"/>
            <a:ext cx="10972800" cy="1005840"/>
          </a:xfrm>
          <a:prstGeom prst="rect">
            <a:avLst/>
          </a:prstGeom>
          <a:noFill/>
          <a:ln/>
        </p:spPr>
        <p:txBody>
          <a:bodyPr wrap="square" lIns="0" tIns="0" rIns="0" bIns="0" rtlCol="0" anchor="t"/>
          <a:lstStyle/>
          <a:p>
            <a:pPr indent="0" marL="0">
              <a:buNone/>
            </a:pPr>
            <a:r>
              <a:rPr lang="en-US" sz="4800" dirty="0">
                <a:solidFill>
                  <a:srgbClr val="F5F5F3"/>
                </a:solidFill>
                <a:latin typeface="Britti Sans, Helvetica Neue, Helvetica, Arial" pitchFamily="34" charset="0"/>
                <a:ea typeface="Britti Sans, Helvetica Neue, Helvetica, Arial" pitchFamily="34" charset="-122"/>
                <a:cs typeface="Britti Sans, Helvetica Neue, Helvetica, Arial" pitchFamily="34" charset="-120"/>
              </a:rPr>
              <a:t>LLM gateway</a:t>
            </a:r>
            <a:endParaRPr lang="en-US" sz="4800" dirty="0"/>
          </a:p>
        </p:txBody>
      </p:sp>
      <p:sp>
        <p:nvSpPr>
          <p:cNvPr id="7" name="Text 5"/>
          <p:cNvSpPr/>
          <p:nvPr/>
        </p:nvSpPr>
        <p:spPr>
          <a:xfrm>
            <a:off x="640080" y="3749040"/>
            <a:ext cx="10972800" cy="1005840"/>
          </a:xfrm>
          <a:prstGeom prst="rect">
            <a:avLst/>
          </a:prstGeom>
          <a:noFill/>
          <a:ln/>
        </p:spPr>
        <p:txBody>
          <a:bodyPr wrap="square" lIns="0" tIns="0" rIns="0" bIns="0" rtlCol="0" anchor="t"/>
          <a:lstStyle/>
          <a:p>
            <a:pPr indent="0" marL="0">
              <a:buNone/>
            </a:pPr>
            <a:r>
              <a:rPr lang="en-US" sz="4800" dirty="0">
                <a:solidFill>
                  <a:srgbClr val="ED2024"/>
                </a:solidFill>
                <a:latin typeface="Britti Sans, Helvetica Neue, Helvetica, Arial" pitchFamily="34" charset="0"/>
                <a:ea typeface="Britti Sans, Helvetica Neue, Helvetica, Arial" pitchFamily="34" charset="-122"/>
                <a:cs typeface="Britti Sans, Helvetica Neue, Helvetica, Arial" pitchFamily="34" charset="-120"/>
              </a:rPr>
              <a:t>for finance and operations.</a:t>
            </a:r>
            <a:endParaRPr lang="en-US" sz="4800" dirty="0"/>
          </a:p>
        </p:txBody>
      </p:sp>
      <p:sp>
        <p:nvSpPr>
          <p:cNvPr id="8" name="Shape 6"/>
          <p:cNvSpPr/>
          <p:nvPr/>
        </p:nvSpPr>
        <p:spPr>
          <a:xfrm>
            <a:off x="640080" y="4937760"/>
            <a:ext cx="1097280" cy="18288"/>
          </a:xfrm>
          <a:prstGeom prst="rect">
            <a:avLst/>
          </a:prstGeom>
          <a:solidFill>
            <a:srgbClr val="ED2024"/>
          </a:solidFill>
          <a:ln/>
        </p:spPr>
      </p:sp>
      <p:sp>
        <p:nvSpPr>
          <p:cNvPr id="9" name="Text 7"/>
          <p:cNvSpPr/>
          <p:nvPr/>
        </p:nvSpPr>
        <p:spPr>
          <a:xfrm>
            <a:off x="640080" y="5074920"/>
            <a:ext cx="7315200" cy="1005840"/>
          </a:xfrm>
          <a:prstGeom prst="rect">
            <a:avLst/>
          </a:prstGeom>
          <a:noFill/>
          <a:ln/>
        </p:spPr>
        <p:txBody>
          <a:bodyPr wrap="square" lIns="0" tIns="0" rIns="0" bIns="0" rtlCol="0" anchor="t"/>
          <a:lstStyle/>
          <a:p>
            <a:pPr indent="0" marL="0">
              <a:buNone/>
            </a:pPr>
            <a:r>
              <a:rPr lang="en-US" sz="1300" dirty="0">
                <a:solidFill>
                  <a:srgbClr val="8A8A87"/>
                </a:solidFill>
                <a:latin typeface="Britti Sans, Helvetica Neue, Helvetica, Arial" pitchFamily="34" charset="0"/>
                <a:ea typeface="Britti Sans, Helvetica Neue, Helvetica, Arial" pitchFamily="34" charset="-122"/>
                <a:cs typeface="Britti Sans, Helvetica Neue, Helvetica, Arial" pitchFamily="34" charset="-120"/>
              </a:rPr>
              <a:t>Caliber is the privacy ingress for finance teams. Sensitive data is redacted at the gateway or routed to Caliber Model running in your trust boundary — never to a third-party LLM. Every interaction recorded in a tamper-evident audit chain.</a:t>
            </a:r>
            <a:endParaRPr lang="en-US" sz="1300" dirty="0"/>
          </a:p>
        </p:txBody>
      </p:sp>
      <p:sp>
        <p:nvSpPr>
          <p:cNvPr id="10" name="Text 8"/>
          <p:cNvSpPr/>
          <p:nvPr/>
        </p:nvSpPr>
        <p:spPr>
          <a:xfrm>
            <a:off x="9144000" y="6217920"/>
            <a:ext cx="2560320" cy="228600"/>
          </a:xfrm>
          <a:prstGeom prst="rect">
            <a:avLst/>
          </a:prstGeom>
          <a:noFill/>
          <a:ln/>
        </p:spPr>
        <p:txBody>
          <a:bodyPr wrap="square" lIns="0" tIns="0" rIns="0" bIns="0" rtlCol="0" anchor="ctr"/>
          <a:lstStyle/>
          <a:p>
            <a:pPr algn="r" indent="0" marL="0">
              <a:buNone/>
            </a:pPr>
            <a:r>
              <a:rPr lang="en-US" sz="900" spc="600" kern="0" dirty="0">
                <a:solidFill>
                  <a:srgbClr val="8A8A87"/>
                </a:solidFill>
                <a:latin typeface="Menlo, Consolas, Courier New" pitchFamily="34" charset="0"/>
                <a:ea typeface="Menlo, Consolas, Courier New" pitchFamily="34" charset="-122"/>
                <a:cs typeface="Menlo, Consolas, Courier New" pitchFamily="34" charset="-120"/>
              </a:rPr>
              <a:t>AMAAN JALWA</a:t>
            </a:r>
            <a:endParaRPr lang="en-US" sz="900" dirty="0"/>
          </a:p>
        </p:txBody>
      </p:sp>
      <p:sp>
        <p:nvSpPr>
          <p:cNvPr id="11" name="Text 9"/>
          <p:cNvSpPr/>
          <p:nvPr/>
        </p:nvSpPr>
        <p:spPr>
          <a:xfrm>
            <a:off x="9144000" y="6446520"/>
            <a:ext cx="2560320" cy="228600"/>
          </a:xfrm>
          <a:prstGeom prst="rect">
            <a:avLst/>
          </a:prstGeom>
          <a:noFill/>
          <a:ln/>
        </p:spPr>
        <p:txBody>
          <a:bodyPr wrap="square" lIns="0" tIns="0" rIns="0" bIns="0" rtlCol="0" anchor="ctr"/>
          <a:lstStyle/>
          <a:p>
            <a:pPr algn="r" indent="0" marL="0">
              <a:buNone/>
            </a:pPr>
            <a:r>
              <a:rPr lang="en-US" sz="800" spc="600" kern="0" dirty="0">
                <a:solidFill>
                  <a:srgbClr val="555552"/>
                </a:solidFill>
                <a:latin typeface="Menlo, Consolas, Courier New" pitchFamily="34" charset="0"/>
                <a:ea typeface="Menlo, Consolas, Courier New" pitchFamily="34" charset="-122"/>
                <a:cs typeface="Menlo, Consolas, Courier New" pitchFamily="34" charset="-120"/>
              </a:rPr>
              <a:t>FOUNDER · CALIBER</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640080" y="502920"/>
            <a:ext cx="10972800" cy="274320"/>
          </a:xfrm>
          <a:prstGeom prst="rect">
            <a:avLst/>
          </a:prstGeom>
          <a:noFill/>
          <a:ln/>
        </p:spPr>
        <p:txBody>
          <a:bodyPr wrap="square" lIns="0" tIns="0" rIns="0" bIns="0" rtlCol="0" anchor="ctr"/>
          <a:lstStyle/>
          <a:p>
            <a:pPr indent="0" marL="0">
              <a:buNone/>
            </a:pPr>
            <a:r>
              <a:rPr lang="en-US" sz="1000" spc="800" kern="0" dirty="0">
                <a:solidFill>
                  <a:srgbClr val="ED2024"/>
                </a:solidFill>
                <a:latin typeface="Menlo, Consolas, Courier New" pitchFamily="34" charset="0"/>
                <a:ea typeface="Menlo, Consolas, Courier New" pitchFamily="34" charset="-122"/>
                <a:cs typeface="Menlo, Consolas, Courier New" pitchFamily="34" charset="-120"/>
              </a:rPr>
              <a:t>01 · THE PROBLEM</a:t>
            </a:r>
            <a:endParaRPr lang="en-US" sz="1000" dirty="0"/>
          </a:p>
        </p:txBody>
      </p:sp>
      <p:sp>
        <p:nvSpPr>
          <p:cNvPr id="3" name="Text 1"/>
          <p:cNvSpPr/>
          <p:nvPr/>
        </p:nvSpPr>
        <p:spPr>
          <a:xfrm>
            <a:off x="640080" y="1005840"/>
            <a:ext cx="10972800" cy="914400"/>
          </a:xfrm>
          <a:prstGeom prst="rect">
            <a:avLst/>
          </a:prstGeom>
          <a:noFill/>
          <a:ln/>
        </p:spPr>
        <p:txBody>
          <a:bodyPr wrap="square" lIns="0" tIns="0" rIns="0" bIns="0" rtlCol="0" anchor="ctr"/>
          <a:lstStyle/>
          <a:p>
            <a:pPr indent="0" marL="0">
              <a:buNone/>
            </a:pPr>
            <a:r>
              <a:rPr lang="en-US" sz="4400" dirty="0">
                <a:solidFill>
                  <a:srgbClr val="F5F5F3"/>
                </a:solidFill>
                <a:latin typeface="Britti Sans, Helvetica Neue, Helvetica, Arial" pitchFamily="34" charset="0"/>
                <a:ea typeface="Britti Sans, Helvetica Neue, Helvetica, Arial" pitchFamily="34" charset="-122"/>
                <a:cs typeface="Britti Sans, Helvetica Neue, Helvetica, Arial" pitchFamily="34" charset="-120"/>
              </a:rPr>
              <a:t>Your CFO wants AI.</a:t>
            </a:r>
            <a:endParaRPr lang="en-US" sz="4400" dirty="0"/>
          </a:p>
        </p:txBody>
      </p:sp>
      <p:sp>
        <p:nvSpPr>
          <p:cNvPr id="4" name="Text 2"/>
          <p:cNvSpPr/>
          <p:nvPr/>
        </p:nvSpPr>
        <p:spPr>
          <a:xfrm>
            <a:off x="640080" y="1691640"/>
            <a:ext cx="10972800" cy="914400"/>
          </a:xfrm>
          <a:prstGeom prst="rect">
            <a:avLst/>
          </a:prstGeom>
          <a:noFill/>
          <a:ln/>
        </p:spPr>
        <p:txBody>
          <a:bodyPr wrap="square" lIns="0" tIns="0" rIns="0" bIns="0" rtlCol="0" anchor="ctr"/>
          <a:lstStyle/>
          <a:p>
            <a:pPr indent="0" marL="0">
              <a:buNone/>
            </a:pPr>
            <a:r>
              <a:rPr lang="en-US" sz="4400" dirty="0">
                <a:solidFill>
                  <a:srgbClr val="ED2024"/>
                </a:solidFill>
                <a:latin typeface="Britti Sans, Helvetica Neue, Helvetica, Arial" pitchFamily="34" charset="0"/>
                <a:ea typeface="Britti Sans, Helvetica Neue, Helvetica, Arial" pitchFamily="34" charset="-122"/>
                <a:cs typeface="Britti Sans, Helvetica Neue, Helvetica, Arial" pitchFamily="34" charset="-120"/>
              </a:rPr>
              <a:t>Your CISO won't allow it.</a:t>
            </a:r>
            <a:endParaRPr lang="en-US" sz="4400" dirty="0"/>
          </a:p>
        </p:txBody>
      </p:sp>
      <p:sp>
        <p:nvSpPr>
          <p:cNvPr id="5" name="Shape 3"/>
          <p:cNvSpPr/>
          <p:nvPr/>
        </p:nvSpPr>
        <p:spPr>
          <a:xfrm>
            <a:off x="640080" y="3017520"/>
            <a:ext cx="914400" cy="4572"/>
          </a:xfrm>
          <a:prstGeom prst="rect">
            <a:avLst/>
          </a:prstGeom>
          <a:solidFill>
            <a:srgbClr val="ED2024"/>
          </a:solidFill>
          <a:ln/>
        </p:spPr>
      </p:sp>
      <p:sp>
        <p:nvSpPr>
          <p:cNvPr id="6" name="Text 4"/>
          <p:cNvSpPr/>
          <p:nvPr/>
        </p:nvSpPr>
        <p:spPr>
          <a:xfrm>
            <a:off x="640080" y="3474720"/>
            <a:ext cx="5120640" cy="274320"/>
          </a:xfrm>
          <a:prstGeom prst="rect">
            <a:avLst/>
          </a:prstGeom>
          <a:noFill/>
          <a:ln/>
        </p:spPr>
        <p:txBody>
          <a:bodyPr wrap="square" lIns="0" tIns="0" rIns="0" bIns="0" rtlCol="0" anchor="ctr"/>
          <a:lstStyle/>
          <a:p>
            <a:pPr indent="0" marL="0">
              <a:buNone/>
            </a:pPr>
            <a:r>
              <a:rPr lang="en-US" sz="900" spc="600" kern="0" dirty="0">
                <a:solidFill>
                  <a:srgbClr val="3ECF8E"/>
                </a:solidFill>
                <a:latin typeface="Menlo, Consolas, Courier New" pitchFamily="34" charset="0"/>
                <a:ea typeface="Menlo, Consolas, Courier New" pitchFamily="34" charset="-122"/>
                <a:cs typeface="Menlo, Consolas, Courier New" pitchFamily="34" charset="-120"/>
              </a:rPr>
              <a:t>THE CFO SEES UPSIDE</a:t>
            </a:r>
            <a:endParaRPr lang="en-US" sz="900" dirty="0"/>
          </a:p>
        </p:txBody>
      </p:sp>
      <p:sp>
        <p:nvSpPr>
          <p:cNvPr id="7" name="Text 5"/>
          <p:cNvSpPr/>
          <p:nvPr/>
        </p:nvSpPr>
        <p:spPr>
          <a:xfrm>
            <a:off x="640080" y="3886200"/>
            <a:ext cx="5120640" cy="2377440"/>
          </a:xfrm>
          <a:prstGeom prst="rect">
            <a:avLst/>
          </a:prstGeom>
          <a:noFill/>
          <a:ln/>
        </p:spPr>
        <p:txBody>
          <a:bodyPr wrap="square" lIns="0" tIns="0" rIns="0" bIns="0" rtlCol="0" anchor="t"/>
          <a:lstStyle/>
          <a:p>
            <a:pPr indent="0" marL="0">
              <a:spcAft>
                <a:spcPts val="600"/>
              </a:spcAft>
              <a:buNone/>
            </a:pPr>
            <a:r>
              <a:rPr lang="en-US" sz="1400" dirty="0">
                <a:solidFill>
                  <a:srgbClr val="F5F5F3"/>
                </a:solidFill>
                <a:latin typeface="Britti Sans, Helvetica Neue, Helvetica, Arial" pitchFamily="34" charset="0"/>
                <a:ea typeface="Britti Sans, Helvetica Neue, Helvetica, Arial" pitchFamily="34" charset="-122"/>
                <a:cs typeface="Britti Sans, Helvetica Neue, Helvetica, Arial" pitchFamily="34" charset="-120"/>
              </a:rPr>
              <a:t>10+ hours/week saved on reconciliations, summaries, drafting.
</a:t>
            </a:r>
            <a:pPr indent="0" marL="0">
              <a:spcAft>
                <a:spcPts val="600"/>
              </a:spcAft>
              <a:buNone/>
            </a:pPr>
            <a:r>
              <a:rPr lang="en-US" sz="1400" dirty="0">
                <a:solidFill>
                  <a:srgbClr val="8A8A87"/>
                </a:solidFill>
                <a:latin typeface="Britti Sans, Helvetica Neue, Helvetica, Arial" pitchFamily="34" charset="0"/>
                <a:ea typeface="Britti Sans, Helvetica Neue, Helvetica, Arial" pitchFamily="34" charset="-122"/>
                <a:cs typeface="Britti Sans, Helvetica Neue, Helvetica, Arial" pitchFamily="34" charset="-120"/>
              </a:rPr>
              <a:t>Faster cash forecasts, AP anomaly detection, vendor reconciliation.
</a:t>
            </a:r>
            <a:pPr indent="0" marL="0">
              <a:spcAft>
                <a:spcPts val="600"/>
              </a:spcAft>
              <a:buNone/>
            </a:pPr>
            <a:r>
              <a:rPr lang="en-US" sz="1400" dirty="0">
                <a:solidFill>
                  <a:srgbClr val="8A8A87"/>
                </a:solidFill>
                <a:latin typeface="Britti Sans, Helvetica Neue, Helvetica, Arial" pitchFamily="34" charset="0"/>
                <a:ea typeface="Britti Sans, Helvetica Neue, Helvetica, Arial" pitchFamily="34" charset="-122"/>
                <a:cs typeface="Britti Sans, Helvetica Neue, Helvetica, Arial" pitchFamily="34" charset="-120"/>
              </a:rPr>
              <a:t>Plain-English answers from the dashboard, on demand.
</a:t>
            </a:r>
            <a:pPr indent="0" marL="0">
              <a:spcAft>
                <a:spcPts val="600"/>
              </a:spcAft>
              <a:buNone/>
            </a:pPr>
            <a:r>
              <a:rPr lang="en-US" sz="1400" dirty="0">
                <a:solidFill>
                  <a:srgbClr val="8A8A87"/>
                </a:solidFill>
                <a:latin typeface="Britti Sans, Helvetica Neue, Helvetica, Arial" pitchFamily="34" charset="0"/>
                <a:ea typeface="Britti Sans, Helvetica Neue, Helvetica, Arial" pitchFamily="34" charset="-122"/>
                <a:cs typeface="Britti Sans, Helvetica Neue, Helvetica, Arial" pitchFamily="34" charset="-120"/>
              </a:rPr>
              <a:t>Junior analyst leverage on senior-controller work.</a:t>
            </a:r>
            <a:endParaRPr lang="en-US" sz="1400" dirty="0"/>
          </a:p>
        </p:txBody>
      </p:sp>
      <p:sp>
        <p:nvSpPr>
          <p:cNvPr id="8" name="Text 6"/>
          <p:cNvSpPr/>
          <p:nvPr/>
        </p:nvSpPr>
        <p:spPr>
          <a:xfrm>
            <a:off x="6446520" y="3474720"/>
            <a:ext cx="5120640" cy="274320"/>
          </a:xfrm>
          <a:prstGeom prst="rect">
            <a:avLst/>
          </a:prstGeom>
          <a:noFill/>
          <a:ln/>
        </p:spPr>
        <p:txBody>
          <a:bodyPr wrap="square" lIns="0" tIns="0" rIns="0" bIns="0" rtlCol="0" anchor="ctr"/>
          <a:lstStyle/>
          <a:p>
            <a:pPr indent="0" marL="0">
              <a:buNone/>
            </a:pPr>
            <a:r>
              <a:rPr lang="en-US" sz="900" spc="600" kern="0" dirty="0">
                <a:solidFill>
                  <a:srgbClr val="EF4747"/>
                </a:solidFill>
                <a:latin typeface="Menlo, Consolas, Courier New" pitchFamily="34" charset="0"/>
                <a:ea typeface="Menlo, Consolas, Courier New" pitchFamily="34" charset="-122"/>
                <a:cs typeface="Menlo, Consolas, Courier New" pitchFamily="34" charset="-120"/>
              </a:rPr>
              <a:t>THE CISO SEES AUDIT RISK</a:t>
            </a:r>
            <a:endParaRPr lang="en-US" sz="900" dirty="0"/>
          </a:p>
        </p:txBody>
      </p:sp>
      <p:sp>
        <p:nvSpPr>
          <p:cNvPr id="9" name="Text 7"/>
          <p:cNvSpPr/>
          <p:nvPr/>
        </p:nvSpPr>
        <p:spPr>
          <a:xfrm>
            <a:off x="6446520" y="3886200"/>
            <a:ext cx="5120640" cy="2377440"/>
          </a:xfrm>
          <a:prstGeom prst="rect">
            <a:avLst/>
          </a:prstGeom>
          <a:noFill/>
          <a:ln/>
        </p:spPr>
        <p:txBody>
          <a:bodyPr wrap="square" lIns="0" tIns="0" rIns="0" bIns="0" rtlCol="0" anchor="t"/>
          <a:lstStyle/>
          <a:p>
            <a:pPr indent="0" marL="0">
              <a:spcAft>
                <a:spcPts val="600"/>
              </a:spcAft>
              <a:buNone/>
            </a:pPr>
            <a:r>
              <a:rPr lang="en-US" sz="1400" dirty="0">
                <a:solidFill>
                  <a:srgbClr val="F5F5F3"/>
                </a:solidFill>
                <a:latin typeface="Britti Sans, Helvetica Neue, Helvetica, Arial" pitchFamily="34" charset="0"/>
                <a:ea typeface="Britti Sans, Helvetica Neue, Helvetica, Arial" pitchFamily="34" charset="-122"/>
                <a:cs typeface="Britti Sans, Helvetica Neue, Helvetica, Arial" pitchFamily="34" charset="-120"/>
              </a:rPr>
              <a:t>Bank-account numbers and IBANs in ChatGPT logs forever.
</a:t>
            </a:r>
            <a:pPr indent="0" marL="0">
              <a:spcAft>
                <a:spcPts val="600"/>
              </a:spcAft>
              <a:buNone/>
            </a:pPr>
            <a:r>
              <a:rPr lang="en-US" sz="1400" dirty="0">
                <a:solidFill>
                  <a:srgbClr val="8A8A87"/>
                </a:solidFill>
                <a:latin typeface="Britti Sans, Helvetica Neue, Helvetica, Arial" pitchFamily="34" charset="0"/>
                <a:ea typeface="Britti Sans, Helvetica Neue, Helvetica, Arial" pitchFamily="34" charset="-122"/>
                <a:cs typeface="Britti Sans, Helvetica Neue, Helvetica, Arial" pitchFamily="34" charset="-120"/>
              </a:rPr>
              <a:t>Vendor relationships exposed to a third-party model.
</a:t>
            </a:r>
            <a:pPr indent="0" marL="0">
              <a:spcAft>
                <a:spcPts val="600"/>
              </a:spcAft>
              <a:buNone/>
            </a:pPr>
            <a:r>
              <a:rPr lang="en-US" sz="1400" dirty="0">
                <a:solidFill>
                  <a:srgbClr val="8A8A87"/>
                </a:solidFill>
                <a:latin typeface="Britti Sans, Helvetica Neue, Helvetica, Arial" pitchFamily="34" charset="0"/>
                <a:ea typeface="Britti Sans, Helvetica Neue, Helvetica, Arial" pitchFamily="34" charset="-122"/>
                <a:cs typeface="Britti Sans, Helvetica Neue, Helvetica, Arial" pitchFamily="34" charset="-120"/>
              </a:rPr>
              <a:t>No way to prove what was sent or when — no audit trail.
</a:t>
            </a:r>
            <a:pPr indent="0" marL="0">
              <a:spcAft>
                <a:spcPts val="600"/>
              </a:spcAft>
              <a:buNone/>
            </a:pPr>
            <a:r>
              <a:rPr lang="en-US" sz="1400" dirty="0">
                <a:solidFill>
                  <a:srgbClr val="8A8A87"/>
                </a:solidFill>
                <a:latin typeface="Britti Sans, Helvetica Neue, Helvetica, Arial" pitchFamily="34" charset="0"/>
                <a:ea typeface="Britti Sans, Helvetica Neue, Helvetica, Arial" pitchFamily="34" charset="-122"/>
                <a:cs typeface="Britti Sans, Helvetica Neue, Helvetica, Arial" pitchFamily="34" charset="-120"/>
              </a:rPr>
              <a:t>SOC 2 finding · regulator letter · board memo.</a:t>
            </a:r>
            <a:endParaRPr lang="en-US" sz="1400" dirty="0"/>
          </a:p>
        </p:txBody>
      </p:sp>
      <p:sp>
        <p:nvSpPr>
          <p:cNvPr id="10" name="Text 8"/>
          <p:cNvSpPr/>
          <p:nvPr/>
        </p:nvSpPr>
        <p:spPr>
          <a:xfrm>
            <a:off x="640080" y="6446520"/>
            <a:ext cx="1828800" cy="274320"/>
          </a:xfrm>
          <a:prstGeom prst="rect">
            <a:avLst/>
          </a:prstGeom>
          <a:noFill/>
          <a:ln/>
        </p:spPr>
        <p:txBody>
          <a:bodyPr wrap="square" lIns="0" tIns="0" rIns="0" bIns="0" rtlCol="0" anchor="ctr"/>
          <a:lstStyle/>
          <a:p>
            <a:pPr indent="0" marL="0">
              <a:buNone/>
            </a:pPr>
            <a:r>
              <a:rPr lang="en-US" sz="800" spc="800" kern="0" dirty="0">
                <a:solidFill>
                  <a:srgbClr val="555552"/>
                </a:solidFill>
                <a:latin typeface="Menlo, Consolas, Courier New" pitchFamily="34" charset="0"/>
                <a:ea typeface="Menlo, Consolas, Courier New" pitchFamily="34" charset="-122"/>
                <a:cs typeface="Menlo, Consolas, Courier New" pitchFamily="34" charset="-120"/>
              </a:rPr>
              <a:t>CALIBER</a:t>
            </a:r>
            <a:endParaRPr lang="en-US" sz="800" dirty="0"/>
          </a:p>
        </p:txBody>
      </p:sp>
      <p:sp>
        <p:nvSpPr>
          <p:cNvPr id="11" name="Text 9"/>
          <p:cNvSpPr/>
          <p:nvPr/>
        </p:nvSpPr>
        <p:spPr>
          <a:xfrm>
            <a:off x="10972800" y="6446520"/>
            <a:ext cx="914400" cy="274320"/>
          </a:xfrm>
          <a:prstGeom prst="rect">
            <a:avLst/>
          </a:prstGeom>
          <a:noFill/>
          <a:ln/>
        </p:spPr>
        <p:txBody>
          <a:bodyPr wrap="square" lIns="0" tIns="0" rIns="0" bIns="0" rtlCol="0" anchor="ctr"/>
          <a:lstStyle/>
          <a:p>
            <a:pPr algn="r" indent="0" marL="0">
              <a:buNone/>
            </a:pPr>
            <a:r>
              <a:rPr lang="en-US" sz="800" spc="400" kern="0" dirty="0">
                <a:solidFill>
                  <a:srgbClr val="555552"/>
                </a:solidFill>
                <a:latin typeface="Menlo, Consolas, Courier New" pitchFamily="34" charset="0"/>
                <a:ea typeface="Menlo, Consolas, Courier New" pitchFamily="34" charset="-122"/>
                <a:cs typeface="Menlo, Consolas, Courier New" pitchFamily="34" charset="-120"/>
              </a:rPr>
              <a:t>02 / 13</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640080" y="502920"/>
            <a:ext cx="10972800" cy="274320"/>
          </a:xfrm>
          <a:prstGeom prst="rect">
            <a:avLst/>
          </a:prstGeom>
          <a:noFill/>
          <a:ln/>
        </p:spPr>
        <p:txBody>
          <a:bodyPr wrap="square" lIns="0" tIns="0" rIns="0" bIns="0" rtlCol="0" anchor="ctr"/>
          <a:lstStyle/>
          <a:p>
            <a:pPr indent="0" marL="0">
              <a:buNone/>
            </a:pPr>
            <a:r>
              <a:rPr lang="en-US" sz="1000" spc="800" kern="0" dirty="0">
                <a:solidFill>
                  <a:srgbClr val="ED2024"/>
                </a:solidFill>
                <a:latin typeface="Menlo, Consolas, Courier New" pitchFamily="34" charset="0"/>
                <a:ea typeface="Menlo, Consolas, Courier New" pitchFamily="34" charset="-122"/>
                <a:cs typeface="Menlo, Consolas, Courier New" pitchFamily="34" charset="-120"/>
              </a:rPr>
              <a:t>02 · TODAY'S TWO BAD OPTIONS</a:t>
            </a:r>
            <a:endParaRPr lang="en-US" sz="1000" dirty="0"/>
          </a:p>
        </p:txBody>
      </p:sp>
      <p:sp>
        <p:nvSpPr>
          <p:cNvPr id="3" name="Text 1"/>
          <p:cNvSpPr/>
          <p:nvPr/>
        </p:nvSpPr>
        <p:spPr>
          <a:xfrm>
            <a:off x="640080" y="1005840"/>
            <a:ext cx="10972800" cy="1005840"/>
          </a:xfrm>
          <a:prstGeom prst="rect">
            <a:avLst/>
          </a:prstGeom>
          <a:noFill/>
          <a:ln/>
        </p:spPr>
        <p:txBody>
          <a:bodyPr wrap="square" lIns="0" tIns="0" rIns="0" bIns="0" rtlCol="0" anchor="ctr"/>
          <a:lstStyle/>
          <a:p>
            <a:pPr indent="0" marL="0">
              <a:buNone/>
            </a:pPr>
            <a:r>
              <a:rPr lang="en-US" sz="4400" dirty="0">
                <a:solidFill>
                  <a:srgbClr val="F5F5F3"/>
                </a:solidFill>
                <a:latin typeface="Britti Sans, Helvetica Neue, Helvetica, Arial" pitchFamily="34" charset="0"/>
                <a:ea typeface="Britti Sans, Helvetica Neue, Helvetica, Arial" pitchFamily="34" charset="-122"/>
                <a:cs typeface="Britti Sans, Helvetica Neue, Helvetica, Arial" pitchFamily="34" charset="-120"/>
              </a:rPr>
              <a:t>Either way, you lose.</a:t>
            </a:r>
            <a:endParaRPr lang="en-US" sz="4400" dirty="0"/>
          </a:p>
        </p:txBody>
      </p:sp>
      <p:sp>
        <p:nvSpPr>
          <p:cNvPr id="4" name="Shape 2"/>
          <p:cNvSpPr/>
          <p:nvPr/>
        </p:nvSpPr>
        <p:spPr>
          <a:xfrm>
            <a:off x="640080" y="2651760"/>
            <a:ext cx="914400" cy="4572"/>
          </a:xfrm>
          <a:prstGeom prst="rect">
            <a:avLst/>
          </a:prstGeom>
          <a:solidFill>
            <a:srgbClr val="ED2024"/>
          </a:solidFill>
          <a:ln/>
        </p:spPr>
      </p:sp>
      <p:sp>
        <p:nvSpPr>
          <p:cNvPr id="5" name="Shape 3"/>
          <p:cNvSpPr/>
          <p:nvPr/>
        </p:nvSpPr>
        <p:spPr>
          <a:xfrm>
            <a:off x="640080" y="3154680"/>
            <a:ext cx="5440680" cy="3108960"/>
          </a:xfrm>
          <a:prstGeom prst="rect">
            <a:avLst/>
          </a:prstGeom>
          <a:solidFill>
            <a:srgbClr val="0A0A0A"/>
          </a:solidFill>
          <a:ln w="6350">
            <a:solidFill>
              <a:srgbClr val="1F1F1F"/>
            </a:solidFill>
            <a:prstDash val="solid"/>
          </a:ln>
        </p:spPr>
      </p:sp>
      <p:sp>
        <p:nvSpPr>
          <p:cNvPr id="6" name="Shape 4"/>
          <p:cNvSpPr/>
          <p:nvPr/>
        </p:nvSpPr>
        <p:spPr>
          <a:xfrm>
            <a:off x="640080" y="3154680"/>
            <a:ext cx="22860" cy="3108960"/>
          </a:xfrm>
          <a:prstGeom prst="rect">
            <a:avLst/>
          </a:prstGeom>
          <a:solidFill>
            <a:srgbClr val="ED2024"/>
          </a:solidFill>
          <a:ln/>
        </p:spPr>
      </p:sp>
      <p:sp>
        <p:nvSpPr>
          <p:cNvPr id="7" name="Text 5"/>
          <p:cNvSpPr/>
          <p:nvPr/>
        </p:nvSpPr>
        <p:spPr>
          <a:xfrm>
            <a:off x="1097280" y="3520440"/>
            <a:ext cx="3657600" cy="274320"/>
          </a:xfrm>
          <a:prstGeom prst="rect">
            <a:avLst/>
          </a:prstGeom>
          <a:noFill/>
          <a:ln/>
        </p:spPr>
        <p:txBody>
          <a:bodyPr wrap="square" lIns="0" tIns="0" rIns="0" bIns="0" rtlCol="0" anchor="ctr"/>
          <a:lstStyle/>
          <a:p>
            <a:pPr indent="0" marL="0">
              <a:buNone/>
            </a:pPr>
            <a:r>
              <a:rPr lang="en-US" sz="900" spc="800" kern="0" dirty="0">
                <a:solidFill>
                  <a:srgbClr val="ED2024"/>
                </a:solidFill>
                <a:latin typeface="Menlo, Consolas, Courier New" pitchFamily="34" charset="0"/>
                <a:ea typeface="Menlo, Consolas, Courier New" pitchFamily="34" charset="-122"/>
                <a:cs typeface="Menlo, Consolas, Courier New" pitchFamily="34" charset="-120"/>
              </a:rPr>
              <a:t>OPTION A</a:t>
            </a:r>
            <a:endParaRPr lang="en-US" sz="900" dirty="0"/>
          </a:p>
        </p:txBody>
      </p:sp>
      <p:sp>
        <p:nvSpPr>
          <p:cNvPr id="8" name="Text 6"/>
          <p:cNvSpPr/>
          <p:nvPr/>
        </p:nvSpPr>
        <p:spPr>
          <a:xfrm>
            <a:off x="1097280" y="3840480"/>
            <a:ext cx="4800600" cy="640080"/>
          </a:xfrm>
          <a:prstGeom prst="rect">
            <a:avLst/>
          </a:prstGeom>
          <a:noFill/>
          <a:ln/>
        </p:spPr>
        <p:txBody>
          <a:bodyPr wrap="square" lIns="0" tIns="0" rIns="0" bIns="0" rtlCol="0" anchor="ctr"/>
          <a:lstStyle/>
          <a:p>
            <a:pPr indent="0" marL="0">
              <a:buNone/>
            </a:pPr>
            <a:r>
              <a:rPr lang="en-US" sz="3000" dirty="0">
                <a:solidFill>
                  <a:srgbClr val="F5F5F3"/>
                </a:solidFill>
                <a:latin typeface="Britti Sans, Helvetica Neue, Helvetica, Arial" pitchFamily="34" charset="0"/>
                <a:ea typeface="Britti Sans, Helvetica Neue, Helvetica, Arial" pitchFamily="34" charset="-122"/>
                <a:cs typeface="Britti Sans, Helvetica Neue, Helvetica, Arial" pitchFamily="34" charset="-120"/>
              </a:rPr>
              <a:t>Don't use AI.</a:t>
            </a:r>
            <a:endParaRPr lang="en-US" sz="3000" dirty="0"/>
          </a:p>
        </p:txBody>
      </p:sp>
      <p:sp>
        <p:nvSpPr>
          <p:cNvPr id="9" name="Text 7"/>
          <p:cNvSpPr/>
          <p:nvPr/>
        </p:nvSpPr>
        <p:spPr>
          <a:xfrm>
            <a:off x="1097280" y="4526280"/>
            <a:ext cx="4800600" cy="365760"/>
          </a:xfrm>
          <a:prstGeom prst="rect">
            <a:avLst/>
          </a:prstGeom>
          <a:noFill/>
          <a:ln/>
        </p:spPr>
        <p:txBody>
          <a:bodyPr wrap="square" lIns="0" tIns="0" rIns="0" bIns="0" rtlCol="0" anchor="ctr"/>
          <a:lstStyle/>
          <a:p>
            <a:pPr indent="0" marL="0">
              <a:buNone/>
            </a:pPr>
            <a:r>
              <a:rPr lang="en-US" sz="1400" dirty="0">
                <a:solidFill>
                  <a:srgbClr val="3ECF8E"/>
                </a:solidFill>
                <a:latin typeface="Britti Sans, Helvetica Neue, Helvetica, Arial" pitchFamily="34" charset="0"/>
                <a:ea typeface="Britti Sans, Helvetica Neue, Helvetica, Arial" pitchFamily="34" charset="-122"/>
                <a:cs typeface="Britti Sans, Helvetica Neue, Helvetica, Arial" pitchFamily="34" charset="-120"/>
              </a:rPr>
              <a:t>Safe · compliant</a:t>
            </a:r>
            <a:pPr indent="0" marL="0">
              <a:buNone/>
            </a:pPr>
            <a:r>
              <a:rPr lang="en-US" sz="1400" dirty="0">
                <a:solidFill>
                  <a:srgbClr val="555552"/>
                </a:solidFill>
                <a:latin typeface="Britti Sans, Helvetica Neue, Helvetica, Arial" pitchFamily="34" charset="0"/>
                <a:ea typeface="Britti Sans, Helvetica Neue, Helvetica, Arial" pitchFamily="34" charset="-122"/>
                <a:cs typeface="Britti Sans, Helvetica Neue, Helvetica, Arial" pitchFamily="34" charset="-120"/>
              </a:rPr>
              <a:t> · </a:t>
            </a:r>
            <a:pPr indent="0" marL="0">
              <a:buNone/>
            </a:pPr>
            <a:r>
              <a:rPr lang="en-US" sz="1400" dirty="0">
                <a:solidFill>
                  <a:srgbClr val="EF4747"/>
                </a:solidFill>
                <a:latin typeface="Britti Sans, Helvetica Neue, Helvetica, Arial" pitchFamily="34" charset="0"/>
                <a:ea typeface="Britti Sans, Helvetica Neue, Helvetica, Arial" pitchFamily="34" charset="-122"/>
                <a:cs typeface="Britti Sans, Helvetica Neue, Helvetica, Arial" pitchFamily="34" charset="-120"/>
              </a:rPr>
              <a:t>slow.</a:t>
            </a:r>
            <a:endParaRPr lang="en-US" sz="1400" dirty="0"/>
          </a:p>
        </p:txBody>
      </p:sp>
      <p:sp>
        <p:nvSpPr>
          <p:cNvPr id="10" name="Text 8"/>
          <p:cNvSpPr/>
          <p:nvPr/>
        </p:nvSpPr>
        <p:spPr>
          <a:xfrm>
            <a:off x="1097280" y="5029200"/>
            <a:ext cx="4526280" cy="1188720"/>
          </a:xfrm>
          <a:prstGeom prst="rect">
            <a:avLst/>
          </a:prstGeom>
          <a:noFill/>
          <a:ln/>
        </p:spPr>
        <p:txBody>
          <a:bodyPr wrap="square" lIns="0" tIns="0" rIns="0" bIns="0" rtlCol="0" anchor="t"/>
          <a:lstStyle/>
          <a:p>
            <a:pPr indent="0" marL="0">
              <a:buNone/>
            </a:pPr>
            <a:r>
              <a:rPr lang="en-US" sz="1300" dirty="0">
                <a:solidFill>
                  <a:srgbClr val="8A8A87"/>
                </a:solidFill>
                <a:latin typeface="Britti Sans, Helvetica Neue, Helvetica, Arial" pitchFamily="34" charset="0"/>
                <a:ea typeface="Britti Sans, Helvetica Neue, Helvetica, Arial" pitchFamily="34" charset="-122"/>
                <a:cs typeface="Britti Sans, Helvetica Neue, Helvetica, Arial" pitchFamily="34" charset="-120"/>
              </a:rPr>
              <a:t>You stay safe but burn the 10+ hours per week your peers are saving. Junior analysts grind through tasks AI does in seconds. Best people leave for firms that 'figured out' AI before you did.</a:t>
            </a:r>
            <a:endParaRPr lang="en-US" sz="1300" dirty="0"/>
          </a:p>
        </p:txBody>
      </p:sp>
      <p:sp>
        <p:nvSpPr>
          <p:cNvPr id="11" name="Shape 9"/>
          <p:cNvSpPr/>
          <p:nvPr/>
        </p:nvSpPr>
        <p:spPr>
          <a:xfrm>
            <a:off x="6400800" y="3154680"/>
            <a:ext cx="5120640" cy="3108960"/>
          </a:xfrm>
          <a:prstGeom prst="rect">
            <a:avLst/>
          </a:prstGeom>
          <a:solidFill>
            <a:srgbClr val="0A0A0A"/>
          </a:solidFill>
          <a:ln w="6350">
            <a:solidFill>
              <a:srgbClr val="1F1F1F"/>
            </a:solidFill>
            <a:prstDash val="solid"/>
          </a:ln>
        </p:spPr>
      </p:sp>
      <p:sp>
        <p:nvSpPr>
          <p:cNvPr id="12" name="Shape 10"/>
          <p:cNvSpPr/>
          <p:nvPr/>
        </p:nvSpPr>
        <p:spPr>
          <a:xfrm>
            <a:off x="6400800" y="3154680"/>
            <a:ext cx="22860" cy="3108960"/>
          </a:xfrm>
          <a:prstGeom prst="rect">
            <a:avLst/>
          </a:prstGeom>
          <a:solidFill>
            <a:srgbClr val="ED2024"/>
          </a:solidFill>
          <a:ln/>
        </p:spPr>
      </p:sp>
      <p:sp>
        <p:nvSpPr>
          <p:cNvPr id="13" name="Text 11"/>
          <p:cNvSpPr/>
          <p:nvPr/>
        </p:nvSpPr>
        <p:spPr>
          <a:xfrm>
            <a:off x="6858000" y="3520440"/>
            <a:ext cx="3657600" cy="274320"/>
          </a:xfrm>
          <a:prstGeom prst="rect">
            <a:avLst/>
          </a:prstGeom>
          <a:noFill/>
          <a:ln/>
        </p:spPr>
        <p:txBody>
          <a:bodyPr wrap="square" lIns="0" tIns="0" rIns="0" bIns="0" rtlCol="0" anchor="ctr"/>
          <a:lstStyle/>
          <a:p>
            <a:pPr indent="0" marL="0">
              <a:buNone/>
            </a:pPr>
            <a:r>
              <a:rPr lang="en-US" sz="900" spc="800" kern="0" dirty="0">
                <a:solidFill>
                  <a:srgbClr val="ED2024"/>
                </a:solidFill>
                <a:latin typeface="Menlo, Consolas, Courier New" pitchFamily="34" charset="0"/>
                <a:ea typeface="Menlo, Consolas, Courier New" pitchFamily="34" charset="-122"/>
                <a:cs typeface="Menlo, Consolas, Courier New" pitchFamily="34" charset="-120"/>
              </a:rPr>
              <a:t>OPTION B</a:t>
            </a:r>
            <a:endParaRPr lang="en-US" sz="900" dirty="0"/>
          </a:p>
        </p:txBody>
      </p:sp>
      <p:sp>
        <p:nvSpPr>
          <p:cNvPr id="14" name="Text 12"/>
          <p:cNvSpPr/>
          <p:nvPr/>
        </p:nvSpPr>
        <p:spPr>
          <a:xfrm>
            <a:off x="6858000" y="3840480"/>
            <a:ext cx="4480560" cy="640080"/>
          </a:xfrm>
          <a:prstGeom prst="rect">
            <a:avLst/>
          </a:prstGeom>
          <a:noFill/>
          <a:ln/>
        </p:spPr>
        <p:txBody>
          <a:bodyPr wrap="square" lIns="0" tIns="0" rIns="0" bIns="0" rtlCol="0" anchor="ctr"/>
          <a:lstStyle/>
          <a:p>
            <a:pPr indent="0" marL="0">
              <a:buNone/>
            </a:pPr>
            <a:r>
              <a:rPr lang="en-US" sz="3000" dirty="0">
                <a:solidFill>
                  <a:srgbClr val="F5F5F3"/>
                </a:solidFill>
                <a:latin typeface="Britti Sans, Helvetica Neue, Helvetica, Arial" pitchFamily="34" charset="0"/>
                <a:ea typeface="Britti Sans, Helvetica Neue, Helvetica, Arial" pitchFamily="34" charset="-122"/>
                <a:cs typeface="Britti Sans, Helvetica Neue, Helvetica, Arial" pitchFamily="34" charset="-120"/>
              </a:rPr>
              <a:t>Use it anyway.</a:t>
            </a:r>
            <a:endParaRPr lang="en-US" sz="3000" dirty="0"/>
          </a:p>
        </p:txBody>
      </p:sp>
      <p:sp>
        <p:nvSpPr>
          <p:cNvPr id="15" name="Text 13"/>
          <p:cNvSpPr/>
          <p:nvPr/>
        </p:nvSpPr>
        <p:spPr>
          <a:xfrm>
            <a:off x="6858000" y="4526280"/>
            <a:ext cx="4480560" cy="365760"/>
          </a:xfrm>
          <a:prstGeom prst="rect">
            <a:avLst/>
          </a:prstGeom>
          <a:noFill/>
          <a:ln/>
        </p:spPr>
        <p:txBody>
          <a:bodyPr wrap="square" lIns="0" tIns="0" rIns="0" bIns="0" rtlCol="0" anchor="ctr"/>
          <a:lstStyle/>
          <a:p>
            <a:pPr indent="0" marL="0">
              <a:buNone/>
            </a:pPr>
            <a:r>
              <a:rPr lang="en-US" sz="1400" dirty="0">
                <a:solidFill>
                  <a:srgbClr val="3ECF8E"/>
                </a:solidFill>
                <a:latin typeface="Britti Sans, Helvetica Neue, Helvetica, Arial" pitchFamily="34" charset="0"/>
                <a:ea typeface="Britti Sans, Helvetica Neue, Helvetica, Arial" pitchFamily="34" charset="-122"/>
                <a:cs typeface="Britti Sans, Helvetica Neue, Helvetica, Arial" pitchFamily="34" charset="-120"/>
              </a:rPr>
              <a:t>Productive</a:t>
            </a:r>
            <a:pPr indent="0" marL="0">
              <a:buNone/>
            </a:pPr>
            <a:r>
              <a:rPr lang="en-US" sz="1400" dirty="0">
                <a:solidFill>
                  <a:srgbClr val="555552"/>
                </a:solidFill>
                <a:latin typeface="Britti Sans, Helvetica Neue, Helvetica, Arial" pitchFamily="34" charset="0"/>
                <a:ea typeface="Britti Sans, Helvetica Neue, Helvetica, Arial" pitchFamily="34" charset="-122"/>
                <a:cs typeface="Britti Sans, Helvetica Neue, Helvetica, Arial" pitchFamily="34" charset="-120"/>
              </a:rPr>
              <a:t> · </a:t>
            </a:r>
            <a:pPr indent="0" marL="0">
              <a:buNone/>
            </a:pPr>
            <a:r>
              <a:rPr lang="en-US" sz="1400" dirty="0">
                <a:solidFill>
                  <a:srgbClr val="EF4747"/>
                </a:solidFill>
                <a:latin typeface="Britti Sans, Helvetica Neue, Helvetica, Arial" pitchFamily="34" charset="0"/>
                <a:ea typeface="Britti Sans, Helvetica Neue, Helvetica, Arial" pitchFamily="34" charset="-122"/>
                <a:cs typeface="Britti Sans, Helvetica Neue, Helvetica, Arial" pitchFamily="34" charset="-120"/>
              </a:rPr>
              <a:t>exposed · waiting.</a:t>
            </a:r>
            <a:endParaRPr lang="en-US" sz="1400" dirty="0"/>
          </a:p>
        </p:txBody>
      </p:sp>
      <p:sp>
        <p:nvSpPr>
          <p:cNvPr id="16" name="Text 14"/>
          <p:cNvSpPr/>
          <p:nvPr/>
        </p:nvSpPr>
        <p:spPr>
          <a:xfrm>
            <a:off x="6858000" y="5029200"/>
            <a:ext cx="4206240" cy="1188720"/>
          </a:xfrm>
          <a:prstGeom prst="rect">
            <a:avLst/>
          </a:prstGeom>
          <a:noFill/>
          <a:ln/>
        </p:spPr>
        <p:txBody>
          <a:bodyPr wrap="square" lIns="0" tIns="0" rIns="0" bIns="0" rtlCol="0" anchor="t"/>
          <a:lstStyle/>
          <a:p>
            <a:pPr indent="0" marL="0">
              <a:buNone/>
            </a:pPr>
            <a:r>
              <a:rPr lang="en-US" sz="1300" dirty="0">
                <a:solidFill>
                  <a:srgbClr val="8A8A87"/>
                </a:solidFill>
                <a:latin typeface="Britti Sans, Helvetica Neue, Helvetica, Arial" pitchFamily="34" charset="0"/>
                <a:ea typeface="Britti Sans, Helvetica Neue, Helvetica, Arial" pitchFamily="34" charset="-122"/>
                <a:cs typeface="Britti Sans, Helvetica Neue, Helvetica, Arial" pitchFamily="34" charset="-120"/>
              </a:rPr>
              <a:t>Your controller pastes bank statements into ChatGPT to save time. Vendor names, IBANs, salary numbers — all in a third-party log with no contract, no audit trail. One screenshot leaks and your DPA breach starts a chain reaction.</a:t>
            </a:r>
            <a:endParaRPr lang="en-US" sz="1300" dirty="0"/>
          </a:p>
        </p:txBody>
      </p:sp>
      <p:sp>
        <p:nvSpPr>
          <p:cNvPr id="17" name="Text 15"/>
          <p:cNvSpPr/>
          <p:nvPr/>
        </p:nvSpPr>
        <p:spPr>
          <a:xfrm>
            <a:off x="640080" y="6446520"/>
            <a:ext cx="1828800" cy="274320"/>
          </a:xfrm>
          <a:prstGeom prst="rect">
            <a:avLst/>
          </a:prstGeom>
          <a:noFill/>
          <a:ln/>
        </p:spPr>
        <p:txBody>
          <a:bodyPr wrap="square" lIns="0" tIns="0" rIns="0" bIns="0" rtlCol="0" anchor="ctr"/>
          <a:lstStyle/>
          <a:p>
            <a:pPr indent="0" marL="0">
              <a:buNone/>
            </a:pPr>
            <a:r>
              <a:rPr lang="en-US" sz="800" spc="800" kern="0" dirty="0">
                <a:solidFill>
                  <a:srgbClr val="555552"/>
                </a:solidFill>
                <a:latin typeface="Menlo, Consolas, Courier New" pitchFamily="34" charset="0"/>
                <a:ea typeface="Menlo, Consolas, Courier New" pitchFamily="34" charset="-122"/>
                <a:cs typeface="Menlo, Consolas, Courier New" pitchFamily="34" charset="-120"/>
              </a:rPr>
              <a:t>CALIBER</a:t>
            </a:r>
            <a:endParaRPr lang="en-US" sz="800" dirty="0"/>
          </a:p>
        </p:txBody>
      </p:sp>
      <p:sp>
        <p:nvSpPr>
          <p:cNvPr id="18" name="Text 16"/>
          <p:cNvSpPr/>
          <p:nvPr/>
        </p:nvSpPr>
        <p:spPr>
          <a:xfrm>
            <a:off x="10972800" y="6446520"/>
            <a:ext cx="914400" cy="274320"/>
          </a:xfrm>
          <a:prstGeom prst="rect">
            <a:avLst/>
          </a:prstGeom>
          <a:noFill/>
          <a:ln/>
        </p:spPr>
        <p:txBody>
          <a:bodyPr wrap="square" lIns="0" tIns="0" rIns="0" bIns="0" rtlCol="0" anchor="ctr"/>
          <a:lstStyle/>
          <a:p>
            <a:pPr algn="r" indent="0" marL="0">
              <a:buNone/>
            </a:pPr>
            <a:r>
              <a:rPr lang="en-US" sz="800" spc="400" kern="0" dirty="0">
                <a:solidFill>
                  <a:srgbClr val="555552"/>
                </a:solidFill>
                <a:latin typeface="Menlo, Consolas, Courier New" pitchFamily="34" charset="0"/>
                <a:ea typeface="Menlo, Consolas, Courier New" pitchFamily="34" charset="-122"/>
                <a:cs typeface="Menlo, Consolas, Courier New" pitchFamily="34" charset="-120"/>
              </a:rPr>
              <a:t>03 / 13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640080" y="502920"/>
            <a:ext cx="10972800" cy="274320"/>
          </a:xfrm>
          <a:prstGeom prst="rect">
            <a:avLst/>
          </a:prstGeom>
          <a:noFill/>
          <a:ln/>
        </p:spPr>
        <p:txBody>
          <a:bodyPr wrap="square" lIns="0" tIns="0" rIns="0" bIns="0" rtlCol="0" anchor="ctr"/>
          <a:lstStyle/>
          <a:p>
            <a:pPr indent="0" marL="0">
              <a:buNone/>
            </a:pPr>
            <a:r>
              <a:rPr lang="en-US" sz="1000" spc="800" kern="0" dirty="0">
                <a:solidFill>
                  <a:srgbClr val="ED2024"/>
                </a:solidFill>
                <a:latin typeface="Menlo, Consolas, Courier New" pitchFamily="34" charset="0"/>
                <a:ea typeface="Menlo, Consolas, Courier New" pitchFamily="34" charset="-122"/>
                <a:cs typeface="Menlo, Consolas, Courier New" pitchFamily="34" charset="-120"/>
              </a:rPr>
              <a:t>03 · THE CALIBER ANSWER</a:t>
            </a:r>
            <a:endParaRPr lang="en-US" sz="1000" dirty="0"/>
          </a:p>
        </p:txBody>
      </p:sp>
      <p:sp>
        <p:nvSpPr>
          <p:cNvPr id="3" name="Text 1"/>
          <p:cNvSpPr/>
          <p:nvPr/>
        </p:nvSpPr>
        <p:spPr>
          <a:xfrm>
            <a:off x="640080" y="1005840"/>
            <a:ext cx="10972800" cy="914400"/>
          </a:xfrm>
          <a:prstGeom prst="rect">
            <a:avLst/>
          </a:prstGeom>
          <a:noFill/>
          <a:ln/>
        </p:spPr>
        <p:txBody>
          <a:bodyPr wrap="square" lIns="0" tIns="0" rIns="0" bIns="0" rtlCol="0" anchor="ctr"/>
          <a:lstStyle/>
          <a:p>
            <a:pPr indent="0" marL="0">
              <a:buNone/>
            </a:pPr>
            <a:r>
              <a:rPr lang="en-US" sz="5600" dirty="0">
                <a:solidFill>
                  <a:srgbClr val="F5F5F3"/>
                </a:solidFill>
                <a:latin typeface="Britti Sans, Helvetica Neue, Helvetica, Arial" pitchFamily="34" charset="0"/>
                <a:ea typeface="Britti Sans, Helvetica Neue, Helvetica, Arial" pitchFamily="34" charset="-122"/>
                <a:cs typeface="Britti Sans, Helvetica Neue, Helvetica, Arial" pitchFamily="34" charset="-120"/>
              </a:rPr>
              <a:t>Caliber.</a:t>
            </a:r>
            <a:endParaRPr lang="en-US" sz="5600" dirty="0"/>
          </a:p>
        </p:txBody>
      </p:sp>
      <p:sp>
        <p:nvSpPr>
          <p:cNvPr id="4" name="Text 2"/>
          <p:cNvSpPr/>
          <p:nvPr/>
        </p:nvSpPr>
        <p:spPr>
          <a:xfrm>
            <a:off x="640080" y="1828800"/>
            <a:ext cx="10972800" cy="1005840"/>
          </a:xfrm>
          <a:prstGeom prst="rect">
            <a:avLst/>
          </a:prstGeom>
          <a:noFill/>
          <a:ln/>
        </p:spPr>
        <p:txBody>
          <a:bodyPr wrap="square" lIns="0" tIns="0" rIns="0" bIns="0" rtlCol="0" anchor="ctr"/>
          <a:lstStyle/>
          <a:p>
            <a:pPr indent="0" marL="0">
              <a:buNone/>
            </a:pPr>
            <a:r>
              <a:rPr lang="en-US" sz="5600" dirty="0">
                <a:solidFill>
                  <a:srgbClr val="ED2024"/>
                </a:solidFill>
                <a:latin typeface="Britti Sans, Helvetica Neue, Helvetica, Arial" pitchFamily="34" charset="0"/>
                <a:ea typeface="Britti Sans, Helvetica Neue, Helvetica, Arial" pitchFamily="34" charset="-122"/>
                <a:cs typeface="Britti Sans, Helvetica Neue, Helvetica, Arial" pitchFamily="34" charset="-120"/>
              </a:rPr>
              <a:t>Your private AI ingress.</a:t>
            </a:r>
            <a:endParaRPr lang="en-US" sz="5600" dirty="0"/>
          </a:p>
        </p:txBody>
      </p:sp>
      <p:sp>
        <p:nvSpPr>
          <p:cNvPr id="5" name="Shape 3"/>
          <p:cNvSpPr/>
          <p:nvPr/>
        </p:nvSpPr>
        <p:spPr>
          <a:xfrm>
            <a:off x="640080" y="3246120"/>
            <a:ext cx="914400" cy="4572"/>
          </a:xfrm>
          <a:prstGeom prst="rect">
            <a:avLst/>
          </a:prstGeom>
          <a:solidFill>
            <a:srgbClr val="ED2024"/>
          </a:solidFill>
          <a:ln/>
        </p:spPr>
      </p:sp>
      <p:sp>
        <p:nvSpPr>
          <p:cNvPr id="6" name="Text 4"/>
          <p:cNvSpPr/>
          <p:nvPr/>
        </p:nvSpPr>
        <p:spPr>
          <a:xfrm>
            <a:off x="640080" y="3657600"/>
            <a:ext cx="10972800" cy="1463040"/>
          </a:xfrm>
          <a:prstGeom prst="rect">
            <a:avLst/>
          </a:prstGeom>
          <a:noFill/>
          <a:ln/>
        </p:spPr>
        <p:txBody>
          <a:bodyPr wrap="square" lIns="0" tIns="0" rIns="0" bIns="0" rtlCol="0" anchor="t"/>
          <a:lstStyle/>
          <a:p>
            <a:pPr indent="0" marL="0">
              <a:buNone/>
            </a:pPr>
            <a:r>
              <a:rPr lang="en-US" sz="1500" dirty="0">
                <a:solidFill>
                  <a:srgbClr val="8A8A87"/>
                </a:solidFill>
                <a:latin typeface="Britti Sans, Helvetica Neue, Helvetica, Arial" pitchFamily="34" charset="0"/>
                <a:ea typeface="Britti Sans, Helvetica Neue, Helvetica, Arial" pitchFamily="34" charset="-122"/>
                <a:cs typeface="Britti Sans, Helvetica Neue, Helvetica, Arial" pitchFamily="34" charset="-120"/>
              </a:rPr>
              <a:t>Caliber is the single ingress your team's apps call instead of public AI. We classify every prompt, redact what shouldn't leave, route the most sensitive work to Caliber Model running in your VPC, and record every interaction in a hash-chained audit log your auditor can verify in 60 seconds.</a:t>
            </a:r>
            <a:endParaRPr lang="en-US" sz="1500" dirty="0"/>
          </a:p>
        </p:txBody>
      </p:sp>
      <p:sp>
        <p:nvSpPr>
          <p:cNvPr id="7" name="Text 5"/>
          <p:cNvSpPr/>
          <p:nvPr/>
        </p:nvSpPr>
        <p:spPr>
          <a:xfrm>
            <a:off x="640080" y="5394960"/>
            <a:ext cx="548640" cy="274320"/>
          </a:xfrm>
          <a:prstGeom prst="rect">
            <a:avLst/>
          </a:prstGeom>
          <a:noFill/>
          <a:ln/>
        </p:spPr>
        <p:txBody>
          <a:bodyPr wrap="square" lIns="0" tIns="0" rIns="0" bIns="0" rtlCol="0" anchor="ctr"/>
          <a:lstStyle/>
          <a:p>
            <a:pPr indent="0" marL="0">
              <a:buNone/>
            </a:pPr>
            <a:r>
              <a:rPr lang="en-US" sz="900" spc="600" kern="0" dirty="0">
                <a:solidFill>
                  <a:srgbClr val="ED2024"/>
                </a:solidFill>
                <a:latin typeface="Menlo, Consolas, Courier New" pitchFamily="34" charset="0"/>
                <a:ea typeface="Menlo, Consolas, Courier New" pitchFamily="34" charset="-122"/>
                <a:cs typeface="Menlo, Consolas, Courier New" pitchFamily="34" charset="-120"/>
              </a:rPr>
              <a:t>01</a:t>
            </a:r>
            <a:endParaRPr lang="en-US" sz="900" dirty="0"/>
          </a:p>
        </p:txBody>
      </p:sp>
      <p:sp>
        <p:nvSpPr>
          <p:cNvPr id="8" name="Shape 6"/>
          <p:cNvSpPr/>
          <p:nvPr/>
        </p:nvSpPr>
        <p:spPr>
          <a:xfrm>
            <a:off x="640080" y="5687568"/>
            <a:ext cx="365760" cy="4572"/>
          </a:xfrm>
          <a:prstGeom prst="rect">
            <a:avLst/>
          </a:prstGeom>
          <a:solidFill>
            <a:srgbClr val="ED2024"/>
          </a:solidFill>
          <a:ln/>
        </p:spPr>
      </p:sp>
      <p:sp>
        <p:nvSpPr>
          <p:cNvPr id="9" name="Text 7"/>
          <p:cNvSpPr/>
          <p:nvPr/>
        </p:nvSpPr>
        <p:spPr>
          <a:xfrm>
            <a:off x="640080" y="5806440"/>
            <a:ext cx="2468880" cy="411480"/>
          </a:xfrm>
          <a:prstGeom prst="rect">
            <a:avLst/>
          </a:prstGeom>
          <a:noFill/>
          <a:ln/>
        </p:spPr>
        <p:txBody>
          <a:bodyPr wrap="square" lIns="0" tIns="0" rIns="0" bIns="0" rtlCol="0" anchor="ctr"/>
          <a:lstStyle/>
          <a:p>
            <a:pPr indent="0" marL="0">
              <a:buNone/>
            </a:pPr>
            <a:r>
              <a:rPr lang="en-US" sz="1600" dirty="0">
                <a:solidFill>
                  <a:srgbClr val="F5F5F3"/>
                </a:solidFill>
                <a:latin typeface="Britti Sans, Helvetica Neue, Helvetica, Arial" pitchFamily="34" charset="0"/>
                <a:ea typeface="Britti Sans, Helvetica Neue, Helvetica, Arial" pitchFamily="34" charset="-122"/>
                <a:cs typeface="Britti Sans, Helvetica Neue, Helvetica, Arial" pitchFamily="34" charset="-120"/>
              </a:rPr>
              <a:t>Smart routing</a:t>
            </a:r>
            <a:endParaRPr lang="en-US" sz="1600" dirty="0"/>
          </a:p>
        </p:txBody>
      </p:sp>
      <p:sp>
        <p:nvSpPr>
          <p:cNvPr id="10" name="Text 8"/>
          <p:cNvSpPr/>
          <p:nvPr/>
        </p:nvSpPr>
        <p:spPr>
          <a:xfrm>
            <a:off x="640080" y="6217920"/>
            <a:ext cx="2468880" cy="457200"/>
          </a:xfrm>
          <a:prstGeom prst="rect">
            <a:avLst/>
          </a:prstGeom>
          <a:noFill/>
          <a:ln/>
        </p:spPr>
        <p:txBody>
          <a:bodyPr wrap="square" lIns="0" tIns="0" rIns="0" bIns="0" rtlCol="0" anchor="t"/>
          <a:lstStyle/>
          <a:p>
            <a:pPr indent="0" marL="0">
              <a:buNone/>
            </a:pPr>
            <a:r>
              <a:rPr lang="en-US" sz="1100" dirty="0">
                <a:solidFill>
                  <a:srgbClr val="8A8A87"/>
                </a:solidFill>
                <a:latin typeface="Britti Sans, Helvetica Neue, Helvetica, Arial" pitchFamily="34" charset="0"/>
                <a:ea typeface="Britti Sans, Helvetica Neue, Helvetica, Arial" pitchFamily="34" charset="-122"/>
                <a:cs typeface="Britti Sans, Helvetica Neue, Helvetica, Arial" pitchFamily="34" charset="-120"/>
              </a:rPr>
              <a:t>Per-prompt decision. Per-tenant policy.</a:t>
            </a:r>
            <a:endParaRPr lang="en-US" sz="1100" dirty="0"/>
          </a:p>
        </p:txBody>
      </p:sp>
      <p:sp>
        <p:nvSpPr>
          <p:cNvPr id="11" name="Text 9"/>
          <p:cNvSpPr/>
          <p:nvPr/>
        </p:nvSpPr>
        <p:spPr>
          <a:xfrm>
            <a:off x="3383280" y="5394960"/>
            <a:ext cx="548640" cy="274320"/>
          </a:xfrm>
          <a:prstGeom prst="rect">
            <a:avLst/>
          </a:prstGeom>
          <a:noFill/>
          <a:ln/>
        </p:spPr>
        <p:txBody>
          <a:bodyPr wrap="square" lIns="0" tIns="0" rIns="0" bIns="0" rtlCol="0" anchor="ctr"/>
          <a:lstStyle/>
          <a:p>
            <a:pPr indent="0" marL="0">
              <a:buNone/>
            </a:pPr>
            <a:r>
              <a:rPr lang="en-US" sz="900" spc="600" kern="0" dirty="0">
                <a:solidFill>
                  <a:srgbClr val="ED2024"/>
                </a:solidFill>
                <a:latin typeface="Menlo, Consolas, Courier New" pitchFamily="34" charset="0"/>
                <a:ea typeface="Menlo, Consolas, Courier New" pitchFamily="34" charset="-122"/>
                <a:cs typeface="Menlo, Consolas, Courier New" pitchFamily="34" charset="-120"/>
              </a:rPr>
              <a:t>02</a:t>
            </a:r>
            <a:endParaRPr lang="en-US" sz="900" dirty="0"/>
          </a:p>
        </p:txBody>
      </p:sp>
      <p:sp>
        <p:nvSpPr>
          <p:cNvPr id="12" name="Shape 10"/>
          <p:cNvSpPr/>
          <p:nvPr/>
        </p:nvSpPr>
        <p:spPr>
          <a:xfrm>
            <a:off x="3383280" y="5687568"/>
            <a:ext cx="365760" cy="4572"/>
          </a:xfrm>
          <a:prstGeom prst="rect">
            <a:avLst/>
          </a:prstGeom>
          <a:solidFill>
            <a:srgbClr val="ED2024"/>
          </a:solidFill>
          <a:ln/>
        </p:spPr>
      </p:sp>
      <p:sp>
        <p:nvSpPr>
          <p:cNvPr id="13" name="Text 11"/>
          <p:cNvSpPr/>
          <p:nvPr/>
        </p:nvSpPr>
        <p:spPr>
          <a:xfrm>
            <a:off x="3383280" y="5806440"/>
            <a:ext cx="2468880" cy="411480"/>
          </a:xfrm>
          <a:prstGeom prst="rect">
            <a:avLst/>
          </a:prstGeom>
          <a:noFill/>
          <a:ln/>
        </p:spPr>
        <p:txBody>
          <a:bodyPr wrap="square" lIns="0" tIns="0" rIns="0" bIns="0" rtlCol="0" anchor="ctr"/>
          <a:lstStyle/>
          <a:p>
            <a:pPr indent="0" marL="0">
              <a:buNone/>
            </a:pPr>
            <a:r>
              <a:rPr lang="en-US" sz="1600" dirty="0">
                <a:solidFill>
                  <a:srgbClr val="F5F5F3"/>
                </a:solidFill>
                <a:latin typeface="Britti Sans, Helvetica Neue, Helvetica, Arial" pitchFamily="34" charset="0"/>
                <a:ea typeface="Britti Sans, Helvetica Neue, Helvetica, Arial" pitchFamily="34" charset="-122"/>
                <a:cs typeface="Britti Sans, Helvetica Neue, Helvetica, Arial" pitchFamily="34" charset="-120"/>
              </a:rPr>
              <a:t>Invisible upstream</a:t>
            </a:r>
            <a:endParaRPr lang="en-US" sz="1600" dirty="0"/>
          </a:p>
        </p:txBody>
      </p:sp>
      <p:sp>
        <p:nvSpPr>
          <p:cNvPr id="14" name="Text 12"/>
          <p:cNvSpPr/>
          <p:nvPr/>
        </p:nvSpPr>
        <p:spPr>
          <a:xfrm>
            <a:off x="3383280" y="6217920"/>
            <a:ext cx="2468880" cy="457200"/>
          </a:xfrm>
          <a:prstGeom prst="rect">
            <a:avLst/>
          </a:prstGeom>
          <a:noFill/>
          <a:ln/>
        </p:spPr>
        <p:txBody>
          <a:bodyPr wrap="square" lIns="0" tIns="0" rIns="0" bIns="0" rtlCol="0" anchor="t"/>
          <a:lstStyle/>
          <a:p>
            <a:pPr indent="0" marL="0">
              <a:buNone/>
            </a:pPr>
            <a:r>
              <a:rPr lang="en-US" sz="1100" dirty="0">
                <a:solidFill>
                  <a:srgbClr val="8A8A87"/>
                </a:solidFill>
                <a:latin typeface="Britti Sans, Helvetica Neue, Helvetica, Arial" pitchFamily="34" charset="0"/>
                <a:ea typeface="Britti Sans, Helvetica Neue, Helvetica, Arial" pitchFamily="34" charset="-122"/>
                <a:cs typeface="Britti Sans, Helvetica Neue, Helvetica, Arial" pitchFamily="34" charset="-120"/>
              </a:rPr>
              <a:t>Sensitive entities tokenised at the gateway.</a:t>
            </a:r>
            <a:endParaRPr lang="en-US" sz="1100" dirty="0"/>
          </a:p>
        </p:txBody>
      </p:sp>
      <p:sp>
        <p:nvSpPr>
          <p:cNvPr id="15" name="Text 13"/>
          <p:cNvSpPr/>
          <p:nvPr/>
        </p:nvSpPr>
        <p:spPr>
          <a:xfrm>
            <a:off x="6126480" y="5394960"/>
            <a:ext cx="548640" cy="274320"/>
          </a:xfrm>
          <a:prstGeom prst="rect">
            <a:avLst/>
          </a:prstGeom>
          <a:noFill/>
          <a:ln/>
        </p:spPr>
        <p:txBody>
          <a:bodyPr wrap="square" lIns="0" tIns="0" rIns="0" bIns="0" rtlCol="0" anchor="ctr"/>
          <a:lstStyle/>
          <a:p>
            <a:pPr indent="0" marL="0">
              <a:buNone/>
            </a:pPr>
            <a:r>
              <a:rPr lang="en-US" sz="900" spc="600" kern="0" dirty="0">
                <a:solidFill>
                  <a:srgbClr val="ED2024"/>
                </a:solidFill>
                <a:latin typeface="Menlo, Consolas, Courier New" pitchFamily="34" charset="0"/>
                <a:ea typeface="Menlo, Consolas, Courier New" pitchFamily="34" charset="-122"/>
                <a:cs typeface="Menlo, Consolas, Courier New" pitchFamily="34" charset="-120"/>
              </a:rPr>
              <a:t>03</a:t>
            </a:r>
            <a:endParaRPr lang="en-US" sz="900" dirty="0"/>
          </a:p>
        </p:txBody>
      </p:sp>
      <p:sp>
        <p:nvSpPr>
          <p:cNvPr id="16" name="Shape 14"/>
          <p:cNvSpPr/>
          <p:nvPr/>
        </p:nvSpPr>
        <p:spPr>
          <a:xfrm>
            <a:off x="6126480" y="5687568"/>
            <a:ext cx="365760" cy="4572"/>
          </a:xfrm>
          <a:prstGeom prst="rect">
            <a:avLst/>
          </a:prstGeom>
          <a:solidFill>
            <a:srgbClr val="ED2024"/>
          </a:solidFill>
          <a:ln/>
        </p:spPr>
      </p:sp>
      <p:sp>
        <p:nvSpPr>
          <p:cNvPr id="17" name="Text 15"/>
          <p:cNvSpPr/>
          <p:nvPr/>
        </p:nvSpPr>
        <p:spPr>
          <a:xfrm>
            <a:off x="6126480" y="5806440"/>
            <a:ext cx="2468880" cy="411480"/>
          </a:xfrm>
          <a:prstGeom prst="rect">
            <a:avLst/>
          </a:prstGeom>
          <a:noFill/>
          <a:ln/>
        </p:spPr>
        <p:txBody>
          <a:bodyPr wrap="square" lIns="0" tIns="0" rIns="0" bIns="0" rtlCol="0" anchor="ctr"/>
          <a:lstStyle/>
          <a:p>
            <a:pPr indent="0" marL="0">
              <a:buNone/>
            </a:pPr>
            <a:r>
              <a:rPr lang="en-US" sz="1600" dirty="0">
                <a:solidFill>
                  <a:srgbClr val="F5F5F3"/>
                </a:solidFill>
                <a:latin typeface="Britti Sans, Helvetica Neue, Helvetica, Arial" pitchFamily="34" charset="0"/>
                <a:ea typeface="Britti Sans, Helvetica Neue, Helvetica, Arial" pitchFamily="34" charset="-122"/>
                <a:cs typeface="Britti Sans, Helvetica Neue, Helvetica, Arial" pitchFamily="34" charset="-120"/>
              </a:rPr>
              <a:t>Caliber Model</a:t>
            </a:r>
            <a:endParaRPr lang="en-US" sz="1600" dirty="0"/>
          </a:p>
        </p:txBody>
      </p:sp>
      <p:sp>
        <p:nvSpPr>
          <p:cNvPr id="18" name="Text 16"/>
          <p:cNvSpPr/>
          <p:nvPr/>
        </p:nvSpPr>
        <p:spPr>
          <a:xfrm>
            <a:off x="6126480" y="6217920"/>
            <a:ext cx="2468880" cy="457200"/>
          </a:xfrm>
          <a:prstGeom prst="rect">
            <a:avLst/>
          </a:prstGeom>
          <a:noFill/>
          <a:ln/>
        </p:spPr>
        <p:txBody>
          <a:bodyPr wrap="square" lIns="0" tIns="0" rIns="0" bIns="0" rtlCol="0" anchor="t"/>
          <a:lstStyle/>
          <a:p>
            <a:pPr indent="0" marL="0">
              <a:buNone/>
            </a:pPr>
            <a:r>
              <a:rPr lang="en-US" sz="1100" dirty="0">
                <a:solidFill>
                  <a:srgbClr val="8A8A87"/>
                </a:solidFill>
                <a:latin typeface="Britti Sans, Helvetica Neue, Helvetica, Arial" pitchFamily="34" charset="0"/>
                <a:ea typeface="Britti Sans, Helvetica Neue, Helvetica, Arial" pitchFamily="34" charset="-122"/>
                <a:cs typeface="Britti Sans, Helvetica Neue, Helvetica, Arial" pitchFamily="34" charset="-120"/>
              </a:rPr>
              <a:t>Bank-level data stays in your VPC, ever.</a:t>
            </a:r>
            <a:endParaRPr lang="en-US" sz="1100" dirty="0"/>
          </a:p>
        </p:txBody>
      </p:sp>
      <p:sp>
        <p:nvSpPr>
          <p:cNvPr id="19" name="Text 17"/>
          <p:cNvSpPr/>
          <p:nvPr/>
        </p:nvSpPr>
        <p:spPr>
          <a:xfrm>
            <a:off x="8869680" y="5394960"/>
            <a:ext cx="548640" cy="274320"/>
          </a:xfrm>
          <a:prstGeom prst="rect">
            <a:avLst/>
          </a:prstGeom>
          <a:noFill/>
          <a:ln/>
        </p:spPr>
        <p:txBody>
          <a:bodyPr wrap="square" lIns="0" tIns="0" rIns="0" bIns="0" rtlCol="0" anchor="ctr"/>
          <a:lstStyle/>
          <a:p>
            <a:pPr indent="0" marL="0">
              <a:buNone/>
            </a:pPr>
            <a:r>
              <a:rPr lang="en-US" sz="900" spc="600" kern="0" dirty="0">
                <a:solidFill>
                  <a:srgbClr val="ED2024"/>
                </a:solidFill>
                <a:latin typeface="Menlo, Consolas, Courier New" pitchFamily="34" charset="0"/>
                <a:ea typeface="Menlo, Consolas, Courier New" pitchFamily="34" charset="-122"/>
                <a:cs typeface="Menlo, Consolas, Courier New" pitchFamily="34" charset="-120"/>
              </a:rPr>
              <a:t>04</a:t>
            </a:r>
            <a:endParaRPr lang="en-US" sz="900" dirty="0"/>
          </a:p>
        </p:txBody>
      </p:sp>
      <p:sp>
        <p:nvSpPr>
          <p:cNvPr id="20" name="Shape 18"/>
          <p:cNvSpPr/>
          <p:nvPr/>
        </p:nvSpPr>
        <p:spPr>
          <a:xfrm>
            <a:off x="8869680" y="5687568"/>
            <a:ext cx="365760" cy="4572"/>
          </a:xfrm>
          <a:prstGeom prst="rect">
            <a:avLst/>
          </a:prstGeom>
          <a:solidFill>
            <a:srgbClr val="ED2024"/>
          </a:solidFill>
          <a:ln/>
        </p:spPr>
      </p:sp>
      <p:sp>
        <p:nvSpPr>
          <p:cNvPr id="21" name="Text 19"/>
          <p:cNvSpPr/>
          <p:nvPr/>
        </p:nvSpPr>
        <p:spPr>
          <a:xfrm>
            <a:off x="8869680" y="5806440"/>
            <a:ext cx="2468880" cy="411480"/>
          </a:xfrm>
          <a:prstGeom prst="rect">
            <a:avLst/>
          </a:prstGeom>
          <a:noFill/>
          <a:ln/>
        </p:spPr>
        <p:txBody>
          <a:bodyPr wrap="square" lIns="0" tIns="0" rIns="0" bIns="0" rtlCol="0" anchor="ctr"/>
          <a:lstStyle/>
          <a:p>
            <a:pPr indent="0" marL="0">
              <a:buNone/>
            </a:pPr>
            <a:r>
              <a:rPr lang="en-US" sz="1600" dirty="0">
                <a:solidFill>
                  <a:srgbClr val="F5F5F3"/>
                </a:solidFill>
                <a:latin typeface="Britti Sans, Helvetica Neue, Helvetica, Arial" pitchFamily="34" charset="0"/>
                <a:ea typeface="Britti Sans, Helvetica Neue, Helvetica, Arial" pitchFamily="34" charset="-122"/>
                <a:cs typeface="Britti Sans, Helvetica Neue, Helvetica, Arial" pitchFamily="34" charset="-120"/>
              </a:rPr>
              <a:t>Provable</a:t>
            </a:r>
            <a:endParaRPr lang="en-US" sz="1600" dirty="0"/>
          </a:p>
        </p:txBody>
      </p:sp>
      <p:sp>
        <p:nvSpPr>
          <p:cNvPr id="22" name="Text 20"/>
          <p:cNvSpPr/>
          <p:nvPr/>
        </p:nvSpPr>
        <p:spPr>
          <a:xfrm>
            <a:off x="8869680" y="6217920"/>
            <a:ext cx="2468880" cy="457200"/>
          </a:xfrm>
          <a:prstGeom prst="rect">
            <a:avLst/>
          </a:prstGeom>
          <a:noFill/>
          <a:ln/>
        </p:spPr>
        <p:txBody>
          <a:bodyPr wrap="square" lIns="0" tIns="0" rIns="0" bIns="0" rtlCol="0" anchor="t"/>
          <a:lstStyle/>
          <a:p>
            <a:pPr indent="0" marL="0">
              <a:buNone/>
            </a:pPr>
            <a:r>
              <a:rPr lang="en-US" sz="1100" dirty="0">
                <a:solidFill>
                  <a:srgbClr val="8A8A87"/>
                </a:solidFill>
                <a:latin typeface="Britti Sans, Helvetica Neue, Helvetica, Arial" pitchFamily="34" charset="0"/>
                <a:ea typeface="Britti Sans, Helvetica Neue, Helvetica, Arial" pitchFamily="34" charset="-122"/>
                <a:cs typeface="Britti Sans, Helvetica Neue, Helvetica, Arial" pitchFamily="34" charset="-120"/>
              </a:rPr>
              <a:t>Hash-chained log. Tamper-evident.</a:t>
            </a:r>
            <a:endParaRPr lang="en-US" sz="1100" dirty="0"/>
          </a:p>
        </p:txBody>
      </p:sp>
      <p:sp>
        <p:nvSpPr>
          <p:cNvPr id="23" name="Text 21"/>
          <p:cNvSpPr/>
          <p:nvPr/>
        </p:nvSpPr>
        <p:spPr>
          <a:xfrm>
            <a:off x="640080" y="6446520"/>
            <a:ext cx="1828800" cy="274320"/>
          </a:xfrm>
          <a:prstGeom prst="rect">
            <a:avLst/>
          </a:prstGeom>
          <a:noFill/>
          <a:ln/>
        </p:spPr>
        <p:txBody>
          <a:bodyPr wrap="square" lIns="0" tIns="0" rIns="0" bIns="0" rtlCol="0" anchor="ctr"/>
          <a:lstStyle/>
          <a:p>
            <a:pPr indent="0" marL="0">
              <a:buNone/>
            </a:pPr>
            <a:r>
              <a:rPr lang="en-US" sz="800" spc="800" kern="0" dirty="0">
                <a:solidFill>
                  <a:srgbClr val="555552"/>
                </a:solidFill>
                <a:latin typeface="Menlo, Consolas, Courier New" pitchFamily="34" charset="0"/>
                <a:ea typeface="Menlo, Consolas, Courier New" pitchFamily="34" charset="-122"/>
                <a:cs typeface="Menlo, Consolas, Courier New" pitchFamily="34" charset="-120"/>
              </a:rPr>
              <a:t>CALIBER</a:t>
            </a:r>
            <a:endParaRPr lang="en-US" sz="800" dirty="0"/>
          </a:p>
        </p:txBody>
      </p:sp>
      <p:sp>
        <p:nvSpPr>
          <p:cNvPr id="24" name="Text 22"/>
          <p:cNvSpPr/>
          <p:nvPr/>
        </p:nvSpPr>
        <p:spPr>
          <a:xfrm>
            <a:off x="10972800" y="6446520"/>
            <a:ext cx="914400" cy="274320"/>
          </a:xfrm>
          <a:prstGeom prst="rect">
            <a:avLst/>
          </a:prstGeom>
          <a:noFill/>
          <a:ln/>
        </p:spPr>
        <p:txBody>
          <a:bodyPr wrap="square" lIns="0" tIns="0" rIns="0" bIns="0" rtlCol="0" anchor="ctr"/>
          <a:lstStyle/>
          <a:p>
            <a:pPr algn="r" indent="0" marL="0">
              <a:buNone/>
            </a:pPr>
            <a:r>
              <a:rPr lang="en-US" sz="800" spc="400" kern="0" dirty="0">
                <a:solidFill>
                  <a:srgbClr val="555552"/>
                </a:solidFill>
                <a:latin typeface="Menlo, Consolas, Courier New" pitchFamily="34" charset="0"/>
                <a:ea typeface="Menlo, Consolas, Courier New" pitchFamily="34" charset="-122"/>
                <a:cs typeface="Menlo, Consolas, Courier New" pitchFamily="34" charset="-120"/>
              </a:rPr>
              <a:t>04 / 13</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640080" y="502920"/>
            <a:ext cx="10972800" cy="274320"/>
          </a:xfrm>
          <a:prstGeom prst="rect">
            <a:avLst/>
          </a:prstGeom>
          <a:noFill/>
          <a:ln/>
        </p:spPr>
        <p:txBody>
          <a:bodyPr wrap="square" lIns="0" tIns="0" rIns="0" bIns="0" rtlCol="0" anchor="ctr"/>
          <a:lstStyle/>
          <a:p>
            <a:pPr indent="0" marL="0">
              <a:buNone/>
            </a:pPr>
            <a:r>
              <a:rPr lang="en-US" sz="1000" spc="800" kern="0" dirty="0">
                <a:solidFill>
                  <a:srgbClr val="ED2024"/>
                </a:solidFill>
                <a:latin typeface="Menlo, Consolas, Courier New" pitchFamily="34" charset="0"/>
                <a:ea typeface="Menlo, Consolas, Courier New" pitchFamily="34" charset="-122"/>
                <a:cs typeface="Menlo, Consolas, Courier New" pitchFamily="34" charset="-120"/>
              </a:rPr>
              <a:t>04 · HOW IT WORKS</a:t>
            </a:r>
            <a:endParaRPr lang="en-US" sz="1000" dirty="0"/>
          </a:p>
        </p:txBody>
      </p:sp>
      <p:sp>
        <p:nvSpPr>
          <p:cNvPr id="3" name="Text 1"/>
          <p:cNvSpPr/>
          <p:nvPr/>
        </p:nvSpPr>
        <p:spPr>
          <a:xfrm>
            <a:off x="640080" y="1005840"/>
            <a:ext cx="10972800" cy="822960"/>
          </a:xfrm>
          <a:prstGeom prst="rect">
            <a:avLst/>
          </a:prstGeom>
          <a:noFill/>
          <a:ln/>
        </p:spPr>
        <p:txBody>
          <a:bodyPr wrap="square" lIns="0" tIns="0" rIns="0" bIns="0" rtlCol="0" anchor="ctr"/>
          <a:lstStyle/>
          <a:p>
            <a:pPr indent="0" marL="0">
              <a:buNone/>
            </a:pPr>
            <a:r>
              <a:rPr lang="en-US" sz="4400" dirty="0">
                <a:solidFill>
                  <a:srgbClr val="F5F5F3"/>
                </a:solidFill>
                <a:latin typeface="Britti Sans, Helvetica Neue, Helvetica, Arial" pitchFamily="34" charset="0"/>
                <a:ea typeface="Britti Sans, Helvetica Neue, Helvetica, Arial" pitchFamily="34" charset="-122"/>
                <a:cs typeface="Britti Sans, Helvetica Neue, Helvetica, Arial" pitchFamily="34" charset="-120"/>
              </a:rPr>
              <a:t>Three tiers.</a:t>
            </a:r>
            <a:endParaRPr lang="en-US" sz="4400" dirty="0"/>
          </a:p>
        </p:txBody>
      </p:sp>
      <p:sp>
        <p:nvSpPr>
          <p:cNvPr id="4" name="Text 2"/>
          <p:cNvSpPr/>
          <p:nvPr/>
        </p:nvSpPr>
        <p:spPr>
          <a:xfrm>
            <a:off x="640080" y="1691640"/>
            <a:ext cx="10972800" cy="822960"/>
          </a:xfrm>
          <a:prstGeom prst="rect">
            <a:avLst/>
          </a:prstGeom>
          <a:noFill/>
          <a:ln/>
        </p:spPr>
        <p:txBody>
          <a:bodyPr wrap="square" lIns="0" tIns="0" rIns="0" bIns="0" rtlCol="0" anchor="ctr"/>
          <a:lstStyle/>
          <a:p>
            <a:pPr indent="0" marL="0">
              <a:buNone/>
            </a:pPr>
            <a:r>
              <a:rPr lang="en-US" sz="4400" dirty="0">
                <a:solidFill>
                  <a:srgbClr val="ED2024"/>
                </a:solidFill>
                <a:latin typeface="Britti Sans, Helvetica Neue, Helvetica, Arial" pitchFamily="34" charset="0"/>
                <a:ea typeface="Britti Sans, Helvetica Neue, Helvetica, Arial" pitchFamily="34" charset="-122"/>
                <a:cs typeface="Britti Sans, Helvetica Neue, Helvetica, Arial" pitchFamily="34" charset="-120"/>
              </a:rPr>
              <a:t>One gateway.</a:t>
            </a:r>
            <a:endParaRPr lang="en-US" sz="4400" dirty="0"/>
          </a:p>
        </p:txBody>
      </p:sp>
      <p:sp>
        <p:nvSpPr>
          <p:cNvPr id="5" name="Shape 3"/>
          <p:cNvSpPr/>
          <p:nvPr/>
        </p:nvSpPr>
        <p:spPr>
          <a:xfrm>
            <a:off x="640080" y="2788920"/>
            <a:ext cx="914400" cy="4572"/>
          </a:xfrm>
          <a:prstGeom prst="rect">
            <a:avLst/>
          </a:prstGeom>
          <a:solidFill>
            <a:srgbClr val="ED2024"/>
          </a:solidFill>
          <a:ln/>
        </p:spPr>
      </p:sp>
      <p:sp>
        <p:nvSpPr>
          <p:cNvPr id="6" name="Shape 4"/>
          <p:cNvSpPr/>
          <p:nvPr/>
        </p:nvSpPr>
        <p:spPr>
          <a:xfrm>
            <a:off x="640080" y="3246120"/>
            <a:ext cx="3703320" cy="3108960"/>
          </a:xfrm>
          <a:prstGeom prst="rect">
            <a:avLst/>
          </a:prstGeom>
          <a:solidFill>
            <a:srgbClr val="0A0A0A"/>
          </a:solidFill>
          <a:ln w="6350">
            <a:solidFill>
              <a:srgbClr val="1F1F1F"/>
            </a:solidFill>
            <a:prstDash val="solid"/>
          </a:ln>
        </p:spPr>
      </p:sp>
      <p:sp>
        <p:nvSpPr>
          <p:cNvPr id="7" name="Text 5"/>
          <p:cNvSpPr/>
          <p:nvPr/>
        </p:nvSpPr>
        <p:spPr>
          <a:xfrm>
            <a:off x="1051560" y="3703320"/>
            <a:ext cx="1828800" cy="274320"/>
          </a:xfrm>
          <a:prstGeom prst="rect">
            <a:avLst/>
          </a:prstGeom>
          <a:noFill/>
          <a:ln/>
        </p:spPr>
        <p:txBody>
          <a:bodyPr wrap="square" lIns="0" tIns="0" rIns="0" bIns="0" rtlCol="0" anchor="ctr"/>
          <a:lstStyle/>
          <a:p>
            <a:pPr indent="0" marL="0">
              <a:buNone/>
            </a:pPr>
            <a:r>
              <a:rPr lang="en-US" sz="900" spc="800" kern="0" dirty="0">
                <a:solidFill>
                  <a:srgbClr val="3ECF8E"/>
                </a:solidFill>
                <a:latin typeface="Menlo, Consolas, Courier New" pitchFamily="34" charset="0"/>
                <a:ea typeface="Menlo, Consolas, Courier New" pitchFamily="34" charset="-122"/>
                <a:cs typeface="Menlo, Consolas, Courier New" pitchFamily="34" charset="-120"/>
              </a:rPr>
              <a:t>PUBLIC</a:t>
            </a:r>
            <a:endParaRPr lang="en-US" sz="900" dirty="0"/>
          </a:p>
        </p:txBody>
      </p:sp>
      <p:sp>
        <p:nvSpPr>
          <p:cNvPr id="8" name="Text 6"/>
          <p:cNvSpPr/>
          <p:nvPr/>
        </p:nvSpPr>
        <p:spPr>
          <a:xfrm>
            <a:off x="1051560" y="4023360"/>
            <a:ext cx="3063240" cy="548640"/>
          </a:xfrm>
          <a:prstGeom prst="rect">
            <a:avLst/>
          </a:prstGeom>
          <a:noFill/>
          <a:ln/>
        </p:spPr>
        <p:txBody>
          <a:bodyPr wrap="square" lIns="0" tIns="0" rIns="0" bIns="0" rtlCol="0" anchor="ctr"/>
          <a:lstStyle/>
          <a:p>
            <a:pPr indent="0" marL="0">
              <a:buNone/>
            </a:pPr>
            <a:r>
              <a:rPr lang="en-US" sz="2200" dirty="0">
                <a:solidFill>
                  <a:srgbClr val="F5F5F3"/>
                </a:solidFill>
                <a:latin typeface="Britti Sans, Helvetica Neue, Helvetica, Arial" pitchFamily="34" charset="0"/>
                <a:ea typeface="Britti Sans, Helvetica Neue, Helvetica, Arial" pitchFamily="34" charset="-122"/>
                <a:cs typeface="Britti Sans, Helvetica Neue, Helvetica, Arial" pitchFamily="34" charset="-120"/>
              </a:rPr>
              <a:t>Knowledge tasks</a:t>
            </a:r>
            <a:endParaRPr lang="en-US" sz="2200" dirty="0"/>
          </a:p>
        </p:txBody>
      </p:sp>
      <p:sp>
        <p:nvSpPr>
          <p:cNvPr id="9" name="Shape 7"/>
          <p:cNvSpPr/>
          <p:nvPr/>
        </p:nvSpPr>
        <p:spPr>
          <a:xfrm>
            <a:off x="1051560" y="4617720"/>
            <a:ext cx="457200" cy="4572"/>
          </a:xfrm>
          <a:prstGeom prst="rect">
            <a:avLst/>
          </a:prstGeom>
          <a:solidFill>
            <a:srgbClr val="3ECF8E"/>
          </a:solidFill>
          <a:ln/>
        </p:spPr>
      </p:sp>
      <p:sp>
        <p:nvSpPr>
          <p:cNvPr id="10" name="Text 8"/>
          <p:cNvSpPr/>
          <p:nvPr/>
        </p:nvSpPr>
        <p:spPr>
          <a:xfrm>
            <a:off x="1051560" y="4800600"/>
            <a:ext cx="2743200" cy="228600"/>
          </a:xfrm>
          <a:prstGeom prst="rect">
            <a:avLst/>
          </a:prstGeom>
          <a:noFill/>
          <a:ln/>
        </p:spPr>
        <p:txBody>
          <a:bodyPr wrap="square" lIns="0" tIns="0" rIns="0" bIns="0" rtlCol="0" anchor="ctr"/>
          <a:lstStyle/>
          <a:p>
            <a:pPr indent="0" marL="0">
              <a:buNone/>
            </a:pPr>
            <a:r>
              <a:rPr lang="en-US" sz="800" spc="600" kern="0" dirty="0">
                <a:solidFill>
                  <a:srgbClr val="555552"/>
                </a:solidFill>
                <a:latin typeface="Menlo, Consolas, Courier New" pitchFamily="34" charset="0"/>
                <a:ea typeface="Menlo, Consolas, Courier New" pitchFamily="34" charset="-122"/>
                <a:cs typeface="Menlo, Consolas, Courier New" pitchFamily="34" charset="-120"/>
              </a:rPr>
              <a:t>BACKEND</a:t>
            </a:r>
            <a:endParaRPr lang="en-US" sz="800" dirty="0"/>
          </a:p>
        </p:txBody>
      </p:sp>
      <p:sp>
        <p:nvSpPr>
          <p:cNvPr id="11" name="Text 9"/>
          <p:cNvSpPr/>
          <p:nvPr/>
        </p:nvSpPr>
        <p:spPr>
          <a:xfrm>
            <a:off x="1051560" y="5029200"/>
            <a:ext cx="3063240" cy="365760"/>
          </a:xfrm>
          <a:prstGeom prst="rect">
            <a:avLst/>
          </a:prstGeom>
          <a:noFill/>
          <a:ln/>
        </p:spPr>
        <p:txBody>
          <a:bodyPr wrap="square" lIns="0" tIns="0" rIns="0" bIns="0" rtlCol="0" anchor="t"/>
          <a:lstStyle/>
          <a:p>
            <a:pPr indent="0" marL="0">
              <a:buNone/>
            </a:pPr>
            <a:r>
              <a:rPr lang="en-US" sz="1100" dirty="0">
                <a:solidFill>
                  <a:srgbClr val="F5F5F3"/>
                </a:solidFill>
                <a:latin typeface="Menlo, Consolas, Courier New" pitchFamily="34" charset="0"/>
                <a:ea typeface="Menlo, Consolas, Courier New" pitchFamily="34" charset="-122"/>
                <a:cs typeface="Menlo, Consolas, Courier New" pitchFamily="34" charset="-120"/>
              </a:rPr>
              <a:t>Frontier model · ZDR</a:t>
            </a:r>
            <a:endParaRPr lang="en-US" sz="1100" dirty="0"/>
          </a:p>
        </p:txBody>
      </p:sp>
      <p:sp>
        <p:nvSpPr>
          <p:cNvPr id="12" name="Text 10"/>
          <p:cNvSpPr/>
          <p:nvPr/>
        </p:nvSpPr>
        <p:spPr>
          <a:xfrm>
            <a:off x="1051560" y="5486400"/>
            <a:ext cx="2743200" cy="228600"/>
          </a:xfrm>
          <a:prstGeom prst="rect">
            <a:avLst/>
          </a:prstGeom>
          <a:noFill/>
          <a:ln/>
        </p:spPr>
        <p:txBody>
          <a:bodyPr wrap="square" lIns="0" tIns="0" rIns="0" bIns="0" rtlCol="0" anchor="ctr"/>
          <a:lstStyle/>
          <a:p>
            <a:pPr indent="0" marL="0">
              <a:buNone/>
            </a:pPr>
            <a:r>
              <a:rPr lang="en-US" sz="800" spc="600" kern="0" dirty="0">
                <a:solidFill>
                  <a:srgbClr val="555552"/>
                </a:solidFill>
                <a:latin typeface="Menlo, Consolas, Courier New" pitchFamily="34" charset="0"/>
                <a:ea typeface="Menlo, Consolas, Courier New" pitchFamily="34" charset="-122"/>
                <a:cs typeface="Menlo, Consolas, Courier New" pitchFamily="34" charset="-120"/>
              </a:rPr>
              <a:t>USE</a:t>
            </a:r>
            <a:endParaRPr lang="en-US" sz="800" dirty="0"/>
          </a:p>
        </p:txBody>
      </p:sp>
      <p:sp>
        <p:nvSpPr>
          <p:cNvPr id="13" name="Text 11"/>
          <p:cNvSpPr/>
          <p:nvPr/>
        </p:nvSpPr>
        <p:spPr>
          <a:xfrm>
            <a:off x="1051560" y="5715000"/>
            <a:ext cx="3063240" cy="411480"/>
          </a:xfrm>
          <a:prstGeom prst="rect">
            <a:avLst/>
          </a:prstGeom>
          <a:noFill/>
          <a:ln/>
        </p:spPr>
        <p:txBody>
          <a:bodyPr wrap="square" lIns="0" tIns="0" rIns="0" bIns="0" rtlCol="0" anchor="t"/>
          <a:lstStyle/>
          <a:p>
            <a:pPr indent="0" marL="0">
              <a:buNone/>
            </a:pPr>
            <a:r>
              <a:rPr lang="en-US" sz="1100" dirty="0">
                <a:solidFill>
                  <a:srgbClr val="8A8A87"/>
                </a:solidFill>
                <a:latin typeface="Britti Sans, Helvetica Neue, Helvetica, Arial" pitchFamily="34" charset="0"/>
                <a:ea typeface="Britti Sans, Helvetica Neue, Helvetica, Arial" pitchFamily="34" charset="-122"/>
                <a:cs typeface="Britti Sans, Helvetica Neue, Helvetica, Arial" pitchFamily="34" charset="-120"/>
              </a:rPr>
              <a:t>Code, explanations, schema mapping, general Q&amp;A.</a:t>
            </a:r>
            <a:endParaRPr lang="en-US" sz="1100" dirty="0"/>
          </a:p>
        </p:txBody>
      </p:sp>
      <p:sp>
        <p:nvSpPr>
          <p:cNvPr id="14" name="Shape 12"/>
          <p:cNvSpPr/>
          <p:nvPr/>
        </p:nvSpPr>
        <p:spPr>
          <a:xfrm>
            <a:off x="4453128" y="3246120"/>
            <a:ext cx="3703320" cy="3108960"/>
          </a:xfrm>
          <a:prstGeom prst="rect">
            <a:avLst/>
          </a:prstGeom>
          <a:solidFill>
            <a:srgbClr val="0A0A0A"/>
          </a:solidFill>
          <a:ln w="6350">
            <a:solidFill>
              <a:srgbClr val="1F1F1F"/>
            </a:solidFill>
            <a:prstDash val="solid"/>
          </a:ln>
        </p:spPr>
      </p:sp>
      <p:sp>
        <p:nvSpPr>
          <p:cNvPr id="15" name="Text 13"/>
          <p:cNvSpPr/>
          <p:nvPr/>
        </p:nvSpPr>
        <p:spPr>
          <a:xfrm>
            <a:off x="4864608" y="3703320"/>
            <a:ext cx="1828800" cy="274320"/>
          </a:xfrm>
          <a:prstGeom prst="rect">
            <a:avLst/>
          </a:prstGeom>
          <a:noFill/>
          <a:ln/>
        </p:spPr>
        <p:txBody>
          <a:bodyPr wrap="square" lIns="0" tIns="0" rIns="0" bIns="0" rtlCol="0" anchor="ctr"/>
          <a:lstStyle/>
          <a:p>
            <a:pPr indent="0" marL="0">
              <a:buNone/>
            </a:pPr>
            <a:r>
              <a:rPr lang="en-US" sz="900" spc="800" kern="0" dirty="0">
                <a:solidFill>
                  <a:srgbClr val="ED2024"/>
                </a:solidFill>
                <a:latin typeface="Menlo, Consolas, Courier New" pitchFamily="34" charset="0"/>
                <a:ea typeface="Menlo, Consolas, Courier New" pitchFamily="34" charset="-122"/>
                <a:cs typeface="Menlo, Consolas, Courier New" pitchFamily="34" charset="-120"/>
              </a:rPr>
              <a:t>PRIVATE</a:t>
            </a:r>
            <a:endParaRPr lang="en-US" sz="900" dirty="0"/>
          </a:p>
        </p:txBody>
      </p:sp>
      <p:sp>
        <p:nvSpPr>
          <p:cNvPr id="16" name="Text 14"/>
          <p:cNvSpPr/>
          <p:nvPr/>
        </p:nvSpPr>
        <p:spPr>
          <a:xfrm>
            <a:off x="4864608" y="4023360"/>
            <a:ext cx="3063240" cy="548640"/>
          </a:xfrm>
          <a:prstGeom prst="rect">
            <a:avLst/>
          </a:prstGeom>
          <a:noFill/>
          <a:ln/>
        </p:spPr>
        <p:txBody>
          <a:bodyPr wrap="square" lIns="0" tIns="0" rIns="0" bIns="0" rtlCol="0" anchor="ctr"/>
          <a:lstStyle/>
          <a:p>
            <a:pPr indent="0" marL="0">
              <a:buNone/>
            </a:pPr>
            <a:r>
              <a:rPr lang="en-US" sz="2200" dirty="0">
                <a:solidFill>
                  <a:srgbClr val="F5F5F3"/>
                </a:solidFill>
                <a:latin typeface="Britti Sans, Helvetica Neue, Helvetica, Arial" pitchFamily="34" charset="0"/>
                <a:ea typeface="Britti Sans, Helvetica Neue, Helvetica, Arial" pitchFamily="34" charset="-122"/>
                <a:cs typeface="Britti Sans, Helvetica Neue, Helvetica, Arial" pitchFamily="34" charset="-120"/>
              </a:rPr>
              <a:t>Redacted customer work</a:t>
            </a:r>
            <a:endParaRPr lang="en-US" sz="2200" dirty="0"/>
          </a:p>
        </p:txBody>
      </p:sp>
      <p:sp>
        <p:nvSpPr>
          <p:cNvPr id="17" name="Shape 15"/>
          <p:cNvSpPr/>
          <p:nvPr/>
        </p:nvSpPr>
        <p:spPr>
          <a:xfrm>
            <a:off x="4864608" y="4617720"/>
            <a:ext cx="457200" cy="4572"/>
          </a:xfrm>
          <a:prstGeom prst="rect">
            <a:avLst/>
          </a:prstGeom>
          <a:solidFill>
            <a:srgbClr val="ED2024"/>
          </a:solidFill>
          <a:ln/>
        </p:spPr>
      </p:sp>
      <p:sp>
        <p:nvSpPr>
          <p:cNvPr id="18" name="Text 16"/>
          <p:cNvSpPr/>
          <p:nvPr/>
        </p:nvSpPr>
        <p:spPr>
          <a:xfrm>
            <a:off x="4864608" y="4800600"/>
            <a:ext cx="2743200" cy="228600"/>
          </a:xfrm>
          <a:prstGeom prst="rect">
            <a:avLst/>
          </a:prstGeom>
          <a:noFill/>
          <a:ln/>
        </p:spPr>
        <p:txBody>
          <a:bodyPr wrap="square" lIns="0" tIns="0" rIns="0" bIns="0" rtlCol="0" anchor="ctr"/>
          <a:lstStyle/>
          <a:p>
            <a:pPr indent="0" marL="0">
              <a:buNone/>
            </a:pPr>
            <a:r>
              <a:rPr lang="en-US" sz="800" spc="600" kern="0" dirty="0">
                <a:solidFill>
                  <a:srgbClr val="555552"/>
                </a:solidFill>
                <a:latin typeface="Menlo, Consolas, Courier New" pitchFamily="34" charset="0"/>
                <a:ea typeface="Menlo, Consolas, Courier New" pitchFamily="34" charset="-122"/>
                <a:cs typeface="Menlo, Consolas, Courier New" pitchFamily="34" charset="-120"/>
              </a:rPr>
              <a:t>BACKEND</a:t>
            </a:r>
            <a:endParaRPr lang="en-US" sz="800" dirty="0"/>
          </a:p>
        </p:txBody>
      </p:sp>
      <p:sp>
        <p:nvSpPr>
          <p:cNvPr id="19" name="Text 17"/>
          <p:cNvSpPr/>
          <p:nvPr/>
        </p:nvSpPr>
        <p:spPr>
          <a:xfrm>
            <a:off x="4864608" y="5029200"/>
            <a:ext cx="3063240" cy="365760"/>
          </a:xfrm>
          <a:prstGeom prst="rect">
            <a:avLst/>
          </a:prstGeom>
          <a:noFill/>
          <a:ln/>
        </p:spPr>
        <p:txBody>
          <a:bodyPr wrap="square" lIns="0" tIns="0" rIns="0" bIns="0" rtlCol="0" anchor="t"/>
          <a:lstStyle/>
          <a:p>
            <a:pPr indent="0" marL="0">
              <a:buNone/>
            </a:pPr>
            <a:r>
              <a:rPr lang="en-US" sz="1100" dirty="0">
                <a:solidFill>
                  <a:srgbClr val="F5F5F3"/>
                </a:solidFill>
                <a:latin typeface="Menlo, Consolas, Courier New" pitchFamily="34" charset="0"/>
                <a:ea typeface="Menlo, Consolas, Courier New" pitchFamily="34" charset="-122"/>
                <a:cs typeface="Menlo, Consolas, Courier New" pitchFamily="34" charset="-120"/>
              </a:rPr>
              <a:t>Frontier model + Caliber redactor</a:t>
            </a:r>
            <a:endParaRPr lang="en-US" sz="1100" dirty="0"/>
          </a:p>
        </p:txBody>
      </p:sp>
      <p:sp>
        <p:nvSpPr>
          <p:cNvPr id="20" name="Text 18"/>
          <p:cNvSpPr/>
          <p:nvPr/>
        </p:nvSpPr>
        <p:spPr>
          <a:xfrm>
            <a:off x="4864608" y="5486400"/>
            <a:ext cx="2743200" cy="228600"/>
          </a:xfrm>
          <a:prstGeom prst="rect">
            <a:avLst/>
          </a:prstGeom>
          <a:noFill/>
          <a:ln/>
        </p:spPr>
        <p:txBody>
          <a:bodyPr wrap="square" lIns="0" tIns="0" rIns="0" bIns="0" rtlCol="0" anchor="ctr"/>
          <a:lstStyle/>
          <a:p>
            <a:pPr indent="0" marL="0">
              <a:buNone/>
            </a:pPr>
            <a:r>
              <a:rPr lang="en-US" sz="800" spc="600" kern="0" dirty="0">
                <a:solidFill>
                  <a:srgbClr val="555552"/>
                </a:solidFill>
                <a:latin typeface="Menlo, Consolas, Courier New" pitchFamily="34" charset="0"/>
                <a:ea typeface="Menlo, Consolas, Courier New" pitchFamily="34" charset="-122"/>
                <a:cs typeface="Menlo, Consolas, Courier New" pitchFamily="34" charset="-120"/>
              </a:rPr>
              <a:t>USE</a:t>
            </a:r>
            <a:endParaRPr lang="en-US" sz="800" dirty="0"/>
          </a:p>
        </p:txBody>
      </p:sp>
      <p:sp>
        <p:nvSpPr>
          <p:cNvPr id="21" name="Text 19"/>
          <p:cNvSpPr/>
          <p:nvPr/>
        </p:nvSpPr>
        <p:spPr>
          <a:xfrm>
            <a:off x="4864608" y="5715000"/>
            <a:ext cx="3063240" cy="411480"/>
          </a:xfrm>
          <a:prstGeom prst="rect">
            <a:avLst/>
          </a:prstGeom>
          <a:noFill/>
          <a:ln/>
        </p:spPr>
        <p:txBody>
          <a:bodyPr wrap="square" lIns="0" tIns="0" rIns="0" bIns="0" rtlCol="0" anchor="t"/>
          <a:lstStyle/>
          <a:p>
            <a:pPr indent="0" marL="0">
              <a:buNone/>
            </a:pPr>
            <a:r>
              <a:rPr lang="en-US" sz="1100" dirty="0">
                <a:solidFill>
                  <a:srgbClr val="8A8A87"/>
                </a:solidFill>
                <a:latin typeface="Britti Sans, Helvetica Neue, Helvetica, Arial" pitchFamily="34" charset="0"/>
                <a:ea typeface="Britti Sans, Helvetica Neue, Helvetica, Arial" pitchFamily="34" charset="-122"/>
                <a:cs typeface="Britti Sans, Helvetica Neue, Helvetica, Arial" pitchFamily="34" charset="-120"/>
              </a:rPr>
              <a:t>Invoice summaries, vendor questions, narrative drafting.</a:t>
            </a:r>
            <a:endParaRPr lang="en-US" sz="1100" dirty="0"/>
          </a:p>
        </p:txBody>
      </p:sp>
      <p:sp>
        <p:nvSpPr>
          <p:cNvPr id="22" name="Shape 20"/>
          <p:cNvSpPr/>
          <p:nvPr/>
        </p:nvSpPr>
        <p:spPr>
          <a:xfrm>
            <a:off x="8266176" y="3246120"/>
            <a:ext cx="3703320" cy="3108960"/>
          </a:xfrm>
          <a:prstGeom prst="rect">
            <a:avLst/>
          </a:prstGeom>
          <a:solidFill>
            <a:srgbClr val="0A0A0A"/>
          </a:solidFill>
          <a:ln w="6350">
            <a:solidFill>
              <a:srgbClr val="1F1F1F"/>
            </a:solidFill>
            <a:prstDash val="solid"/>
          </a:ln>
        </p:spPr>
      </p:sp>
      <p:sp>
        <p:nvSpPr>
          <p:cNvPr id="23" name="Text 21"/>
          <p:cNvSpPr/>
          <p:nvPr/>
        </p:nvSpPr>
        <p:spPr>
          <a:xfrm>
            <a:off x="8677656" y="3703320"/>
            <a:ext cx="1828800" cy="274320"/>
          </a:xfrm>
          <a:prstGeom prst="rect">
            <a:avLst/>
          </a:prstGeom>
          <a:noFill/>
          <a:ln/>
        </p:spPr>
        <p:txBody>
          <a:bodyPr wrap="square" lIns="0" tIns="0" rIns="0" bIns="0" rtlCol="0" anchor="ctr"/>
          <a:lstStyle/>
          <a:p>
            <a:pPr indent="0" marL="0">
              <a:buNone/>
            </a:pPr>
            <a:r>
              <a:rPr lang="en-US" sz="900" spc="800" kern="0" dirty="0">
                <a:solidFill>
                  <a:srgbClr val="5AA9FF"/>
                </a:solidFill>
                <a:latin typeface="Menlo, Consolas, Courier New" pitchFamily="34" charset="0"/>
                <a:ea typeface="Menlo, Consolas, Courier New" pitchFamily="34" charset="-122"/>
                <a:cs typeface="Menlo, Consolas, Courier New" pitchFamily="34" charset="-120"/>
              </a:rPr>
              <a:t>SEALED</a:t>
            </a:r>
            <a:endParaRPr lang="en-US" sz="900" dirty="0"/>
          </a:p>
        </p:txBody>
      </p:sp>
      <p:sp>
        <p:nvSpPr>
          <p:cNvPr id="24" name="Text 22"/>
          <p:cNvSpPr/>
          <p:nvPr/>
        </p:nvSpPr>
        <p:spPr>
          <a:xfrm>
            <a:off x="8677656" y="4023360"/>
            <a:ext cx="3063240" cy="548640"/>
          </a:xfrm>
          <a:prstGeom prst="rect">
            <a:avLst/>
          </a:prstGeom>
          <a:noFill/>
          <a:ln/>
        </p:spPr>
        <p:txBody>
          <a:bodyPr wrap="square" lIns="0" tIns="0" rIns="0" bIns="0" rtlCol="0" anchor="ctr"/>
          <a:lstStyle/>
          <a:p>
            <a:pPr indent="0" marL="0">
              <a:buNone/>
            </a:pPr>
            <a:r>
              <a:rPr lang="en-US" sz="2200" dirty="0">
                <a:solidFill>
                  <a:srgbClr val="F5F5F3"/>
                </a:solidFill>
                <a:latin typeface="Britti Sans, Helvetica Neue, Helvetica, Arial" pitchFamily="34" charset="0"/>
                <a:ea typeface="Britti Sans, Helvetica Neue, Helvetica, Arial" pitchFamily="34" charset="-122"/>
                <a:cs typeface="Britti Sans, Helvetica Neue, Helvetica, Arial" pitchFamily="34" charset="-120"/>
              </a:rPr>
              <a:t>Trade-secret work</a:t>
            </a:r>
            <a:endParaRPr lang="en-US" sz="2200" dirty="0"/>
          </a:p>
        </p:txBody>
      </p:sp>
      <p:sp>
        <p:nvSpPr>
          <p:cNvPr id="25" name="Shape 23"/>
          <p:cNvSpPr/>
          <p:nvPr/>
        </p:nvSpPr>
        <p:spPr>
          <a:xfrm>
            <a:off x="8677656" y="4617720"/>
            <a:ext cx="457200" cy="4572"/>
          </a:xfrm>
          <a:prstGeom prst="rect">
            <a:avLst/>
          </a:prstGeom>
          <a:solidFill>
            <a:srgbClr val="5AA9FF"/>
          </a:solidFill>
          <a:ln/>
        </p:spPr>
      </p:sp>
      <p:sp>
        <p:nvSpPr>
          <p:cNvPr id="26" name="Text 24"/>
          <p:cNvSpPr/>
          <p:nvPr/>
        </p:nvSpPr>
        <p:spPr>
          <a:xfrm>
            <a:off x="8677656" y="4800600"/>
            <a:ext cx="2743200" cy="228600"/>
          </a:xfrm>
          <a:prstGeom prst="rect">
            <a:avLst/>
          </a:prstGeom>
          <a:noFill/>
          <a:ln/>
        </p:spPr>
        <p:txBody>
          <a:bodyPr wrap="square" lIns="0" tIns="0" rIns="0" bIns="0" rtlCol="0" anchor="ctr"/>
          <a:lstStyle/>
          <a:p>
            <a:pPr indent="0" marL="0">
              <a:buNone/>
            </a:pPr>
            <a:r>
              <a:rPr lang="en-US" sz="800" spc="600" kern="0" dirty="0">
                <a:solidFill>
                  <a:srgbClr val="555552"/>
                </a:solidFill>
                <a:latin typeface="Menlo, Consolas, Courier New" pitchFamily="34" charset="0"/>
                <a:ea typeface="Menlo, Consolas, Courier New" pitchFamily="34" charset="-122"/>
                <a:cs typeface="Menlo, Consolas, Courier New" pitchFamily="34" charset="-120"/>
              </a:rPr>
              <a:t>BACKEND</a:t>
            </a:r>
            <a:endParaRPr lang="en-US" sz="800" dirty="0"/>
          </a:p>
        </p:txBody>
      </p:sp>
      <p:sp>
        <p:nvSpPr>
          <p:cNvPr id="27" name="Text 25"/>
          <p:cNvSpPr/>
          <p:nvPr/>
        </p:nvSpPr>
        <p:spPr>
          <a:xfrm>
            <a:off x="8677656" y="5029200"/>
            <a:ext cx="3063240" cy="365760"/>
          </a:xfrm>
          <a:prstGeom prst="rect">
            <a:avLst/>
          </a:prstGeom>
          <a:noFill/>
          <a:ln/>
        </p:spPr>
        <p:txBody>
          <a:bodyPr wrap="square" lIns="0" tIns="0" rIns="0" bIns="0" rtlCol="0" anchor="t"/>
          <a:lstStyle/>
          <a:p>
            <a:pPr indent="0" marL="0">
              <a:buNone/>
            </a:pPr>
            <a:r>
              <a:rPr lang="en-US" sz="1100" dirty="0">
                <a:solidFill>
                  <a:srgbClr val="F5F5F3"/>
                </a:solidFill>
                <a:latin typeface="Menlo, Consolas, Courier New" pitchFamily="34" charset="0"/>
                <a:ea typeface="Menlo, Consolas, Courier New" pitchFamily="34" charset="-122"/>
                <a:cs typeface="Menlo, Consolas, Courier New" pitchFamily="34" charset="-120"/>
              </a:rPr>
              <a:t>Caliber Model · in your VPC</a:t>
            </a:r>
            <a:endParaRPr lang="en-US" sz="1100" dirty="0"/>
          </a:p>
        </p:txBody>
      </p:sp>
      <p:sp>
        <p:nvSpPr>
          <p:cNvPr id="28" name="Text 26"/>
          <p:cNvSpPr/>
          <p:nvPr/>
        </p:nvSpPr>
        <p:spPr>
          <a:xfrm>
            <a:off x="8677656" y="5486400"/>
            <a:ext cx="2743200" cy="228600"/>
          </a:xfrm>
          <a:prstGeom prst="rect">
            <a:avLst/>
          </a:prstGeom>
          <a:noFill/>
          <a:ln/>
        </p:spPr>
        <p:txBody>
          <a:bodyPr wrap="square" lIns="0" tIns="0" rIns="0" bIns="0" rtlCol="0" anchor="ctr"/>
          <a:lstStyle/>
          <a:p>
            <a:pPr indent="0" marL="0">
              <a:buNone/>
            </a:pPr>
            <a:r>
              <a:rPr lang="en-US" sz="800" spc="600" kern="0" dirty="0">
                <a:solidFill>
                  <a:srgbClr val="555552"/>
                </a:solidFill>
                <a:latin typeface="Menlo, Consolas, Courier New" pitchFamily="34" charset="0"/>
                <a:ea typeface="Menlo, Consolas, Courier New" pitchFamily="34" charset="-122"/>
                <a:cs typeface="Menlo, Consolas, Courier New" pitchFamily="34" charset="-120"/>
              </a:rPr>
              <a:t>USE</a:t>
            </a:r>
            <a:endParaRPr lang="en-US" sz="800" dirty="0"/>
          </a:p>
        </p:txBody>
      </p:sp>
      <p:sp>
        <p:nvSpPr>
          <p:cNvPr id="29" name="Text 27"/>
          <p:cNvSpPr/>
          <p:nvPr/>
        </p:nvSpPr>
        <p:spPr>
          <a:xfrm>
            <a:off x="8677656" y="5715000"/>
            <a:ext cx="3063240" cy="411480"/>
          </a:xfrm>
          <a:prstGeom prst="rect">
            <a:avLst/>
          </a:prstGeom>
          <a:noFill/>
          <a:ln/>
        </p:spPr>
        <p:txBody>
          <a:bodyPr wrap="square" lIns="0" tIns="0" rIns="0" bIns="0" rtlCol="0" anchor="t"/>
          <a:lstStyle/>
          <a:p>
            <a:pPr indent="0" marL="0">
              <a:buNone/>
            </a:pPr>
            <a:r>
              <a:rPr lang="en-US" sz="1100" dirty="0">
                <a:solidFill>
                  <a:srgbClr val="8A8A87"/>
                </a:solidFill>
                <a:latin typeface="Britti Sans, Helvetica Neue, Helvetica, Arial" pitchFamily="34" charset="0"/>
                <a:ea typeface="Britti Sans, Helvetica Neue, Helvetica, Arial" pitchFamily="34" charset="-122"/>
                <a:cs typeface="Britti Sans, Helvetica Neue, Helvetica, Arial" pitchFamily="34" charset="-120"/>
              </a:rPr>
              <a:t>Bank reconciliation, payment ops, account-level analysis.</a:t>
            </a:r>
            <a:endParaRPr lang="en-US" sz="1100" dirty="0"/>
          </a:p>
        </p:txBody>
      </p:sp>
      <p:sp>
        <p:nvSpPr>
          <p:cNvPr id="30" name="Text 28"/>
          <p:cNvSpPr/>
          <p:nvPr/>
        </p:nvSpPr>
        <p:spPr>
          <a:xfrm>
            <a:off x="640080" y="6446520"/>
            <a:ext cx="1828800" cy="274320"/>
          </a:xfrm>
          <a:prstGeom prst="rect">
            <a:avLst/>
          </a:prstGeom>
          <a:noFill/>
          <a:ln/>
        </p:spPr>
        <p:txBody>
          <a:bodyPr wrap="square" lIns="0" tIns="0" rIns="0" bIns="0" rtlCol="0" anchor="ctr"/>
          <a:lstStyle/>
          <a:p>
            <a:pPr indent="0" marL="0">
              <a:buNone/>
            </a:pPr>
            <a:r>
              <a:rPr lang="en-US" sz="800" spc="800" kern="0" dirty="0">
                <a:solidFill>
                  <a:srgbClr val="555552"/>
                </a:solidFill>
                <a:latin typeface="Menlo, Consolas, Courier New" pitchFamily="34" charset="0"/>
                <a:ea typeface="Menlo, Consolas, Courier New" pitchFamily="34" charset="-122"/>
                <a:cs typeface="Menlo, Consolas, Courier New" pitchFamily="34" charset="-120"/>
              </a:rPr>
              <a:t>CALIBER</a:t>
            </a:r>
            <a:endParaRPr lang="en-US" sz="800" dirty="0"/>
          </a:p>
        </p:txBody>
      </p:sp>
      <p:sp>
        <p:nvSpPr>
          <p:cNvPr id="31" name="Text 29"/>
          <p:cNvSpPr/>
          <p:nvPr/>
        </p:nvSpPr>
        <p:spPr>
          <a:xfrm>
            <a:off x="10972800" y="6446520"/>
            <a:ext cx="914400" cy="274320"/>
          </a:xfrm>
          <a:prstGeom prst="rect">
            <a:avLst/>
          </a:prstGeom>
          <a:noFill/>
          <a:ln/>
        </p:spPr>
        <p:txBody>
          <a:bodyPr wrap="square" lIns="0" tIns="0" rIns="0" bIns="0" rtlCol="0" anchor="ctr"/>
          <a:lstStyle/>
          <a:p>
            <a:pPr algn="r" indent="0" marL="0">
              <a:buNone/>
            </a:pPr>
            <a:r>
              <a:rPr lang="en-US" sz="800" spc="400" kern="0" dirty="0">
                <a:solidFill>
                  <a:srgbClr val="555552"/>
                </a:solidFill>
                <a:latin typeface="Menlo, Consolas, Courier New" pitchFamily="34" charset="0"/>
                <a:ea typeface="Menlo, Consolas, Courier New" pitchFamily="34" charset="-122"/>
                <a:cs typeface="Menlo, Consolas, Courier New" pitchFamily="34" charset="-120"/>
              </a:rPr>
              <a:t>05 / 13</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640080" y="502920"/>
            <a:ext cx="10972800" cy="274320"/>
          </a:xfrm>
          <a:prstGeom prst="rect">
            <a:avLst/>
          </a:prstGeom>
          <a:noFill/>
          <a:ln/>
        </p:spPr>
        <p:txBody>
          <a:bodyPr wrap="square" lIns="0" tIns="0" rIns="0" bIns="0" rtlCol="0" anchor="ctr"/>
          <a:lstStyle/>
          <a:p>
            <a:pPr indent="0" marL="0">
              <a:buNone/>
            </a:pPr>
            <a:r>
              <a:rPr lang="en-US" sz="1000" spc="800" kern="0" dirty="0">
                <a:solidFill>
                  <a:srgbClr val="ED2024"/>
                </a:solidFill>
                <a:latin typeface="Menlo, Consolas, Courier New" pitchFamily="34" charset="0"/>
                <a:ea typeface="Menlo, Consolas, Courier New" pitchFamily="34" charset="-122"/>
                <a:cs typeface="Menlo, Consolas, Courier New" pitchFamily="34" charset="-120"/>
              </a:rPr>
              <a:t>05 · THE GATEWAY</a:t>
            </a:r>
            <a:endParaRPr lang="en-US" sz="1000" dirty="0"/>
          </a:p>
        </p:txBody>
      </p:sp>
      <p:sp>
        <p:nvSpPr>
          <p:cNvPr id="3" name="Text 1"/>
          <p:cNvSpPr/>
          <p:nvPr/>
        </p:nvSpPr>
        <p:spPr>
          <a:xfrm>
            <a:off x="640080" y="1005840"/>
            <a:ext cx="10972800" cy="822960"/>
          </a:xfrm>
          <a:prstGeom prst="rect">
            <a:avLst/>
          </a:prstGeom>
          <a:noFill/>
          <a:ln/>
        </p:spPr>
        <p:txBody>
          <a:bodyPr wrap="square" lIns="0" tIns="0" rIns="0" bIns="0" rtlCol="0" anchor="ctr"/>
          <a:lstStyle/>
          <a:p>
            <a:pPr indent="0" marL="0">
              <a:buNone/>
            </a:pPr>
            <a:r>
              <a:rPr lang="en-US" sz="4400" dirty="0">
                <a:solidFill>
                  <a:srgbClr val="F5F5F3"/>
                </a:solidFill>
                <a:latin typeface="Britti Sans, Helvetica Neue, Helvetica, Arial" pitchFamily="34" charset="0"/>
                <a:ea typeface="Britti Sans, Helvetica Neue, Helvetica, Arial" pitchFamily="34" charset="-122"/>
                <a:cs typeface="Britti Sans, Helvetica Neue, Helvetica, Arial" pitchFamily="34" charset="-120"/>
              </a:rPr>
              <a:t>Classify.</a:t>
            </a:r>
            <a:endParaRPr lang="en-US" sz="4400" dirty="0"/>
          </a:p>
        </p:txBody>
      </p:sp>
      <p:sp>
        <p:nvSpPr>
          <p:cNvPr id="4" name="Text 2"/>
          <p:cNvSpPr/>
          <p:nvPr/>
        </p:nvSpPr>
        <p:spPr>
          <a:xfrm>
            <a:off x="640080" y="1691640"/>
            <a:ext cx="10972800" cy="822960"/>
          </a:xfrm>
          <a:prstGeom prst="rect">
            <a:avLst/>
          </a:prstGeom>
          <a:noFill/>
          <a:ln/>
        </p:spPr>
        <p:txBody>
          <a:bodyPr wrap="square" lIns="0" tIns="0" rIns="0" bIns="0" rtlCol="0" anchor="ctr"/>
          <a:lstStyle/>
          <a:p>
            <a:pPr indent="0" marL="0">
              <a:buNone/>
            </a:pPr>
            <a:r>
              <a:rPr lang="en-US" sz="4400" dirty="0">
                <a:solidFill>
                  <a:srgbClr val="ED2024"/>
                </a:solidFill>
                <a:latin typeface="Britti Sans, Helvetica Neue, Helvetica, Arial" pitchFamily="34" charset="0"/>
                <a:ea typeface="Britti Sans, Helvetica Neue, Helvetica, Arial" pitchFamily="34" charset="-122"/>
                <a:cs typeface="Britti Sans, Helvetica Neue, Helvetica, Arial" pitchFamily="34" charset="-120"/>
              </a:rPr>
              <a:t>Redact. Route. Log.</a:t>
            </a:r>
            <a:endParaRPr lang="en-US" sz="4400" dirty="0"/>
          </a:p>
        </p:txBody>
      </p:sp>
      <p:sp>
        <p:nvSpPr>
          <p:cNvPr id="5" name="Shape 3"/>
          <p:cNvSpPr/>
          <p:nvPr/>
        </p:nvSpPr>
        <p:spPr>
          <a:xfrm>
            <a:off x="640080" y="2788920"/>
            <a:ext cx="914400" cy="4572"/>
          </a:xfrm>
          <a:prstGeom prst="rect">
            <a:avLst/>
          </a:prstGeom>
          <a:solidFill>
            <a:srgbClr val="ED2024"/>
          </a:solidFill>
          <a:ln/>
        </p:spPr>
      </p:sp>
      <p:sp>
        <p:nvSpPr>
          <p:cNvPr id="6" name="Shape 4"/>
          <p:cNvSpPr/>
          <p:nvPr/>
        </p:nvSpPr>
        <p:spPr>
          <a:xfrm>
            <a:off x="640080" y="3246120"/>
            <a:ext cx="2743200" cy="3108960"/>
          </a:xfrm>
          <a:prstGeom prst="rect">
            <a:avLst/>
          </a:prstGeom>
          <a:solidFill>
            <a:srgbClr val="0A0A0A"/>
          </a:solidFill>
          <a:ln w="6350">
            <a:solidFill>
              <a:srgbClr val="1F1F1F"/>
            </a:solidFill>
            <a:prstDash val="solid"/>
          </a:ln>
        </p:spPr>
      </p:sp>
      <p:sp>
        <p:nvSpPr>
          <p:cNvPr id="7" name="Text 5"/>
          <p:cNvSpPr/>
          <p:nvPr/>
        </p:nvSpPr>
        <p:spPr>
          <a:xfrm>
            <a:off x="1051560" y="3703320"/>
            <a:ext cx="1371600" cy="640080"/>
          </a:xfrm>
          <a:prstGeom prst="rect">
            <a:avLst/>
          </a:prstGeom>
          <a:noFill/>
          <a:ln/>
        </p:spPr>
        <p:txBody>
          <a:bodyPr wrap="square" lIns="0" tIns="0" rIns="0" bIns="0" rtlCol="0" anchor="ctr"/>
          <a:lstStyle/>
          <a:p>
            <a:pPr indent="0" marL="0">
              <a:buNone/>
            </a:pPr>
            <a:r>
              <a:rPr lang="en-US" sz="3600" dirty="0">
                <a:solidFill>
                  <a:srgbClr val="ED2024"/>
                </a:solidFill>
                <a:latin typeface="Britti Sans, Helvetica Neue, Helvetica, Arial" pitchFamily="34" charset="0"/>
                <a:ea typeface="Britti Sans, Helvetica Neue, Helvetica, Arial" pitchFamily="34" charset="-122"/>
                <a:cs typeface="Britti Sans, Helvetica Neue, Helvetica, Arial" pitchFamily="34" charset="-120"/>
              </a:rPr>
              <a:t>01</a:t>
            </a:r>
            <a:endParaRPr lang="en-US" sz="3600" dirty="0"/>
          </a:p>
        </p:txBody>
      </p:sp>
      <p:sp>
        <p:nvSpPr>
          <p:cNvPr id="8" name="Shape 6"/>
          <p:cNvSpPr/>
          <p:nvPr/>
        </p:nvSpPr>
        <p:spPr>
          <a:xfrm>
            <a:off x="1051560" y="4434840"/>
            <a:ext cx="457200" cy="4572"/>
          </a:xfrm>
          <a:prstGeom prst="rect">
            <a:avLst/>
          </a:prstGeom>
          <a:solidFill>
            <a:srgbClr val="ED2024"/>
          </a:solidFill>
          <a:ln/>
        </p:spPr>
      </p:sp>
      <p:sp>
        <p:nvSpPr>
          <p:cNvPr id="9" name="Text 7"/>
          <p:cNvSpPr/>
          <p:nvPr/>
        </p:nvSpPr>
        <p:spPr>
          <a:xfrm>
            <a:off x="1051560" y="4617720"/>
            <a:ext cx="2103120" cy="457200"/>
          </a:xfrm>
          <a:prstGeom prst="rect">
            <a:avLst/>
          </a:prstGeom>
          <a:noFill/>
          <a:ln/>
        </p:spPr>
        <p:txBody>
          <a:bodyPr wrap="square" lIns="0" tIns="0" rIns="0" bIns="0" rtlCol="0" anchor="ctr"/>
          <a:lstStyle/>
          <a:p>
            <a:pPr indent="0" marL="0">
              <a:buNone/>
            </a:pPr>
            <a:r>
              <a:rPr lang="en-US" sz="2000" dirty="0">
                <a:solidFill>
                  <a:srgbClr val="F5F5F3"/>
                </a:solidFill>
                <a:latin typeface="Britti Sans, Helvetica Neue, Helvetica, Arial" pitchFamily="34" charset="0"/>
                <a:ea typeface="Britti Sans, Helvetica Neue, Helvetica, Arial" pitchFamily="34" charset="-122"/>
                <a:cs typeface="Britti Sans, Helvetica Neue, Helvetica, Arial" pitchFamily="34" charset="-120"/>
              </a:rPr>
              <a:t>Classify</a:t>
            </a:r>
            <a:endParaRPr lang="en-US" sz="2000" dirty="0"/>
          </a:p>
        </p:txBody>
      </p:sp>
      <p:sp>
        <p:nvSpPr>
          <p:cNvPr id="10" name="Text 8"/>
          <p:cNvSpPr/>
          <p:nvPr/>
        </p:nvSpPr>
        <p:spPr>
          <a:xfrm>
            <a:off x="1051560" y="5166360"/>
            <a:ext cx="2103120" cy="1097280"/>
          </a:xfrm>
          <a:prstGeom prst="rect">
            <a:avLst/>
          </a:prstGeom>
          <a:noFill/>
          <a:ln/>
        </p:spPr>
        <p:txBody>
          <a:bodyPr wrap="square" lIns="0" tIns="0" rIns="0" bIns="0" rtlCol="0" anchor="t"/>
          <a:lstStyle/>
          <a:p>
            <a:pPr indent="0" marL="0">
              <a:buNone/>
            </a:pPr>
            <a:r>
              <a:rPr lang="en-US" sz="1200" dirty="0">
                <a:solidFill>
                  <a:srgbClr val="8A8A87"/>
                </a:solidFill>
                <a:latin typeface="Britti Sans, Helvetica Neue, Helvetica, Arial" pitchFamily="34" charset="0"/>
                <a:ea typeface="Britti Sans, Helvetica Neue, Helvetica, Arial" pitchFamily="34" charset="-122"/>
                <a:cs typeface="Britti Sans, Helvetica Neue, Helvetica, Arial" pitchFamily="34" charset="-120"/>
              </a:rPr>
              <a:t>PII, IBANs, account numbers, vendor names, payment refs — detected on every prompt.</a:t>
            </a:r>
            <a:endParaRPr lang="en-US" sz="1200" dirty="0"/>
          </a:p>
        </p:txBody>
      </p:sp>
      <p:sp>
        <p:nvSpPr>
          <p:cNvPr id="11" name="Shape 9"/>
          <p:cNvSpPr/>
          <p:nvPr/>
        </p:nvSpPr>
        <p:spPr>
          <a:xfrm>
            <a:off x="3502152" y="3246120"/>
            <a:ext cx="2743200" cy="3108960"/>
          </a:xfrm>
          <a:prstGeom prst="rect">
            <a:avLst/>
          </a:prstGeom>
          <a:solidFill>
            <a:srgbClr val="0A0A0A"/>
          </a:solidFill>
          <a:ln w="6350">
            <a:solidFill>
              <a:srgbClr val="1F1F1F"/>
            </a:solidFill>
            <a:prstDash val="solid"/>
          </a:ln>
        </p:spPr>
      </p:sp>
      <p:sp>
        <p:nvSpPr>
          <p:cNvPr id="12" name="Text 10"/>
          <p:cNvSpPr/>
          <p:nvPr/>
        </p:nvSpPr>
        <p:spPr>
          <a:xfrm>
            <a:off x="3913632" y="3703320"/>
            <a:ext cx="1371600" cy="640080"/>
          </a:xfrm>
          <a:prstGeom prst="rect">
            <a:avLst/>
          </a:prstGeom>
          <a:noFill/>
          <a:ln/>
        </p:spPr>
        <p:txBody>
          <a:bodyPr wrap="square" lIns="0" tIns="0" rIns="0" bIns="0" rtlCol="0" anchor="ctr"/>
          <a:lstStyle/>
          <a:p>
            <a:pPr indent="0" marL="0">
              <a:buNone/>
            </a:pPr>
            <a:r>
              <a:rPr lang="en-US" sz="3600" dirty="0">
                <a:solidFill>
                  <a:srgbClr val="ED2024"/>
                </a:solidFill>
                <a:latin typeface="Britti Sans, Helvetica Neue, Helvetica, Arial" pitchFamily="34" charset="0"/>
                <a:ea typeface="Britti Sans, Helvetica Neue, Helvetica, Arial" pitchFamily="34" charset="-122"/>
                <a:cs typeface="Britti Sans, Helvetica Neue, Helvetica, Arial" pitchFamily="34" charset="-120"/>
              </a:rPr>
              <a:t>02</a:t>
            </a:r>
            <a:endParaRPr lang="en-US" sz="3600" dirty="0"/>
          </a:p>
        </p:txBody>
      </p:sp>
      <p:sp>
        <p:nvSpPr>
          <p:cNvPr id="13" name="Shape 11"/>
          <p:cNvSpPr/>
          <p:nvPr/>
        </p:nvSpPr>
        <p:spPr>
          <a:xfrm>
            <a:off x="3913632" y="4434840"/>
            <a:ext cx="457200" cy="4572"/>
          </a:xfrm>
          <a:prstGeom prst="rect">
            <a:avLst/>
          </a:prstGeom>
          <a:solidFill>
            <a:srgbClr val="ED2024"/>
          </a:solidFill>
          <a:ln/>
        </p:spPr>
      </p:sp>
      <p:sp>
        <p:nvSpPr>
          <p:cNvPr id="14" name="Text 12"/>
          <p:cNvSpPr/>
          <p:nvPr/>
        </p:nvSpPr>
        <p:spPr>
          <a:xfrm>
            <a:off x="3913632" y="4617720"/>
            <a:ext cx="2103120" cy="457200"/>
          </a:xfrm>
          <a:prstGeom prst="rect">
            <a:avLst/>
          </a:prstGeom>
          <a:noFill/>
          <a:ln/>
        </p:spPr>
        <p:txBody>
          <a:bodyPr wrap="square" lIns="0" tIns="0" rIns="0" bIns="0" rtlCol="0" anchor="ctr"/>
          <a:lstStyle/>
          <a:p>
            <a:pPr indent="0" marL="0">
              <a:buNone/>
            </a:pPr>
            <a:r>
              <a:rPr lang="en-US" sz="2000" dirty="0">
                <a:solidFill>
                  <a:srgbClr val="F5F5F3"/>
                </a:solidFill>
                <a:latin typeface="Britti Sans, Helvetica Neue, Helvetica, Arial" pitchFamily="34" charset="0"/>
                <a:ea typeface="Britti Sans, Helvetica Neue, Helvetica, Arial" pitchFamily="34" charset="-122"/>
                <a:cs typeface="Britti Sans, Helvetica Neue, Helvetica, Arial" pitchFamily="34" charset="-120"/>
              </a:rPr>
              <a:t>Redact</a:t>
            </a:r>
            <a:endParaRPr lang="en-US" sz="2000" dirty="0"/>
          </a:p>
        </p:txBody>
      </p:sp>
      <p:sp>
        <p:nvSpPr>
          <p:cNvPr id="15" name="Text 13"/>
          <p:cNvSpPr/>
          <p:nvPr/>
        </p:nvSpPr>
        <p:spPr>
          <a:xfrm>
            <a:off x="3913632" y="5166360"/>
            <a:ext cx="2103120" cy="1097280"/>
          </a:xfrm>
          <a:prstGeom prst="rect">
            <a:avLst/>
          </a:prstGeom>
          <a:noFill/>
          <a:ln/>
        </p:spPr>
        <p:txBody>
          <a:bodyPr wrap="square" lIns="0" tIns="0" rIns="0" bIns="0" rtlCol="0" anchor="t"/>
          <a:lstStyle/>
          <a:p>
            <a:pPr indent="0" marL="0">
              <a:buNone/>
            </a:pPr>
            <a:r>
              <a:rPr lang="en-US" sz="1200" dirty="0">
                <a:solidFill>
                  <a:srgbClr val="8A8A87"/>
                </a:solidFill>
                <a:latin typeface="Britti Sans, Helvetica Neue, Helvetica, Arial" pitchFamily="34" charset="0"/>
                <a:ea typeface="Britti Sans, Helvetica Neue, Helvetica, Arial" pitchFamily="34" charset="-122"/>
                <a:cs typeface="Britti Sans, Helvetica Neue, Helvetica, Arial" pitchFamily="34" charset="-120"/>
              </a:rPr>
              <a:t>Sensitive entities replaced with stable tokens. Mapping never leaves the gateway.</a:t>
            </a:r>
            <a:endParaRPr lang="en-US" sz="1200" dirty="0"/>
          </a:p>
        </p:txBody>
      </p:sp>
      <p:sp>
        <p:nvSpPr>
          <p:cNvPr id="16" name="Shape 14"/>
          <p:cNvSpPr/>
          <p:nvPr/>
        </p:nvSpPr>
        <p:spPr>
          <a:xfrm>
            <a:off x="6364224" y="3246120"/>
            <a:ext cx="2743200" cy="3108960"/>
          </a:xfrm>
          <a:prstGeom prst="rect">
            <a:avLst/>
          </a:prstGeom>
          <a:solidFill>
            <a:srgbClr val="0A0A0A"/>
          </a:solidFill>
          <a:ln w="6350">
            <a:solidFill>
              <a:srgbClr val="1F1F1F"/>
            </a:solidFill>
            <a:prstDash val="solid"/>
          </a:ln>
        </p:spPr>
      </p:sp>
      <p:sp>
        <p:nvSpPr>
          <p:cNvPr id="17" name="Text 15"/>
          <p:cNvSpPr/>
          <p:nvPr/>
        </p:nvSpPr>
        <p:spPr>
          <a:xfrm>
            <a:off x="6775704" y="3703320"/>
            <a:ext cx="1371600" cy="640080"/>
          </a:xfrm>
          <a:prstGeom prst="rect">
            <a:avLst/>
          </a:prstGeom>
          <a:noFill/>
          <a:ln/>
        </p:spPr>
        <p:txBody>
          <a:bodyPr wrap="square" lIns="0" tIns="0" rIns="0" bIns="0" rtlCol="0" anchor="ctr"/>
          <a:lstStyle/>
          <a:p>
            <a:pPr indent="0" marL="0">
              <a:buNone/>
            </a:pPr>
            <a:r>
              <a:rPr lang="en-US" sz="3600" dirty="0">
                <a:solidFill>
                  <a:srgbClr val="ED2024"/>
                </a:solidFill>
                <a:latin typeface="Britti Sans, Helvetica Neue, Helvetica, Arial" pitchFamily="34" charset="0"/>
                <a:ea typeface="Britti Sans, Helvetica Neue, Helvetica, Arial" pitchFamily="34" charset="-122"/>
                <a:cs typeface="Britti Sans, Helvetica Neue, Helvetica, Arial" pitchFamily="34" charset="-120"/>
              </a:rPr>
              <a:t>03</a:t>
            </a:r>
            <a:endParaRPr lang="en-US" sz="3600" dirty="0"/>
          </a:p>
        </p:txBody>
      </p:sp>
      <p:sp>
        <p:nvSpPr>
          <p:cNvPr id="18" name="Shape 16"/>
          <p:cNvSpPr/>
          <p:nvPr/>
        </p:nvSpPr>
        <p:spPr>
          <a:xfrm>
            <a:off x="6775704" y="4434840"/>
            <a:ext cx="457200" cy="4572"/>
          </a:xfrm>
          <a:prstGeom prst="rect">
            <a:avLst/>
          </a:prstGeom>
          <a:solidFill>
            <a:srgbClr val="ED2024"/>
          </a:solidFill>
          <a:ln/>
        </p:spPr>
      </p:sp>
      <p:sp>
        <p:nvSpPr>
          <p:cNvPr id="19" name="Text 17"/>
          <p:cNvSpPr/>
          <p:nvPr/>
        </p:nvSpPr>
        <p:spPr>
          <a:xfrm>
            <a:off x="6775704" y="4617720"/>
            <a:ext cx="2103120" cy="457200"/>
          </a:xfrm>
          <a:prstGeom prst="rect">
            <a:avLst/>
          </a:prstGeom>
          <a:noFill/>
          <a:ln/>
        </p:spPr>
        <p:txBody>
          <a:bodyPr wrap="square" lIns="0" tIns="0" rIns="0" bIns="0" rtlCol="0" anchor="ctr"/>
          <a:lstStyle/>
          <a:p>
            <a:pPr indent="0" marL="0">
              <a:buNone/>
            </a:pPr>
            <a:r>
              <a:rPr lang="en-US" sz="2000" dirty="0">
                <a:solidFill>
                  <a:srgbClr val="F5F5F3"/>
                </a:solidFill>
                <a:latin typeface="Britti Sans, Helvetica Neue, Helvetica, Arial" pitchFamily="34" charset="0"/>
                <a:ea typeface="Britti Sans, Helvetica Neue, Helvetica, Arial" pitchFamily="34" charset="-122"/>
                <a:cs typeface="Britti Sans, Helvetica Neue, Helvetica, Arial" pitchFamily="34" charset="-120"/>
              </a:rPr>
              <a:t>Route</a:t>
            </a:r>
            <a:endParaRPr lang="en-US" sz="2000" dirty="0"/>
          </a:p>
        </p:txBody>
      </p:sp>
      <p:sp>
        <p:nvSpPr>
          <p:cNvPr id="20" name="Text 18"/>
          <p:cNvSpPr/>
          <p:nvPr/>
        </p:nvSpPr>
        <p:spPr>
          <a:xfrm>
            <a:off x="6775704" y="5166360"/>
            <a:ext cx="2103120" cy="1097280"/>
          </a:xfrm>
          <a:prstGeom prst="rect">
            <a:avLst/>
          </a:prstGeom>
          <a:noFill/>
          <a:ln/>
        </p:spPr>
        <p:txBody>
          <a:bodyPr wrap="square" lIns="0" tIns="0" rIns="0" bIns="0" rtlCol="0" anchor="t"/>
          <a:lstStyle/>
          <a:p>
            <a:pPr indent="0" marL="0">
              <a:buNone/>
            </a:pPr>
            <a:r>
              <a:rPr lang="en-US" sz="1200" dirty="0">
                <a:solidFill>
                  <a:srgbClr val="8A8A87"/>
                </a:solidFill>
                <a:latin typeface="Britti Sans, Helvetica Neue, Helvetica, Arial" pitchFamily="34" charset="0"/>
                <a:ea typeface="Britti Sans, Helvetica Neue, Helvetica, Arial" pitchFamily="34" charset="-122"/>
                <a:cs typeface="Britti Sans, Helvetica Neue, Helvetica, Arial" pitchFamily="34" charset="-120"/>
              </a:rPr>
              <a:t>Per-tenant policy picks the tier. Customer-configurable, audit-visible.</a:t>
            </a:r>
            <a:endParaRPr lang="en-US" sz="1200" dirty="0"/>
          </a:p>
        </p:txBody>
      </p:sp>
      <p:sp>
        <p:nvSpPr>
          <p:cNvPr id="21" name="Shape 19"/>
          <p:cNvSpPr/>
          <p:nvPr/>
        </p:nvSpPr>
        <p:spPr>
          <a:xfrm>
            <a:off x="9226296" y="3246120"/>
            <a:ext cx="2743200" cy="3108960"/>
          </a:xfrm>
          <a:prstGeom prst="rect">
            <a:avLst/>
          </a:prstGeom>
          <a:solidFill>
            <a:srgbClr val="0A0A0A"/>
          </a:solidFill>
          <a:ln w="6350">
            <a:solidFill>
              <a:srgbClr val="1F1F1F"/>
            </a:solidFill>
            <a:prstDash val="solid"/>
          </a:ln>
        </p:spPr>
      </p:sp>
      <p:sp>
        <p:nvSpPr>
          <p:cNvPr id="22" name="Text 20"/>
          <p:cNvSpPr/>
          <p:nvPr/>
        </p:nvSpPr>
        <p:spPr>
          <a:xfrm>
            <a:off x="9637776" y="3703320"/>
            <a:ext cx="1371600" cy="640080"/>
          </a:xfrm>
          <a:prstGeom prst="rect">
            <a:avLst/>
          </a:prstGeom>
          <a:noFill/>
          <a:ln/>
        </p:spPr>
        <p:txBody>
          <a:bodyPr wrap="square" lIns="0" tIns="0" rIns="0" bIns="0" rtlCol="0" anchor="ctr"/>
          <a:lstStyle/>
          <a:p>
            <a:pPr indent="0" marL="0">
              <a:buNone/>
            </a:pPr>
            <a:r>
              <a:rPr lang="en-US" sz="3600" dirty="0">
                <a:solidFill>
                  <a:srgbClr val="ED2024"/>
                </a:solidFill>
                <a:latin typeface="Britti Sans, Helvetica Neue, Helvetica, Arial" pitchFamily="34" charset="0"/>
                <a:ea typeface="Britti Sans, Helvetica Neue, Helvetica, Arial" pitchFamily="34" charset="-122"/>
                <a:cs typeface="Britti Sans, Helvetica Neue, Helvetica, Arial" pitchFamily="34" charset="-120"/>
              </a:rPr>
              <a:t>04</a:t>
            </a:r>
            <a:endParaRPr lang="en-US" sz="3600" dirty="0"/>
          </a:p>
        </p:txBody>
      </p:sp>
      <p:sp>
        <p:nvSpPr>
          <p:cNvPr id="23" name="Shape 21"/>
          <p:cNvSpPr/>
          <p:nvPr/>
        </p:nvSpPr>
        <p:spPr>
          <a:xfrm>
            <a:off x="9637776" y="4434840"/>
            <a:ext cx="457200" cy="4572"/>
          </a:xfrm>
          <a:prstGeom prst="rect">
            <a:avLst/>
          </a:prstGeom>
          <a:solidFill>
            <a:srgbClr val="ED2024"/>
          </a:solidFill>
          <a:ln/>
        </p:spPr>
      </p:sp>
      <p:sp>
        <p:nvSpPr>
          <p:cNvPr id="24" name="Text 22"/>
          <p:cNvSpPr/>
          <p:nvPr/>
        </p:nvSpPr>
        <p:spPr>
          <a:xfrm>
            <a:off x="9637776" y="4617720"/>
            <a:ext cx="2103120" cy="457200"/>
          </a:xfrm>
          <a:prstGeom prst="rect">
            <a:avLst/>
          </a:prstGeom>
          <a:noFill/>
          <a:ln/>
        </p:spPr>
        <p:txBody>
          <a:bodyPr wrap="square" lIns="0" tIns="0" rIns="0" bIns="0" rtlCol="0" anchor="ctr"/>
          <a:lstStyle/>
          <a:p>
            <a:pPr indent="0" marL="0">
              <a:buNone/>
            </a:pPr>
            <a:r>
              <a:rPr lang="en-US" sz="2000" dirty="0">
                <a:solidFill>
                  <a:srgbClr val="F5F5F3"/>
                </a:solidFill>
                <a:latin typeface="Britti Sans, Helvetica Neue, Helvetica, Arial" pitchFamily="34" charset="0"/>
                <a:ea typeface="Britti Sans, Helvetica Neue, Helvetica, Arial" pitchFamily="34" charset="-122"/>
                <a:cs typeface="Britti Sans, Helvetica Neue, Helvetica, Arial" pitchFamily="34" charset="-120"/>
              </a:rPr>
              <a:t>Log</a:t>
            </a:r>
            <a:endParaRPr lang="en-US" sz="2000" dirty="0"/>
          </a:p>
        </p:txBody>
      </p:sp>
      <p:sp>
        <p:nvSpPr>
          <p:cNvPr id="25" name="Text 23"/>
          <p:cNvSpPr/>
          <p:nvPr/>
        </p:nvSpPr>
        <p:spPr>
          <a:xfrm>
            <a:off x="9637776" y="5166360"/>
            <a:ext cx="2103120" cy="1097280"/>
          </a:xfrm>
          <a:prstGeom prst="rect">
            <a:avLst/>
          </a:prstGeom>
          <a:noFill/>
          <a:ln/>
        </p:spPr>
        <p:txBody>
          <a:bodyPr wrap="square" lIns="0" tIns="0" rIns="0" bIns="0" rtlCol="0" anchor="t"/>
          <a:lstStyle/>
          <a:p>
            <a:pPr indent="0" marL="0">
              <a:buNone/>
            </a:pPr>
            <a:r>
              <a:rPr lang="en-US" sz="1200" dirty="0">
                <a:solidFill>
                  <a:srgbClr val="8A8A87"/>
                </a:solidFill>
                <a:latin typeface="Britti Sans, Helvetica Neue, Helvetica, Arial" pitchFamily="34" charset="0"/>
                <a:ea typeface="Britti Sans, Helvetica Neue, Helvetica, Arial" pitchFamily="34" charset="-122"/>
                <a:cs typeface="Britti Sans, Helvetica Neue, Helvetica, Arial" pitchFamily="34" charset="-120"/>
              </a:rPr>
              <a:t>Every call hashed and chained into an append-only log. Tamper-evident.</a:t>
            </a:r>
            <a:endParaRPr lang="en-US" sz="1200" dirty="0"/>
          </a:p>
        </p:txBody>
      </p:sp>
      <p:sp>
        <p:nvSpPr>
          <p:cNvPr id="26" name="Text 24"/>
          <p:cNvSpPr/>
          <p:nvPr/>
        </p:nvSpPr>
        <p:spPr>
          <a:xfrm>
            <a:off x="640080" y="6446520"/>
            <a:ext cx="1828800" cy="274320"/>
          </a:xfrm>
          <a:prstGeom prst="rect">
            <a:avLst/>
          </a:prstGeom>
          <a:noFill/>
          <a:ln/>
        </p:spPr>
        <p:txBody>
          <a:bodyPr wrap="square" lIns="0" tIns="0" rIns="0" bIns="0" rtlCol="0" anchor="ctr"/>
          <a:lstStyle/>
          <a:p>
            <a:pPr indent="0" marL="0">
              <a:buNone/>
            </a:pPr>
            <a:r>
              <a:rPr lang="en-US" sz="800" spc="800" kern="0" dirty="0">
                <a:solidFill>
                  <a:srgbClr val="555552"/>
                </a:solidFill>
                <a:latin typeface="Menlo, Consolas, Courier New" pitchFamily="34" charset="0"/>
                <a:ea typeface="Menlo, Consolas, Courier New" pitchFamily="34" charset="-122"/>
                <a:cs typeface="Menlo, Consolas, Courier New" pitchFamily="34" charset="-120"/>
              </a:rPr>
              <a:t>CALIBER</a:t>
            </a:r>
            <a:endParaRPr lang="en-US" sz="800" dirty="0"/>
          </a:p>
        </p:txBody>
      </p:sp>
      <p:sp>
        <p:nvSpPr>
          <p:cNvPr id="27" name="Text 25"/>
          <p:cNvSpPr/>
          <p:nvPr/>
        </p:nvSpPr>
        <p:spPr>
          <a:xfrm>
            <a:off x="10972800" y="6446520"/>
            <a:ext cx="914400" cy="274320"/>
          </a:xfrm>
          <a:prstGeom prst="rect">
            <a:avLst/>
          </a:prstGeom>
          <a:noFill/>
          <a:ln/>
        </p:spPr>
        <p:txBody>
          <a:bodyPr wrap="square" lIns="0" tIns="0" rIns="0" bIns="0" rtlCol="0" anchor="ctr"/>
          <a:lstStyle/>
          <a:p>
            <a:pPr algn="r" indent="0" marL="0">
              <a:buNone/>
            </a:pPr>
            <a:r>
              <a:rPr lang="en-US" sz="800" spc="400" kern="0" dirty="0">
                <a:solidFill>
                  <a:srgbClr val="555552"/>
                </a:solidFill>
                <a:latin typeface="Menlo, Consolas, Courier New" pitchFamily="34" charset="0"/>
                <a:ea typeface="Menlo, Consolas, Courier New" pitchFamily="34" charset="-122"/>
                <a:cs typeface="Menlo, Consolas, Courier New" pitchFamily="34" charset="-120"/>
              </a:rPr>
              <a:t>06 / 13</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640080" y="502920"/>
            <a:ext cx="10972800" cy="274320"/>
          </a:xfrm>
          <a:prstGeom prst="rect">
            <a:avLst/>
          </a:prstGeom>
          <a:noFill/>
          <a:ln/>
        </p:spPr>
        <p:txBody>
          <a:bodyPr wrap="square" lIns="0" tIns="0" rIns="0" bIns="0" rtlCol="0" anchor="ctr"/>
          <a:lstStyle/>
          <a:p>
            <a:pPr indent="0" marL="0">
              <a:buNone/>
            </a:pPr>
            <a:r>
              <a:rPr lang="en-US" sz="1000" spc="800" kern="0" dirty="0">
                <a:solidFill>
                  <a:srgbClr val="ED2024"/>
                </a:solidFill>
                <a:latin typeface="Menlo, Consolas, Courier New" pitchFamily="34" charset="0"/>
                <a:ea typeface="Menlo, Consolas, Courier New" pitchFamily="34" charset="-122"/>
                <a:cs typeface="Menlo, Consolas, Courier New" pitchFamily="34" charset="-120"/>
              </a:rPr>
              <a:t>06 · TRUST ARTEFACT</a:t>
            </a:r>
            <a:endParaRPr lang="en-US" sz="1000" dirty="0"/>
          </a:p>
        </p:txBody>
      </p:sp>
      <p:sp>
        <p:nvSpPr>
          <p:cNvPr id="3" name="Text 1"/>
          <p:cNvSpPr/>
          <p:nvPr/>
        </p:nvSpPr>
        <p:spPr>
          <a:xfrm>
            <a:off x="640080" y="1005840"/>
            <a:ext cx="10972800" cy="822960"/>
          </a:xfrm>
          <a:prstGeom prst="rect">
            <a:avLst/>
          </a:prstGeom>
          <a:noFill/>
          <a:ln/>
        </p:spPr>
        <p:txBody>
          <a:bodyPr wrap="square" lIns="0" tIns="0" rIns="0" bIns="0" rtlCol="0" anchor="ctr"/>
          <a:lstStyle/>
          <a:p>
            <a:pPr indent="0" marL="0">
              <a:buNone/>
            </a:pPr>
            <a:r>
              <a:rPr lang="en-US" sz="4400" dirty="0">
                <a:solidFill>
                  <a:srgbClr val="F5F5F3"/>
                </a:solidFill>
                <a:latin typeface="Britti Sans, Helvetica Neue, Helvetica, Arial" pitchFamily="34" charset="0"/>
                <a:ea typeface="Britti Sans, Helvetica Neue, Helvetica, Arial" pitchFamily="34" charset="-122"/>
                <a:cs typeface="Britti Sans, Helvetica Neue, Helvetica, Arial" pitchFamily="34" charset="-120"/>
              </a:rPr>
              <a:t>Every call hashed.</a:t>
            </a:r>
            <a:endParaRPr lang="en-US" sz="4400" dirty="0"/>
          </a:p>
        </p:txBody>
      </p:sp>
      <p:sp>
        <p:nvSpPr>
          <p:cNvPr id="4" name="Text 2"/>
          <p:cNvSpPr/>
          <p:nvPr/>
        </p:nvSpPr>
        <p:spPr>
          <a:xfrm>
            <a:off x="640080" y="1691640"/>
            <a:ext cx="10972800" cy="822960"/>
          </a:xfrm>
          <a:prstGeom prst="rect">
            <a:avLst/>
          </a:prstGeom>
          <a:noFill/>
          <a:ln/>
        </p:spPr>
        <p:txBody>
          <a:bodyPr wrap="square" lIns="0" tIns="0" rIns="0" bIns="0" rtlCol="0" anchor="ctr"/>
          <a:lstStyle/>
          <a:p>
            <a:pPr indent="0" marL="0">
              <a:buNone/>
            </a:pPr>
            <a:r>
              <a:rPr lang="en-US" sz="4400" dirty="0">
                <a:solidFill>
                  <a:srgbClr val="ED2024"/>
                </a:solidFill>
                <a:latin typeface="Britti Sans, Helvetica Neue, Helvetica, Arial" pitchFamily="34" charset="0"/>
                <a:ea typeface="Britti Sans, Helvetica Neue, Helvetica, Arial" pitchFamily="34" charset="-122"/>
                <a:cs typeface="Britti Sans, Helvetica Neue, Helvetica, Arial" pitchFamily="34" charset="-120"/>
              </a:rPr>
              <a:t>Every chain verifiable.</a:t>
            </a:r>
            <a:endParaRPr lang="en-US" sz="4400" dirty="0"/>
          </a:p>
        </p:txBody>
      </p:sp>
      <p:sp>
        <p:nvSpPr>
          <p:cNvPr id="5" name="Shape 3"/>
          <p:cNvSpPr/>
          <p:nvPr/>
        </p:nvSpPr>
        <p:spPr>
          <a:xfrm>
            <a:off x="640080" y="2788920"/>
            <a:ext cx="914400" cy="4572"/>
          </a:xfrm>
          <a:prstGeom prst="rect">
            <a:avLst/>
          </a:prstGeom>
          <a:solidFill>
            <a:srgbClr val="ED2024"/>
          </a:solidFill>
          <a:ln/>
        </p:spPr>
      </p:sp>
      <p:sp>
        <p:nvSpPr>
          <p:cNvPr id="6" name="Text 4"/>
          <p:cNvSpPr/>
          <p:nvPr/>
        </p:nvSpPr>
        <p:spPr>
          <a:xfrm>
            <a:off x="640080" y="3246120"/>
            <a:ext cx="5486400" cy="2011680"/>
          </a:xfrm>
          <a:prstGeom prst="rect">
            <a:avLst/>
          </a:prstGeom>
          <a:noFill/>
          <a:ln/>
        </p:spPr>
        <p:txBody>
          <a:bodyPr wrap="square" lIns="0" tIns="0" rIns="0" bIns="0" rtlCol="0" anchor="t"/>
          <a:lstStyle/>
          <a:p>
            <a:pPr indent="0" marL="0">
              <a:buNone/>
            </a:pPr>
            <a:r>
              <a:rPr lang="en-US" sz="1400" dirty="0">
                <a:solidFill>
                  <a:srgbClr val="8A8A87"/>
                </a:solidFill>
                <a:latin typeface="Britti Sans, Helvetica Neue, Helvetica, Arial" pitchFamily="34" charset="0"/>
                <a:ea typeface="Britti Sans, Helvetica Neue, Helvetica, Arial" pitchFamily="34" charset="-122"/>
                <a:cs typeface="Britti Sans, Helvetica Neue, Helvetica, Arial" pitchFamily="34" charset="-120"/>
              </a:rPr>
              <a:t>Each LLM call produces an entry: timestamp, tenant, user, model, tier, redaction stats, plus SHA-256 hashes of prompt and response. Each entry's chain field hashes the previous entry. Remove or modify any row → chain breaks → any auditor can prove it.</a:t>
            </a:r>
            <a:endParaRPr lang="en-US" sz="1400" dirty="0"/>
          </a:p>
        </p:txBody>
      </p:sp>
      <p:sp>
        <p:nvSpPr>
          <p:cNvPr id="7" name="Shape 5"/>
          <p:cNvSpPr/>
          <p:nvPr/>
        </p:nvSpPr>
        <p:spPr>
          <a:xfrm>
            <a:off x="685800" y="5321808"/>
            <a:ext cx="73152" cy="73152"/>
          </a:xfrm>
          <a:prstGeom prst="rect">
            <a:avLst/>
          </a:prstGeom>
          <a:solidFill>
            <a:srgbClr val="ED2024"/>
          </a:solidFill>
          <a:ln/>
        </p:spPr>
      </p:sp>
      <p:sp>
        <p:nvSpPr>
          <p:cNvPr id="8" name="Text 6"/>
          <p:cNvSpPr/>
          <p:nvPr/>
        </p:nvSpPr>
        <p:spPr>
          <a:xfrm>
            <a:off x="868680" y="5212080"/>
            <a:ext cx="5486400" cy="274320"/>
          </a:xfrm>
          <a:prstGeom prst="rect">
            <a:avLst/>
          </a:prstGeom>
          <a:noFill/>
          <a:ln/>
        </p:spPr>
        <p:txBody>
          <a:bodyPr wrap="square" lIns="0" tIns="0" rIns="0" bIns="0" rtlCol="0" anchor="ctr"/>
          <a:lstStyle/>
          <a:p>
            <a:pPr indent="0" marL="0">
              <a:buNone/>
            </a:pPr>
            <a:r>
              <a:rPr lang="en-US" sz="1200" dirty="0">
                <a:solidFill>
                  <a:srgbClr val="F5F5F3"/>
                </a:solidFill>
                <a:latin typeface="Britti Sans, Helvetica Neue, Helvetica, Arial" pitchFamily="34" charset="0"/>
                <a:ea typeface="Britti Sans, Helvetica Neue, Helvetica, Arial" pitchFamily="34" charset="-122"/>
                <a:cs typeface="Britti Sans, Helvetica Neue, Helvetica, Arial" pitchFamily="34" charset="-120"/>
              </a:rPr>
              <a:t>Exportable to your SIEM in one click</a:t>
            </a:r>
            <a:endParaRPr lang="en-US" sz="1200" dirty="0"/>
          </a:p>
        </p:txBody>
      </p:sp>
      <p:sp>
        <p:nvSpPr>
          <p:cNvPr id="9" name="Shape 7"/>
          <p:cNvSpPr/>
          <p:nvPr/>
        </p:nvSpPr>
        <p:spPr>
          <a:xfrm>
            <a:off x="685800" y="5641848"/>
            <a:ext cx="73152" cy="73152"/>
          </a:xfrm>
          <a:prstGeom prst="rect">
            <a:avLst/>
          </a:prstGeom>
          <a:solidFill>
            <a:srgbClr val="ED2024"/>
          </a:solidFill>
          <a:ln/>
        </p:spPr>
      </p:sp>
      <p:sp>
        <p:nvSpPr>
          <p:cNvPr id="10" name="Text 8"/>
          <p:cNvSpPr/>
          <p:nvPr/>
        </p:nvSpPr>
        <p:spPr>
          <a:xfrm>
            <a:off x="868680" y="5532120"/>
            <a:ext cx="5486400" cy="274320"/>
          </a:xfrm>
          <a:prstGeom prst="rect">
            <a:avLst/>
          </a:prstGeom>
          <a:noFill/>
          <a:ln/>
        </p:spPr>
        <p:txBody>
          <a:bodyPr wrap="square" lIns="0" tIns="0" rIns="0" bIns="0" rtlCol="0" anchor="ctr"/>
          <a:lstStyle/>
          <a:p>
            <a:pPr indent="0" marL="0">
              <a:buNone/>
            </a:pPr>
            <a:r>
              <a:rPr lang="en-US" sz="1200" dirty="0">
                <a:solidFill>
                  <a:srgbClr val="F5F5F3"/>
                </a:solidFill>
                <a:latin typeface="Britti Sans, Helvetica Neue, Helvetica, Arial" pitchFamily="34" charset="0"/>
                <a:ea typeface="Britti Sans, Helvetica Neue, Helvetica, Arial" pitchFamily="34" charset="-122"/>
                <a:cs typeface="Britti Sans, Helvetica Neue, Helvetica, Arial" pitchFamily="34" charset="-120"/>
              </a:rPr>
              <a:t>Tamper-evident · any modification breaks the chain</a:t>
            </a:r>
            <a:endParaRPr lang="en-US" sz="1200" dirty="0"/>
          </a:p>
        </p:txBody>
      </p:sp>
      <p:sp>
        <p:nvSpPr>
          <p:cNvPr id="11" name="Shape 9"/>
          <p:cNvSpPr/>
          <p:nvPr/>
        </p:nvSpPr>
        <p:spPr>
          <a:xfrm>
            <a:off x="685800" y="5961888"/>
            <a:ext cx="73152" cy="73152"/>
          </a:xfrm>
          <a:prstGeom prst="rect">
            <a:avLst/>
          </a:prstGeom>
          <a:solidFill>
            <a:srgbClr val="ED2024"/>
          </a:solidFill>
          <a:ln/>
        </p:spPr>
      </p:sp>
      <p:sp>
        <p:nvSpPr>
          <p:cNvPr id="12" name="Text 10"/>
          <p:cNvSpPr/>
          <p:nvPr/>
        </p:nvSpPr>
        <p:spPr>
          <a:xfrm>
            <a:off x="868680" y="5852160"/>
            <a:ext cx="5486400" cy="274320"/>
          </a:xfrm>
          <a:prstGeom prst="rect">
            <a:avLst/>
          </a:prstGeom>
          <a:noFill/>
          <a:ln/>
        </p:spPr>
        <p:txBody>
          <a:bodyPr wrap="square" lIns="0" tIns="0" rIns="0" bIns="0" rtlCol="0" anchor="ctr"/>
          <a:lstStyle/>
          <a:p>
            <a:pPr indent="0" marL="0">
              <a:buNone/>
            </a:pPr>
            <a:r>
              <a:rPr lang="en-US" sz="1200" dirty="0">
                <a:solidFill>
                  <a:srgbClr val="F5F5F3"/>
                </a:solidFill>
                <a:latin typeface="Britti Sans, Helvetica Neue, Helvetica, Arial" pitchFamily="34" charset="0"/>
                <a:ea typeface="Britti Sans, Helvetica Neue, Helvetica, Arial" pitchFamily="34" charset="-122"/>
                <a:cs typeface="Britti Sans, Helvetica Neue, Helvetica, Arial" pitchFamily="34" charset="-120"/>
              </a:rPr>
              <a:t>Per-tenant scoped · never mixed across customers</a:t>
            </a:r>
            <a:endParaRPr lang="en-US" sz="1200" dirty="0"/>
          </a:p>
        </p:txBody>
      </p:sp>
      <p:sp>
        <p:nvSpPr>
          <p:cNvPr id="13" name="Shape 11"/>
          <p:cNvSpPr/>
          <p:nvPr/>
        </p:nvSpPr>
        <p:spPr>
          <a:xfrm>
            <a:off x="685800" y="6281928"/>
            <a:ext cx="73152" cy="73152"/>
          </a:xfrm>
          <a:prstGeom prst="rect">
            <a:avLst/>
          </a:prstGeom>
          <a:solidFill>
            <a:srgbClr val="ED2024"/>
          </a:solidFill>
          <a:ln/>
        </p:spPr>
      </p:sp>
      <p:sp>
        <p:nvSpPr>
          <p:cNvPr id="14" name="Text 12"/>
          <p:cNvSpPr/>
          <p:nvPr/>
        </p:nvSpPr>
        <p:spPr>
          <a:xfrm>
            <a:off x="868680" y="6172200"/>
            <a:ext cx="5486400" cy="274320"/>
          </a:xfrm>
          <a:prstGeom prst="rect">
            <a:avLst/>
          </a:prstGeom>
          <a:noFill/>
          <a:ln/>
        </p:spPr>
        <p:txBody>
          <a:bodyPr wrap="square" lIns="0" tIns="0" rIns="0" bIns="0" rtlCol="0" anchor="ctr"/>
          <a:lstStyle/>
          <a:p>
            <a:pPr indent="0" marL="0">
              <a:buNone/>
            </a:pPr>
            <a:r>
              <a:rPr lang="en-US" sz="1200" dirty="0">
                <a:solidFill>
                  <a:srgbClr val="F5F5F3"/>
                </a:solidFill>
                <a:latin typeface="Britti Sans, Helvetica Neue, Helvetica, Arial" pitchFamily="34" charset="0"/>
                <a:ea typeface="Britti Sans, Helvetica Neue, Helvetica, Arial" pitchFamily="34" charset="-122"/>
                <a:cs typeface="Britti Sans, Helvetica Neue, Helvetica, Arial" pitchFamily="34" charset="-120"/>
              </a:rPr>
              <a:t>Auditor-verifiable in under 60 seconds</a:t>
            </a:r>
            <a:endParaRPr lang="en-US" sz="1200" dirty="0"/>
          </a:p>
        </p:txBody>
      </p:sp>
      <p:sp>
        <p:nvSpPr>
          <p:cNvPr id="15" name="Shape 13"/>
          <p:cNvSpPr/>
          <p:nvPr/>
        </p:nvSpPr>
        <p:spPr>
          <a:xfrm>
            <a:off x="6583680" y="3246120"/>
            <a:ext cx="5029200" cy="3108960"/>
          </a:xfrm>
          <a:prstGeom prst="rect">
            <a:avLst/>
          </a:prstGeom>
          <a:solidFill>
            <a:srgbClr val="0A0A0A"/>
          </a:solidFill>
          <a:ln w="6350">
            <a:solidFill>
              <a:srgbClr val="1F1F1F"/>
            </a:solidFill>
            <a:prstDash val="solid"/>
          </a:ln>
        </p:spPr>
      </p:sp>
      <p:sp>
        <p:nvSpPr>
          <p:cNvPr id="16" name="Text 14"/>
          <p:cNvSpPr/>
          <p:nvPr/>
        </p:nvSpPr>
        <p:spPr>
          <a:xfrm>
            <a:off x="6949440" y="3520440"/>
            <a:ext cx="3657600" cy="274320"/>
          </a:xfrm>
          <a:prstGeom prst="rect">
            <a:avLst/>
          </a:prstGeom>
          <a:noFill/>
          <a:ln/>
        </p:spPr>
        <p:txBody>
          <a:bodyPr wrap="square" lIns="0" tIns="0" rIns="0" bIns="0" rtlCol="0" anchor="ctr"/>
          <a:lstStyle/>
          <a:p>
            <a:pPr indent="0" marL="0">
              <a:buNone/>
            </a:pPr>
            <a:r>
              <a:rPr lang="en-US" sz="900" spc="800" kern="0" dirty="0">
                <a:solidFill>
                  <a:srgbClr val="ED2024"/>
                </a:solidFill>
                <a:latin typeface="Menlo, Consolas, Courier New" pitchFamily="34" charset="0"/>
                <a:ea typeface="Menlo, Consolas, Courier New" pitchFamily="34" charset="-122"/>
                <a:cs typeface="Menlo, Consolas, Courier New" pitchFamily="34" charset="-120"/>
              </a:rPr>
              <a:t>AUDIT LOG · LIVE</a:t>
            </a:r>
            <a:endParaRPr lang="en-US" sz="900" dirty="0"/>
          </a:p>
        </p:txBody>
      </p:sp>
      <p:sp>
        <p:nvSpPr>
          <p:cNvPr id="17" name="Text 15"/>
          <p:cNvSpPr/>
          <p:nvPr/>
        </p:nvSpPr>
        <p:spPr>
          <a:xfrm>
            <a:off x="6949440" y="4023360"/>
            <a:ext cx="4480560" cy="274320"/>
          </a:xfrm>
          <a:prstGeom prst="rect">
            <a:avLst/>
          </a:prstGeom>
          <a:noFill/>
          <a:ln/>
        </p:spPr>
        <p:txBody>
          <a:bodyPr wrap="square" lIns="0" tIns="0" rIns="0" bIns="0" rtlCol="0" anchor="ctr"/>
          <a:lstStyle/>
          <a:p>
            <a:pPr indent="0" marL="0">
              <a:buNone/>
            </a:pPr>
            <a:r>
              <a:rPr lang="en-US" sz="800" spc="100" kern="0" dirty="0">
                <a:solidFill>
                  <a:srgbClr val="555552"/>
                </a:solidFill>
                <a:latin typeface="Menlo, Consolas, Courier New" pitchFamily="34" charset="0"/>
                <a:ea typeface="Menlo, Consolas, Courier New" pitchFamily="34" charset="-122"/>
                <a:cs typeface="Menlo, Consolas, Courier New" pitchFamily="34" charset="-120"/>
              </a:rPr>
              <a:t>TIME       USER     TIER         REDACTION          HASH</a:t>
            </a:r>
            <a:endParaRPr lang="en-US" sz="800" dirty="0"/>
          </a:p>
        </p:txBody>
      </p:sp>
      <p:sp>
        <p:nvSpPr>
          <p:cNvPr id="18" name="Shape 16"/>
          <p:cNvSpPr/>
          <p:nvPr/>
        </p:nvSpPr>
        <p:spPr>
          <a:xfrm>
            <a:off x="6949440" y="4297680"/>
            <a:ext cx="4297680" cy="4572"/>
          </a:xfrm>
          <a:prstGeom prst="rect">
            <a:avLst/>
          </a:prstGeom>
          <a:solidFill>
            <a:srgbClr val="1F1F1F"/>
          </a:solidFill>
          <a:ln/>
        </p:spPr>
      </p:sp>
      <p:sp>
        <p:nvSpPr>
          <p:cNvPr id="19" name="Text 17"/>
          <p:cNvSpPr/>
          <p:nvPr/>
        </p:nvSpPr>
        <p:spPr>
          <a:xfrm>
            <a:off x="6949440" y="4434840"/>
            <a:ext cx="640080" cy="320040"/>
          </a:xfrm>
          <a:prstGeom prst="rect">
            <a:avLst/>
          </a:prstGeom>
          <a:noFill/>
          <a:ln/>
        </p:spPr>
        <p:txBody>
          <a:bodyPr wrap="square" lIns="0" tIns="0" rIns="0" bIns="0" rtlCol="0" anchor="ctr"/>
          <a:lstStyle/>
          <a:p>
            <a:pPr indent="0" marL="0">
              <a:buNone/>
            </a:pPr>
            <a:r>
              <a:rPr lang="en-US" sz="1000" dirty="0">
                <a:solidFill>
                  <a:srgbClr val="8A8A87"/>
                </a:solidFill>
                <a:latin typeface="Menlo, Consolas, Courier New" pitchFamily="34" charset="0"/>
                <a:ea typeface="Menlo, Consolas, Courier New" pitchFamily="34" charset="-122"/>
                <a:cs typeface="Menlo, Consolas, Courier New" pitchFamily="34" charset="-120"/>
              </a:rPr>
              <a:t>14:32</a:t>
            </a:r>
            <a:endParaRPr lang="en-US" sz="1000" dirty="0"/>
          </a:p>
        </p:txBody>
      </p:sp>
      <p:sp>
        <p:nvSpPr>
          <p:cNvPr id="20" name="Text 18"/>
          <p:cNvSpPr/>
          <p:nvPr/>
        </p:nvSpPr>
        <p:spPr>
          <a:xfrm>
            <a:off x="7680960" y="4434840"/>
            <a:ext cx="640080" cy="320040"/>
          </a:xfrm>
          <a:prstGeom prst="rect">
            <a:avLst/>
          </a:prstGeom>
          <a:noFill/>
          <a:ln/>
        </p:spPr>
        <p:txBody>
          <a:bodyPr wrap="square" lIns="0" tIns="0" rIns="0" bIns="0" rtlCol="0" anchor="ctr"/>
          <a:lstStyle/>
          <a:p>
            <a:pPr indent="0" marL="0">
              <a:buNone/>
            </a:pPr>
            <a:r>
              <a:rPr lang="en-US" sz="1000" dirty="0">
                <a:solidFill>
                  <a:srgbClr val="F5F5F3"/>
                </a:solidFill>
                <a:latin typeface="Menlo, Consolas, Courier New" pitchFamily="34" charset="0"/>
                <a:ea typeface="Menlo, Consolas, Courier New" pitchFamily="34" charset="-122"/>
                <a:cs typeface="Menlo, Consolas, Courier New" pitchFamily="34" charset="-120"/>
              </a:rPr>
              <a:t>sue</a:t>
            </a:r>
            <a:endParaRPr lang="en-US" sz="1000" dirty="0"/>
          </a:p>
        </p:txBody>
      </p:sp>
      <p:sp>
        <p:nvSpPr>
          <p:cNvPr id="21" name="Text 19"/>
          <p:cNvSpPr/>
          <p:nvPr/>
        </p:nvSpPr>
        <p:spPr>
          <a:xfrm>
            <a:off x="8412480" y="4434840"/>
            <a:ext cx="1097280" cy="320040"/>
          </a:xfrm>
          <a:prstGeom prst="rect">
            <a:avLst/>
          </a:prstGeom>
          <a:noFill/>
          <a:ln/>
        </p:spPr>
        <p:txBody>
          <a:bodyPr wrap="square" lIns="0" tIns="0" rIns="0" bIns="0" rtlCol="0" anchor="ctr"/>
          <a:lstStyle/>
          <a:p>
            <a:pPr indent="0" marL="0">
              <a:buNone/>
            </a:pPr>
            <a:r>
              <a:rPr lang="en-US" sz="1000" dirty="0">
                <a:solidFill>
                  <a:srgbClr val="ED2024"/>
                </a:solidFill>
                <a:latin typeface="Menlo, Consolas, Courier New" pitchFamily="34" charset="0"/>
                <a:ea typeface="Menlo, Consolas, Courier New" pitchFamily="34" charset="-122"/>
                <a:cs typeface="Menlo, Consolas, Courier New" pitchFamily="34" charset="-120"/>
              </a:rPr>
              <a:t>private</a:t>
            </a:r>
            <a:endParaRPr lang="en-US" sz="1000" dirty="0"/>
          </a:p>
        </p:txBody>
      </p:sp>
      <p:sp>
        <p:nvSpPr>
          <p:cNvPr id="22" name="Text 20"/>
          <p:cNvSpPr/>
          <p:nvPr/>
        </p:nvSpPr>
        <p:spPr>
          <a:xfrm>
            <a:off x="9326880" y="4434840"/>
            <a:ext cx="1371600" cy="320040"/>
          </a:xfrm>
          <a:prstGeom prst="rect">
            <a:avLst/>
          </a:prstGeom>
          <a:noFill/>
          <a:ln/>
        </p:spPr>
        <p:txBody>
          <a:bodyPr wrap="square" lIns="0" tIns="0" rIns="0" bIns="0" rtlCol="0" anchor="ctr"/>
          <a:lstStyle/>
          <a:p>
            <a:pPr indent="0" marL="0">
              <a:buNone/>
            </a:pPr>
            <a:r>
              <a:rPr lang="en-US" sz="900" dirty="0">
                <a:solidFill>
                  <a:srgbClr val="ED2024"/>
                </a:solidFill>
                <a:latin typeface="Menlo, Consolas, Courier New" pitchFamily="34" charset="0"/>
                <a:ea typeface="Menlo, Consolas, Courier New" pitchFamily="34" charset="-122"/>
                <a:cs typeface="Menlo, Consolas, Courier New" pitchFamily="34" charset="-120"/>
              </a:rPr>
              <a:t>vendor·2 amount·1</a:t>
            </a:r>
            <a:endParaRPr lang="en-US" sz="900" dirty="0"/>
          </a:p>
        </p:txBody>
      </p:sp>
      <p:sp>
        <p:nvSpPr>
          <p:cNvPr id="23" name="Text 21"/>
          <p:cNvSpPr/>
          <p:nvPr/>
        </p:nvSpPr>
        <p:spPr>
          <a:xfrm>
            <a:off x="10698480" y="4434840"/>
            <a:ext cx="731520" cy="320040"/>
          </a:xfrm>
          <a:prstGeom prst="rect">
            <a:avLst/>
          </a:prstGeom>
          <a:noFill/>
          <a:ln/>
        </p:spPr>
        <p:txBody>
          <a:bodyPr wrap="square" lIns="0" tIns="0" rIns="0" bIns="0" rtlCol="0" anchor="ctr"/>
          <a:lstStyle/>
          <a:p>
            <a:pPr algn="r" indent="0" marL="0">
              <a:buNone/>
            </a:pPr>
            <a:r>
              <a:rPr lang="en-US" sz="900" dirty="0">
                <a:solidFill>
                  <a:srgbClr val="555552"/>
                </a:solidFill>
                <a:latin typeface="Menlo, Consolas, Courier New" pitchFamily="34" charset="0"/>
                <a:ea typeface="Menlo, Consolas, Courier New" pitchFamily="34" charset="-122"/>
                <a:cs typeface="Menlo, Consolas, Courier New" pitchFamily="34" charset="-120"/>
              </a:rPr>
              <a:t>a87ca8…</a:t>
            </a:r>
            <a:endParaRPr lang="en-US" sz="900" dirty="0"/>
          </a:p>
        </p:txBody>
      </p:sp>
      <p:sp>
        <p:nvSpPr>
          <p:cNvPr id="24" name="Shape 22"/>
          <p:cNvSpPr/>
          <p:nvPr/>
        </p:nvSpPr>
        <p:spPr>
          <a:xfrm>
            <a:off x="6949440" y="4800600"/>
            <a:ext cx="4297680" cy="4572"/>
          </a:xfrm>
          <a:prstGeom prst="rect">
            <a:avLst/>
          </a:prstGeom>
          <a:solidFill>
            <a:srgbClr val="1F1F1F"/>
          </a:solidFill>
          <a:ln/>
        </p:spPr>
      </p:sp>
      <p:sp>
        <p:nvSpPr>
          <p:cNvPr id="25" name="Text 23"/>
          <p:cNvSpPr/>
          <p:nvPr/>
        </p:nvSpPr>
        <p:spPr>
          <a:xfrm>
            <a:off x="6949440" y="4818888"/>
            <a:ext cx="640080" cy="320040"/>
          </a:xfrm>
          <a:prstGeom prst="rect">
            <a:avLst/>
          </a:prstGeom>
          <a:noFill/>
          <a:ln/>
        </p:spPr>
        <p:txBody>
          <a:bodyPr wrap="square" lIns="0" tIns="0" rIns="0" bIns="0" rtlCol="0" anchor="ctr"/>
          <a:lstStyle/>
          <a:p>
            <a:pPr indent="0" marL="0">
              <a:buNone/>
            </a:pPr>
            <a:r>
              <a:rPr lang="en-US" sz="1000" dirty="0">
                <a:solidFill>
                  <a:srgbClr val="8A8A87"/>
                </a:solidFill>
                <a:latin typeface="Menlo, Consolas, Courier New" pitchFamily="34" charset="0"/>
                <a:ea typeface="Menlo, Consolas, Courier New" pitchFamily="34" charset="-122"/>
                <a:cs typeface="Menlo, Consolas, Courier New" pitchFamily="34" charset="-120"/>
              </a:rPr>
              <a:t>14:31</a:t>
            </a:r>
            <a:endParaRPr lang="en-US" sz="1000" dirty="0"/>
          </a:p>
        </p:txBody>
      </p:sp>
      <p:sp>
        <p:nvSpPr>
          <p:cNvPr id="26" name="Text 24"/>
          <p:cNvSpPr/>
          <p:nvPr/>
        </p:nvSpPr>
        <p:spPr>
          <a:xfrm>
            <a:off x="7680960" y="4818888"/>
            <a:ext cx="640080" cy="320040"/>
          </a:xfrm>
          <a:prstGeom prst="rect">
            <a:avLst/>
          </a:prstGeom>
          <a:noFill/>
          <a:ln/>
        </p:spPr>
        <p:txBody>
          <a:bodyPr wrap="square" lIns="0" tIns="0" rIns="0" bIns="0" rtlCol="0" anchor="ctr"/>
          <a:lstStyle/>
          <a:p>
            <a:pPr indent="0" marL="0">
              <a:buNone/>
            </a:pPr>
            <a:r>
              <a:rPr lang="en-US" sz="1000" dirty="0">
                <a:solidFill>
                  <a:srgbClr val="F5F5F3"/>
                </a:solidFill>
                <a:latin typeface="Menlo, Consolas, Courier New" pitchFamily="34" charset="0"/>
                <a:ea typeface="Menlo, Consolas, Courier New" pitchFamily="34" charset="-122"/>
                <a:cs typeface="Menlo, Consolas, Courier New" pitchFamily="34" charset="-120"/>
              </a:rPr>
              <a:t>ryan</a:t>
            </a:r>
            <a:endParaRPr lang="en-US" sz="1000" dirty="0"/>
          </a:p>
        </p:txBody>
      </p:sp>
      <p:sp>
        <p:nvSpPr>
          <p:cNvPr id="27" name="Text 25"/>
          <p:cNvSpPr/>
          <p:nvPr/>
        </p:nvSpPr>
        <p:spPr>
          <a:xfrm>
            <a:off x="8412480" y="4818888"/>
            <a:ext cx="1097280" cy="320040"/>
          </a:xfrm>
          <a:prstGeom prst="rect">
            <a:avLst/>
          </a:prstGeom>
          <a:noFill/>
          <a:ln/>
        </p:spPr>
        <p:txBody>
          <a:bodyPr wrap="square" lIns="0" tIns="0" rIns="0" bIns="0" rtlCol="0" anchor="ctr"/>
          <a:lstStyle/>
          <a:p>
            <a:pPr indent="0" marL="0">
              <a:buNone/>
            </a:pPr>
            <a:r>
              <a:rPr lang="en-US" sz="1000" dirty="0">
                <a:solidFill>
                  <a:srgbClr val="5AA9FF"/>
                </a:solidFill>
                <a:latin typeface="Menlo, Consolas, Courier New" pitchFamily="34" charset="0"/>
                <a:ea typeface="Menlo, Consolas, Courier New" pitchFamily="34" charset="-122"/>
                <a:cs typeface="Menlo, Consolas, Courier New" pitchFamily="34" charset="-120"/>
              </a:rPr>
              <a:t>sealed</a:t>
            </a:r>
            <a:endParaRPr lang="en-US" sz="1000" dirty="0"/>
          </a:p>
        </p:txBody>
      </p:sp>
      <p:sp>
        <p:nvSpPr>
          <p:cNvPr id="28" name="Text 26"/>
          <p:cNvSpPr/>
          <p:nvPr/>
        </p:nvSpPr>
        <p:spPr>
          <a:xfrm>
            <a:off x="9326880" y="4818888"/>
            <a:ext cx="1371600" cy="320040"/>
          </a:xfrm>
          <a:prstGeom prst="rect">
            <a:avLst/>
          </a:prstGeom>
          <a:noFill/>
          <a:ln/>
        </p:spPr>
        <p:txBody>
          <a:bodyPr wrap="square" lIns="0" tIns="0" rIns="0" bIns="0" rtlCol="0" anchor="ctr"/>
          <a:lstStyle/>
          <a:p>
            <a:pPr indent="0" marL="0">
              <a:buNone/>
            </a:pPr>
            <a:r>
              <a:rPr lang="en-US" sz="900" dirty="0">
                <a:solidFill>
                  <a:srgbClr val="ED2024"/>
                </a:solidFill>
                <a:latin typeface="Menlo, Consolas, Courier New" pitchFamily="34" charset="0"/>
                <a:ea typeface="Menlo, Consolas, Courier New" pitchFamily="34" charset="-122"/>
                <a:cs typeface="Menlo, Consolas, Courier New" pitchFamily="34" charset="-120"/>
              </a:rPr>
              <a:t>swiss_acct·1 iban·1</a:t>
            </a:r>
            <a:endParaRPr lang="en-US" sz="900" dirty="0"/>
          </a:p>
        </p:txBody>
      </p:sp>
      <p:sp>
        <p:nvSpPr>
          <p:cNvPr id="29" name="Text 27"/>
          <p:cNvSpPr/>
          <p:nvPr/>
        </p:nvSpPr>
        <p:spPr>
          <a:xfrm>
            <a:off x="10698480" y="4818888"/>
            <a:ext cx="731520" cy="320040"/>
          </a:xfrm>
          <a:prstGeom prst="rect">
            <a:avLst/>
          </a:prstGeom>
          <a:noFill/>
          <a:ln/>
        </p:spPr>
        <p:txBody>
          <a:bodyPr wrap="square" lIns="0" tIns="0" rIns="0" bIns="0" rtlCol="0" anchor="ctr"/>
          <a:lstStyle/>
          <a:p>
            <a:pPr algn="r" indent="0" marL="0">
              <a:buNone/>
            </a:pPr>
            <a:r>
              <a:rPr lang="en-US" sz="900" dirty="0">
                <a:solidFill>
                  <a:srgbClr val="555552"/>
                </a:solidFill>
                <a:latin typeface="Menlo, Consolas, Courier New" pitchFamily="34" charset="0"/>
                <a:ea typeface="Menlo, Consolas, Courier New" pitchFamily="34" charset="-122"/>
                <a:cs typeface="Menlo, Consolas, Courier New" pitchFamily="34" charset="-120"/>
              </a:rPr>
              <a:t>ecc197…</a:t>
            </a:r>
            <a:endParaRPr lang="en-US" sz="900" dirty="0"/>
          </a:p>
        </p:txBody>
      </p:sp>
      <p:sp>
        <p:nvSpPr>
          <p:cNvPr id="30" name="Shape 28"/>
          <p:cNvSpPr/>
          <p:nvPr/>
        </p:nvSpPr>
        <p:spPr>
          <a:xfrm>
            <a:off x="6949440" y="5184648"/>
            <a:ext cx="4297680" cy="4572"/>
          </a:xfrm>
          <a:prstGeom prst="rect">
            <a:avLst/>
          </a:prstGeom>
          <a:solidFill>
            <a:srgbClr val="1F1F1F"/>
          </a:solidFill>
          <a:ln/>
        </p:spPr>
      </p:sp>
      <p:sp>
        <p:nvSpPr>
          <p:cNvPr id="31" name="Text 29"/>
          <p:cNvSpPr/>
          <p:nvPr/>
        </p:nvSpPr>
        <p:spPr>
          <a:xfrm>
            <a:off x="6949440" y="5202936"/>
            <a:ext cx="640080" cy="320040"/>
          </a:xfrm>
          <a:prstGeom prst="rect">
            <a:avLst/>
          </a:prstGeom>
          <a:noFill/>
          <a:ln/>
        </p:spPr>
        <p:txBody>
          <a:bodyPr wrap="square" lIns="0" tIns="0" rIns="0" bIns="0" rtlCol="0" anchor="ctr"/>
          <a:lstStyle/>
          <a:p>
            <a:pPr indent="0" marL="0">
              <a:buNone/>
            </a:pPr>
            <a:r>
              <a:rPr lang="en-US" sz="1000" dirty="0">
                <a:solidFill>
                  <a:srgbClr val="8A8A87"/>
                </a:solidFill>
                <a:latin typeface="Menlo, Consolas, Courier New" pitchFamily="34" charset="0"/>
                <a:ea typeface="Menlo, Consolas, Courier New" pitchFamily="34" charset="-122"/>
                <a:cs typeface="Menlo, Consolas, Courier New" pitchFamily="34" charset="-120"/>
              </a:rPr>
              <a:t>14:30</a:t>
            </a:r>
            <a:endParaRPr lang="en-US" sz="1000" dirty="0"/>
          </a:p>
        </p:txBody>
      </p:sp>
      <p:sp>
        <p:nvSpPr>
          <p:cNvPr id="32" name="Text 30"/>
          <p:cNvSpPr/>
          <p:nvPr/>
        </p:nvSpPr>
        <p:spPr>
          <a:xfrm>
            <a:off x="7680960" y="5202936"/>
            <a:ext cx="640080" cy="320040"/>
          </a:xfrm>
          <a:prstGeom prst="rect">
            <a:avLst/>
          </a:prstGeom>
          <a:noFill/>
          <a:ln/>
        </p:spPr>
        <p:txBody>
          <a:bodyPr wrap="square" lIns="0" tIns="0" rIns="0" bIns="0" rtlCol="0" anchor="ctr"/>
          <a:lstStyle/>
          <a:p>
            <a:pPr indent="0" marL="0">
              <a:buNone/>
            </a:pPr>
            <a:r>
              <a:rPr lang="en-US" sz="1000" dirty="0">
                <a:solidFill>
                  <a:srgbClr val="F5F5F3"/>
                </a:solidFill>
                <a:latin typeface="Menlo, Consolas, Courier New" pitchFamily="34" charset="0"/>
                <a:ea typeface="Menlo, Consolas, Courier New" pitchFamily="34" charset="-122"/>
                <a:cs typeface="Menlo, Consolas, Courier New" pitchFamily="34" charset="-120"/>
              </a:rPr>
              <a:t>sue</a:t>
            </a:r>
            <a:endParaRPr lang="en-US" sz="1000" dirty="0"/>
          </a:p>
        </p:txBody>
      </p:sp>
      <p:sp>
        <p:nvSpPr>
          <p:cNvPr id="33" name="Text 31"/>
          <p:cNvSpPr/>
          <p:nvPr/>
        </p:nvSpPr>
        <p:spPr>
          <a:xfrm>
            <a:off x="8412480" y="5202936"/>
            <a:ext cx="1097280" cy="320040"/>
          </a:xfrm>
          <a:prstGeom prst="rect">
            <a:avLst/>
          </a:prstGeom>
          <a:noFill/>
          <a:ln/>
        </p:spPr>
        <p:txBody>
          <a:bodyPr wrap="square" lIns="0" tIns="0" rIns="0" bIns="0" rtlCol="0" anchor="ctr"/>
          <a:lstStyle/>
          <a:p>
            <a:pPr indent="0" marL="0">
              <a:buNone/>
            </a:pPr>
            <a:r>
              <a:rPr lang="en-US" sz="1000" dirty="0">
                <a:solidFill>
                  <a:srgbClr val="3ECF8E"/>
                </a:solidFill>
                <a:latin typeface="Menlo, Consolas, Courier New" pitchFamily="34" charset="0"/>
                <a:ea typeface="Menlo, Consolas, Courier New" pitchFamily="34" charset="-122"/>
                <a:cs typeface="Menlo, Consolas, Courier New" pitchFamily="34" charset="-120"/>
              </a:rPr>
              <a:t>public</a:t>
            </a:r>
            <a:endParaRPr lang="en-US" sz="1000" dirty="0"/>
          </a:p>
        </p:txBody>
      </p:sp>
      <p:sp>
        <p:nvSpPr>
          <p:cNvPr id="34" name="Text 32"/>
          <p:cNvSpPr/>
          <p:nvPr/>
        </p:nvSpPr>
        <p:spPr>
          <a:xfrm>
            <a:off x="9326880" y="5202936"/>
            <a:ext cx="1371600" cy="320040"/>
          </a:xfrm>
          <a:prstGeom prst="rect">
            <a:avLst/>
          </a:prstGeom>
          <a:noFill/>
          <a:ln/>
        </p:spPr>
        <p:txBody>
          <a:bodyPr wrap="square" lIns="0" tIns="0" rIns="0" bIns="0" rtlCol="0" anchor="ctr"/>
          <a:lstStyle/>
          <a:p>
            <a:pPr indent="0" marL="0">
              <a:buNone/>
            </a:pPr>
            <a:r>
              <a:rPr lang="en-US" sz="900" dirty="0">
                <a:solidFill>
                  <a:srgbClr val="ED2024"/>
                </a:solidFill>
                <a:latin typeface="Menlo, Consolas, Courier New" pitchFamily="34" charset="0"/>
                <a:ea typeface="Menlo, Consolas, Courier New" pitchFamily="34" charset="-122"/>
                <a:cs typeface="Menlo, Consolas, Courier New" pitchFamily="34" charset="-120"/>
              </a:rPr>
              <a:t>—</a:t>
            </a:r>
            <a:endParaRPr lang="en-US" sz="900" dirty="0"/>
          </a:p>
        </p:txBody>
      </p:sp>
      <p:sp>
        <p:nvSpPr>
          <p:cNvPr id="35" name="Text 33"/>
          <p:cNvSpPr/>
          <p:nvPr/>
        </p:nvSpPr>
        <p:spPr>
          <a:xfrm>
            <a:off x="10698480" y="5202936"/>
            <a:ext cx="731520" cy="320040"/>
          </a:xfrm>
          <a:prstGeom prst="rect">
            <a:avLst/>
          </a:prstGeom>
          <a:noFill/>
          <a:ln/>
        </p:spPr>
        <p:txBody>
          <a:bodyPr wrap="square" lIns="0" tIns="0" rIns="0" bIns="0" rtlCol="0" anchor="ctr"/>
          <a:lstStyle/>
          <a:p>
            <a:pPr algn="r" indent="0" marL="0">
              <a:buNone/>
            </a:pPr>
            <a:r>
              <a:rPr lang="en-US" sz="900" dirty="0">
                <a:solidFill>
                  <a:srgbClr val="555552"/>
                </a:solidFill>
                <a:latin typeface="Menlo, Consolas, Courier New" pitchFamily="34" charset="0"/>
                <a:ea typeface="Menlo, Consolas, Courier New" pitchFamily="34" charset="-122"/>
                <a:cs typeface="Menlo, Consolas, Courier New" pitchFamily="34" charset="-120"/>
              </a:rPr>
              <a:t>ff5ecc…</a:t>
            </a:r>
            <a:endParaRPr lang="en-US" sz="900" dirty="0"/>
          </a:p>
        </p:txBody>
      </p:sp>
      <p:sp>
        <p:nvSpPr>
          <p:cNvPr id="36" name="Shape 34"/>
          <p:cNvSpPr/>
          <p:nvPr/>
        </p:nvSpPr>
        <p:spPr>
          <a:xfrm>
            <a:off x="6949440" y="5568696"/>
            <a:ext cx="4297680" cy="4572"/>
          </a:xfrm>
          <a:prstGeom prst="rect">
            <a:avLst/>
          </a:prstGeom>
          <a:solidFill>
            <a:srgbClr val="1F1F1F"/>
          </a:solidFill>
          <a:ln/>
        </p:spPr>
      </p:sp>
      <p:sp>
        <p:nvSpPr>
          <p:cNvPr id="37" name="Text 35"/>
          <p:cNvSpPr/>
          <p:nvPr/>
        </p:nvSpPr>
        <p:spPr>
          <a:xfrm>
            <a:off x="6949440" y="5586984"/>
            <a:ext cx="640080" cy="320040"/>
          </a:xfrm>
          <a:prstGeom prst="rect">
            <a:avLst/>
          </a:prstGeom>
          <a:noFill/>
          <a:ln/>
        </p:spPr>
        <p:txBody>
          <a:bodyPr wrap="square" lIns="0" tIns="0" rIns="0" bIns="0" rtlCol="0" anchor="ctr"/>
          <a:lstStyle/>
          <a:p>
            <a:pPr indent="0" marL="0">
              <a:buNone/>
            </a:pPr>
            <a:r>
              <a:rPr lang="en-US" sz="1000" dirty="0">
                <a:solidFill>
                  <a:srgbClr val="8A8A87"/>
                </a:solidFill>
                <a:latin typeface="Menlo, Consolas, Courier New" pitchFamily="34" charset="0"/>
                <a:ea typeface="Menlo, Consolas, Courier New" pitchFamily="34" charset="-122"/>
                <a:cs typeface="Menlo, Consolas, Courier New" pitchFamily="34" charset="-120"/>
              </a:rPr>
              <a:t>14:29</a:t>
            </a:r>
            <a:endParaRPr lang="en-US" sz="1000" dirty="0"/>
          </a:p>
        </p:txBody>
      </p:sp>
      <p:sp>
        <p:nvSpPr>
          <p:cNvPr id="38" name="Text 36"/>
          <p:cNvSpPr/>
          <p:nvPr/>
        </p:nvSpPr>
        <p:spPr>
          <a:xfrm>
            <a:off x="7680960" y="5586984"/>
            <a:ext cx="640080" cy="320040"/>
          </a:xfrm>
          <a:prstGeom prst="rect">
            <a:avLst/>
          </a:prstGeom>
          <a:noFill/>
          <a:ln/>
        </p:spPr>
        <p:txBody>
          <a:bodyPr wrap="square" lIns="0" tIns="0" rIns="0" bIns="0" rtlCol="0" anchor="ctr"/>
          <a:lstStyle/>
          <a:p>
            <a:pPr indent="0" marL="0">
              <a:buNone/>
            </a:pPr>
            <a:r>
              <a:rPr lang="en-US" sz="1000" dirty="0">
                <a:solidFill>
                  <a:srgbClr val="F5F5F3"/>
                </a:solidFill>
                <a:latin typeface="Menlo, Consolas, Courier New" pitchFamily="34" charset="0"/>
                <a:ea typeface="Menlo, Consolas, Courier New" pitchFamily="34" charset="-122"/>
                <a:cs typeface="Menlo, Consolas, Courier New" pitchFamily="34" charset="-120"/>
              </a:rPr>
              <a:t>sue</a:t>
            </a:r>
            <a:endParaRPr lang="en-US" sz="1000" dirty="0"/>
          </a:p>
        </p:txBody>
      </p:sp>
      <p:sp>
        <p:nvSpPr>
          <p:cNvPr id="39" name="Text 37"/>
          <p:cNvSpPr/>
          <p:nvPr/>
        </p:nvSpPr>
        <p:spPr>
          <a:xfrm>
            <a:off x="8412480" y="5586984"/>
            <a:ext cx="1097280" cy="320040"/>
          </a:xfrm>
          <a:prstGeom prst="rect">
            <a:avLst/>
          </a:prstGeom>
          <a:noFill/>
          <a:ln/>
        </p:spPr>
        <p:txBody>
          <a:bodyPr wrap="square" lIns="0" tIns="0" rIns="0" bIns="0" rtlCol="0" anchor="ctr"/>
          <a:lstStyle/>
          <a:p>
            <a:pPr indent="0" marL="0">
              <a:buNone/>
            </a:pPr>
            <a:r>
              <a:rPr lang="en-US" sz="1000" dirty="0">
                <a:solidFill>
                  <a:srgbClr val="ED2024"/>
                </a:solidFill>
                <a:latin typeface="Menlo, Consolas, Courier New" pitchFamily="34" charset="0"/>
                <a:ea typeface="Menlo, Consolas, Courier New" pitchFamily="34" charset="-122"/>
                <a:cs typeface="Menlo, Consolas, Courier New" pitchFamily="34" charset="-120"/>
              </a:rPr>
              <a:t>private</a:t>
            </a:r>
            <a:endParaRPr lang="en-US" sz="1000" dirty="0"/>
          </a:p>
        </p:txBody>
      </p:sp>
      <p:sp>
        <p:nvSpPr>
          <p:cNvPr id="40" name="Text 38"/>
          <p:cNvSpPr/>
          <p:nvPr/>
        </p:nvSpPr>
        <p:spPr>
          <a:xfrm>
            <a:off x="9326880" y="5586984"/>
            <a:ext cx="1371600" cy="320040"/>
          </a:xfrm>
          <a:prstGeom prst="rect">
            <a:avLst/>
          </a:prstGeom>
          <a:noFill/>
          <a:ln/>
        </p:spPr>
        <p:txBody>
          <a:bodyPr wrap="square" lIns="0" tIns="0" rIns="0" bIns="0" rtlCol="0" anchor="ctr"/>
          <a:lstStyle/>
          <a:p>
            <a:pPr indent="0" marL="0">
              <a:buNone/>
            </a:pPr>
            <a:r>
              <a:rPr lang="en-US" sz="900" dirty="0">
                <a:solidFill>
                  <a:srgbClr val="ED2024"/>
                </a:solidFill>
                <a:latin typeface="Menlo, Consolas, Courier New" pitchFamily="34" charset="0"/>
                <a:ea typeface="Menlo, Consolas, Courier New" pitchFamily="34" charset="-122"/>
                <a:cs typeface="Menlo, Consolas, Courier New" pitchFamily="34" charset="-120"/>
              </a:rPr>
              <a:t>vendor·1 email·1</a:t>
            </a:r>
            <a:endParaRPr lang="en-US" sz="900" dirty="0"/>
          </a:p>
        </p:txBody>
      </p:sp>
      <p:sp>
        <p:nvSpPr>
          <p:cNvPr id="41" name="Text 39"/>
          <p:cNvSpPr/>
          <p:nvPr/>
        </p:nvSpPr>
        <p:spPr>
          <a:xfrm>
            <a:off x="10698480" y="5586984"/>
            <a:ext cx="731520" cy="320040"/>
          </a:xfrm>
          <a:prstGeom prst="rect">
            <a:avLst/>
          </a:prstGeom>
          <a:noFill/>
          <a:ln/>
        </p:spPr>
        <p:txBody>
          <a:bodyPr wrap="square" lIns="0" tIns="0" rIns="0" bIns="0" rtlCol="0" anchor="ctr"/>
          <a:lstStyle/>
          <a:p>
            <a:pPr algn="r" indent="0" marL="0">
              <a:buNone/>
            </a:pPr>
            <a:r>
              <a:rPr lang="en-US" sz="900" dirty="0">
                <a:solidFill>
                  <a:srgbClr val="555552"/>
                </a:solidFill>
                <a:latin typeface="Menlo, Consolas, Courier New" pitchFamily="34" charset="0"/>
                <a:ea typeface="Menlo, Consolas, Courier New" pitchFamily="34" charset="-122"/>
                <a:cs typeface="Menlo, Consolas, Courier New" pitchFamily="34" charset="-120"/>
              </a:rPr>
              <a:t>c8928e…</a:t>
            </a:r>
            <a:endParaRPr lang="en-US" sz="900" dirty="0"/>
          </a:p>
        </p:txBody>
      </p:sp>
      <p:sp>
        <p:nvSpPr>
          <p:cNvPr id="42" name="Shape 40"/>
          <p:cNvSpPr/>
          <p:nvPr/>
        </p:nvSpPr>
        <p:spPr>
          <a:xfrm>
            <a:off x="6949440" y="5852160"/>
            <a:ext cx="4297680" cy="4572"/>
          </a:xfrm>
          <a:prstGeom prst="rect">
            <a:avLst/>
          </a:prstGeom>
          <a:solidFill>
            <a:srgbClr val="1F1F1F"/>
          </a:solidFill>
          <a:ln/>
        </p:spPr>
      </p:sp>
      <p:sp>
        <p:nvSpPr>
          <p:cNvPr id="43" name="Text 41"/>
          <p:cNvSpPr/>
          <p:nvPr/>
        </p:nvSpPr>
        <p:spPr>
          <a:xfrm>
            <a:off x="6949440" y="5943600"/>
            <a:ext cx="4297680" cy="274320"/>
          </a:xfrm>
          <a:prstGeom prst="rect">
            <a:avLst/>
          </a:prstGeom>
          <a:noFill/>
          <a:ln/>
        </p:spPr>
        <p:txBody>
          <a:bodyPr wrap="square" lIns="0" tIns="0" rIns="0" bIns="0" rtlCol="0" anchor="ctr"/>
          <a:lstStyle/>
          <a:p>
            <a:pPr indent="0" marL="0">
              <a:buNone/>
            </a:pPr>
            <a:r>
              <a:rPr lang="en-US" sz="900" dirty="0">
                <a:solidFill>
                  <a:srgbClr val="3ECF8E"/>
                </a:solidFill>
                <a:latin typeface="Menlo, Consolas, Courier New" pitchFamily="34" charset="0"/>
                <a:ea typeface="Menlo, Consolas, Courier New" pitchFamily="34" charset="-122"/>
                <a:cs typeface="Menlo, Consolas, Courier New" pitchFamily="34" charset="-120"/>
              </a:rPr>
              <a:t>✓  chain verify: ok · 4 entries · prev-hash linked</a:t>
            </a:r>
            <a:endParaRPr lang="en-US" sz="900" dirty="0"/>
          </a:p>
        </p:txBody>
      </p:sp>
      <p:sp>
        <p:nvSpPr>
          <p:cNvPr id="44" name="Text 42"/>
          <p:cNvSpPr/>
          <p:nvPr/>
        </p:nvSpPr>
        <p:spPr>
          <a:xfrm>
            <a:off x="640080" y="6446520"/>
            <a:ext cx="1828800" cy="274320"/>
          </a:xfrm>
          <a:prstGeom prst="rect">
            <a:avLst/>
          </a:prstGeom>
          <a:noFill/>
          <a:ln/>
        </p:spPr>
        <p:txBody>
          <a:bodyPr wrap="square" lIns="0" tIns="0" rIns="0" bIns="0" rtlCol="0" anchor="ctr"/>
          <a:lstStyle/>
          <a:p>
            <a:pPr indent="0" marL="0">
              <a:buNone/>
            </a:pPr>
            <a:r>
              <a:rPr lang="en-US" sz="800" spc="800" kern="0" dirty="0">
                <a:solidFill>
                  <a:srgbClr val="555552"/>
                </a:solidFill>
                <a:latin typeface="Menlo, Consolas, Courier New" pitchFamily="34" charset="0"/>
                <a:ea typeface="Menlo, Consolas, Courier New" pitchFamily="34" charset="-122"/>
                <a:cs typeface="Menlo, Consolas, Courier New" pitchFamily="34" charset="-120"/>
              </a:rPr>
              <a:t>CALIBER</a:t>
            </a:r>
            <a:endParaRPr lang="en-US" sz="800" dirty="0"/>
          </a:p>
        </p:txBody>
      </p:sp>
      <p:sp>
        <p:nvSpPr>
          <p:cNvPr id="45" name="Text 43"/>
          <p:cNvSpPr/>
          <p:nvPr/>
        </p:nvSpPr>
        <p:spPr>
          <a:xfrm>
            <a:off x="10972800" y="6446520"/>
            <a:ext cx="914400" cy="274320"/>
          </a:xfrm>
          <a:prstGeom prst="rect">
            <a:avLst/>
          </a:prstGeom>
          <a:noFill/>
          <a:ln/>
        </p:spPr>
        <p:txBody>
          <a:bodyPr wrap="square" lIns="0" tIns="0" rIns="0" bIns="0" rtlCol="0" anchor="ctr"/>
          <a:lstStyle/>
          <a:p>
            <a:pPr algn="r" indent="0" marL="0">
              <a:buNone/>
            </a:pPr>
            <a:r>
              <a:rPr lang="en-US" sz="800" spc="400" kern="0" dirty="0">
                <a:solidFill>
                  <a:srgbClr val="555552"/>
                </a:solidFill>
                <a:latin typeface="Menlo, Consolas, Courier New" pitchFamily="34" charset="0"/>
                <a:ea typeface="Menlo, Consolas, Courier New" pitchFamily="34" charset="-122"/>
                <a:cs typeface="Menlo, Consolas, Courier New" pitchFamily="34" charset="-120"/>
              </a:rPr>
              <a:t>07 / 13</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640080" y="502920"/>
            <a:ext cx="10972800" cy="274320"/>
          </a:xfrm>
          <a:prstGeom prst="rect">
            <a:avLst/>
          </a:prstGeom>
          <a:noFill/>
          <a:ln/>
        </p:spPr>
        <p:txBody>
          <a:bodyPr wrap="square" lIns="0" tIns="0" rIns="0" bIns="0" rtlCol="0" anchor="ctr"/>
          <a:lstStyle/>
          <a:p>
            <a:pPr indent="0" marL="0">
              <a:buNone/>
            </a:pPr>
            <a:r>
              <a:rPr lang="en-US" sz="1000" spc="800" kern="0" dirty="0">
                <a:solidFill>
                  <a:srgbClr val="ED2024"/>
                </a:solidFill>
                <a:latin typeface="Menlo, Consolas, Courier New" pitchFamily="34" charset="0"/>
                <a:ea typeface="Menlo, Consolas, Courier New" pitchFamily="34" charset="-122"/>
                <a:cs typeface="Menlo, Consolas, Courier New" pitchFamily="34" charset="-120"/>
              </a:rPr>
              <a:t>07 · WHAT YOUR TEAM SEES</a:t>
            </a:r>
            <a:endParaRPr lang="en-US" sz="1000" dirty="0"/>
          </a:p>
        </p:txBody>
      </p:sp>
      <p:sp>
        <p:nvSpPr>
          <p:cNvPr id="3" name="Text 1"/>
          <p:cNvSpPr/>
          <p:nvPr/>
        </p:nvSpPr>
        <p:spPr>
          <a:xfrm>
            <a:off x="640080" y="1005840"/>
            <a:ext cx="10972800" cy="822960"/>
          </a:xfrm>
          <a:prstGeom prst="rect">
            <a:avLst/>
          </a:prstGeom>
          <a:noFill/>
          <a:ln/>
        </p:spPr>
        <p:txBody>
          <a:bodyPr wrap="square" lIns="0" tIns="0" rIns="0" bIns="0" rtlCol="0" anchor="ctr"/>
          <a:lstStyle/>
          <a:p>
            <a:pPr indent="0" marL="0">
              <a:buNone/>
            </a:pPr>
            <a:r>
              <a:rPr lang="en-US" sz="4000" dirty="0">
                <a:solidFill>
                  <a:srgbClr val="F5F5F3"/>
                </a:solidFill>
                <a:latin typeface="Britti Sans, Helvetica Neue, Helvetica, Arial" pitchFamily="34" charset="0"/>
                <a:ea typeface="Britti Sans, Helvetica Neue, Helvetica, Arial" pitchFamily="34" charset="-122"/>
                <a:cs typeface="Britti Sans, Helvetica Neue, Helvetica, Arial" pitchFamily="34" charset="-120"/>
              </a:rPr>
              <a:t>The dashboard your CFO</a:t>
            </a:r>
            <a:endParaRPr lang="en-US" sz="4000" dirty="0"/>
          </a:p>
        </p:txBody>
      </p:sp>
      <p:sp>
        <p:nvSpPr>
          <p:cNvPr id="4" name="Text 2"/>
          <p:cNvSpPr/>
          <p:nvPr/>
        </p:nvSpPr>
        <p:spPr>
          <a:xfrm>
            <a:off x="640080" y="1691640"/>
            <a:ext cx="10972800" cy="822960"/>
          </a:xfrm>
          <a:prstGeom prst="rect">
            <a:avLst/>
          </a:prstGeom>
          <a:noFill/>
          <a:ln/>
        </p:spPr>
        <p:txBody>
          <a:bodyPr wrap="square" lIns="0" tIns="0" rIns="0" bIns="0" rtlCol="0" anchor="ctr"/>
          <a:lstStyle/>
          <a:p>
            <a:pPr indent="0" marL="0">
              <a:buNone/>
            </a:pPr>
            <a:r>
              <a:rPr lang="en-US" sz="4000" dirty="0">
                <a:solidFill>
                  <a:srgbClr val="ED2024"/>
                </a:solidFill>
                <a:latin typeface="Britti Sans, Helvetica Neue, Helvetica, Arial" pitchFamily="34" charset="0"/>
                <a:ea typeface="Britti Sans, Helvetica Neue, Helvetica, Arial" pitchFamily="34" charset="-122"/>
                <a:cs typeface="Britti Sans, Helvetica Neue, Helvetica, Arial" pitchFamily="34" charset="-120"/>
              </a:rPr>
              <a:t>actually uses.</a:t>
            </a:r>
            <a:endParaRPr lang="en-US" sz="4000" dirty="0"/>
          </a:p>
        </p:txBody>
      </p:sp>
      <p:sp>
        <p:nvSpPr>
          <p:cNvPr id="5" name="Shape 3"/>
          <p:cNvSpPr/>
          <p:nvPr/>
        </p:nvSpPr>
        <p:spPr>
          <a:xfrm>
            <a:off x="640080" y="2788920"/>
            <a:ext cx="914400" cy="4572"/>
          </a:xfrm>
          <a:prstGeom prst="rect">
            <a:avLst/>
          </a:prstGeom>
          <a:solidFill>
            <a:srgbClr val="ED2024"/>
          </a:solidFill>
          <a:ln/>
        </p:spPr>
      </p:sp>
      <p:sp>
        <p:nvSpPr>
          <p:cNvPr id="6" name="Shape 4"/>
          <p:cNvSpPr/>
          <p:nvPr/>
        </p:nvSpPr>
        <p:spPr>
          <a:xfrm>
            <a:off x="640080" y="3200400"/>
            <a:ext cx="7315200" cy="3108960"/>
          </a:xfrm>
          <a:prstGeom prst="rect">
            <a:avLst/>
          </a:prstGeom>
          <a:solidFill>
            <a:srgbClr val="0A0A0A"/>
          </a:solidFill>
          <a:ln w="6350">
            <a:solidFill>
              <a:srgbClr val="1F1F1F"/>
            </a:solidFill>
            <a:prstDash val="solid"/>
          </a:ln>
        </p:spPr>
      </p:sp>
      <p:sp>
        <p:nvSpPr>
          <p:cNvPr id="7" name="Shape 5"/>
          <p:cNvSpPr/>
          <p:nvPr/>
        </p:nvSpPr>
        <p:spPr>
          <a:xfrm>
            <a:off x="640080" y="3200400"/>
            <a:ext cx="7315200" cy="457200"/>
          </a:xfrm>
          <a:prstGeom prst="rect">
            <a:avLst/>
          </a:prstGeom>
          <a:solidFill>
            <a:srgbClr val="121212"/>
          </a:solidFill>
          <a:ln/>
        </p:spPr>
      </p:sp>
      <p:sp>
        <p:nvSpPr>
          <p:cNvPr id="8" name="Shape 6"/>
          <p:cNvSpPr/>
          <p:nvPr/>
        </p:nvSpPr>
        <p:spPr>
          <a:xfrm>
            <a:off x="914400" y="3337560"/>
            <a:ext cx="182880" cy="182880"/>
          </a:xfrm>
          <a:prstGeom prst="rect">
            <a:avLst/>
          </a:prstGeom>
          <a:solidFill>
            <a:srgbClr val="ED2024"/>
          </a:solidFill>
          <a:ln/>
        </p:spPr>
      </p:sp>
      <p:sp>
        <p:nvSpPr>
          <p:cNvPr id="9" name="Text 7"/>
          <p:cNvSpPr/>
          <p:nvPr/>
        </p:nvSpPr>
        <p:spPr>
          <a:xfrm>
            <a:off x="914400" y="3337560"/>
            <a:ext cx="182880" cy="182880"/>
          </a:xfrm>
          <a:prstGeom prst="rect">
            <a:avLst/>
          </a:prstGeom>
          <a:noFill/>
          <a:ln/>
        </p:spPr>
        <p:txBody>
          <a:bodyPr wrap="square" lIns="0" tIns="0" rIns="0" bIns="0" rtlCol="0" anchor="ctr"/>
          <a:lstStyle/>
          <a:p>
            <a:pPr algn="ctr" indent="0" marL="0">
              <a:buNone/>
            </a:pPr>
            <a:r>
              <a:rPr lang="en-US" sz="1000" b="1" dirty="0">
                <a:solidFill>
                  <a:srgbClr val="000000"/>
                </a:solidFill>
                <a:latin typeface="Britti Sans, Helvetica Neue, Helvetica, Arial" pitchFamily="34" charset="0"/>
                <a:ea typeface="Britti Sans, Helvetica Neue, Helvetica, Arial" pitchFamily="34" charset="-122"/>
                <a:cs typeface="Britti Sans, Helvetica Neue, Helvetica, Arial" pitchFamily="34" charset="-120"/>
              </a:rPr>
              <a:t>C</a:t>
            </a:r>
            <a:endParaRPr lang="en-US" sz="1000" dirty="0"/>
          </a:p>
        </p:txBody>
      </p:sp>
      <p:sp>
        <p:nvSpPr>
          <p:cNvPr id="10" name="Text 8"/>
          <p:cNvSpPr/>
          <p:nvPr/>
        </p:nvSpPr>
        <p:spPr>
          <a:xfrm>
            <a:off x="1188720" y="3319272"/>
            <a:ext cx="1828800" cy="219456"/>
          </a:xfrm>
          <a:prstGeom prst="rect">
            <a:avLst/>
          </a:prstGeom>
          <a:noFill/>
          <a:ln/>
        </p:spPr>
        <p:txBody>
          <a:bodyPr wrap="square" lIns="0" tIns="0" rIns="0" bIns="0" rtlCol="0" anchor="ctr"/>
          <a:lstStyle/>
          <a:p>
            <a:pPr indent="0" marL="0">
              <a:buNone/>
            </a:pPr>
            <a:r>
              <a:rPr lang="en-US" sz="900" spc="800" kern="0" dirty="0">
                <a:solidFill>
                  <a:srgbClr val="F5F5F3"/>
                </a:solidFill>
                <a:latin typeface="Menlo, Consolas, Courier New" pitchFamily="34" charset="0"/>
                <a:ea typeface="Menlo, Consolas, Courier New" pitchFamily="34" charset="-122"/>
                <a:cs typeface="Menlo, Consolas, Courier New" pitchFamily="34" charset="-120"/>
              </a:rPr>
              <a:t>CALIBER</a:t>
            </a:r>
            <a:endParaRPr lang="en-US" sz="900" dirty="0"/>
          </a:p>
        </p:txBody>
      </p:sp>
      <p:sp>
        <p:nvSpPr>
          <p:cNvPr id="11" name="Text 9"/>
          <p:cNvSpPr/>
          <p:nvPr/>
        </p:nvSpPr>
        <p:spPr>
          <a:xfrm>
            <a:off x="1005840" y="3840480"/>
            <a:ext cx="6583680" cy="228600"/>
          </a:xfrm>
          <a:prstGeom prst="rect">
            <a:avLst/>
          </a:prstGeom>
          <a:noFill/>
          <a:ln/>
        </p:spPr>
        <p:txBody>
          <a:bodyPr wrap="square" lIns="0" tIns="0" rIns="0" bIns="0" rtlCol="0" anchor="ctr"/>
          <a:lstStyle/>
          <a:p>
            <a:pPr indent="0" marL="0">
              <a:buNone/>
            </a:pPr>
            <a:r>
              <a:rPr lang="en-US" sz="800" spc="600" kern="0" dirty="0">
                <a:solidFill>
                  <a:srgbClr val="ED2024"/>
                </a:solidFill>
                <a:latin typeface="Menlo, Consolas, Courier New" pitchFamily="34" charset="0"/>
                <a:ea typeface="Menlo, Consolas, Courier New" pitchFamily="34" charset="-122"/>
                <a:cs typeface="Menlo, Consolas, Courier New" pitchFamily="34" charset="-120"/>
              </a:rPr>
              <a:t>OVERVIEW · THIS WEEK</a:t>
            </a:r>
            <a:endParaRPr lang="en-US" sz="800" dirty="0"/>
          </a:p>
        </p:txBody>
      </p:sp>
      <p:sp>
        <p:nvSpPr>
          <p:cNvPr id="12" name="Text 10"/>
          <p:cNvSpPr/>
          <p:nvPr/>
        </p:nvSpPr>
        <p:spPr>
          <a:xfrm>
            <a:off x="1005840" y="4069080"/>
            <a:ext cx="6583680" cy="411480"/>
          </a:xfrm>
          <a:prstGeom prst="rect">
            <a:avLst/>
          </a:prstGeom>
          <a:noFill/>
          <a:ln/>
        </p:spPr>
        <p:txBody>
          <a:bodyPr wrap="square" lIns="0" tIns="0" rIns="0" bIns="0" rtlCol="0" anchor="ctr"/>
          <a:lstStyle/>
          <a:p>
            <a:pPr indent="0" marL="0">
              <a:buNone/>
            </a:pPr>
            <a:r>
              <a:rPr lang="en-US" sz="2000" dirty="0">
                <a:solidFill>
                  <a:srgbClr val="F5F5F3"/>
                </a:solidFill>
                <a:latin typeface="Britti Sans, Helvetica Neue, Helvetica, Arial" pitchFamily="34" charset="0"/>
                <a:ea typeface="Britti Sans, Helvetica Neue, Helvetica, Arial" pitchFamily="34" charset="-122"/>
                <a:cs typeface="Britti Sans, Helvetica Neue, Helvetica, Arial" pitchFamily="34" charset="-120"/>
              </a:rPr>
              <a:t>Good morning, Sue.</a:t>
            </a:r>
            <a:endParaRPr lang="en-US" sz="2000" dirty="0"/>
          </a:p>
        </p:txBody>
      </p:sp>
      <p:sp>
        <p:nvSpPr>
          <p:cNvPr id="13" name="Text 11"/>
          <p:cNvSpPr/>
          <p:nvPr/>
        </p:nvSpPr>
        <p:spPr>
          <a:xfrm>
            <a:off x="1005840" y="4663440"/>
            <a:ext cx="1600200" cy="201168"/>
          </a:xfrm>
          <a:prstGeom prst="rect">
            <a:avLst/>
          </a:prstGeom>
          <a:noFill/>
          <a:ln/>
        </p:spPr>
        <p:txBody>
          <a:bodyPr wrap="square" lIns="0" tIns="0" rIns="0" bIns="0" rtlCol="0" anchor="ctr"/>
          <a:lstStyle/>
          <a:p>
            <a:pPr indent="0" marL="0">
              <a:buNone/>
            </a:pPr>
            <a:r>
              <a:rPr lang="en-US" sz="750" spc="500" kern="0" dirty="0">
                <a:solidFill>
                  <a:srgbClr val="8A8A87"/>
                </a:solidFill>
                <a:latin typeface="Menlo, Consolas, Courier New" pitchFamily="34" charset="0"/>
                <a:ea typeface="Menlo, Consolas, Courier New" pitchFamily="34" charset="-122"/>
                <a:cs typeface="Menlo, Consolas, Courier New" pitchFamily="34" charset="-120"/>
              </a:rPr>
              <a:t>CASH NOW</a:t>
            </a:r>
            <a:endParaRPr lang="en-US" sz="750" dirty="0"/>
          </a:p>
        </p:txBody>
      </p:sp>
      <p:sp>
        <p:nvSpPr>
          <p:cNvPr id="14" name="Text 12"/>
          <p:cNvSpPr/>
          <p:nvPr/>
        </p:nvSpPr>
        <p:spPr>
          <a:xfrm>
            <a:off x="1005840" y="4864608"/>
            <a:ext cx="1600200" cy="411480"/>
          </a:xfrm>
          <a:prstGeom prst="rect">
            <a:avLst/>
          </a:prstGeom>
          <a:noFill/>
          <a:ln/>
        </p:spPr>
        <p:txBody>
          <a:bodyPr wrap="square" lIns="0" tIns="0" rIns="0" bIns="0" rtlCol="0" anchor="ctr"/>
          <a:lstStyle/>
          <a:p>
            <a:pPr indent="0" marL="0">
              <a:buNone/>
            </a:pPr>
            <a:r>
              <a:rPr lang="en-US" sz="1800" dirty="0">
                <a:solidFill>
                  <a:srgbClr val="F5F5F3"/>
                </a:solidFill>
                <a:latin typeface="Britti Sans, Helvetica Neue, Helvetica, Arial" pitchFamily="34" charset="0"/>
                <a:ea typeface="Britti Sans, Helvetica Neue, Helvetica, Arial" pitchFamily="34" charset="-122"/>
                <a:cs typeface="Britti Sans, Helvetica Neue, Helvetica, Arial" pitchFamily="34" charset="-120"/>
              </a:rPr>
              <a:t>CHF 134.7k</a:t>
            </a:r>
            <a:endParaRPr lang="en-US" sz="1800" dirty="0"/>
          </a:p>
        </p:txBody>
      </p:sp>
      <p:sp>
        <p:nvSpPr>
          <p:cNvPr id="15" name="Text 13"/>
          <p:cNvSpPr/>
          <p:nvPr/>
        </p:nvSpPr>
        <p:spPr>
          <a:xfrm>
            <a:off x="1005840" y="5285232"/>
            <a:ext cx="1600200" cy="201168"/>
          </a:xfrm>
          <a:prstGeom prst="rect">
            <a:avLst/>
          </a:prstGeom>
          <a:noFill/>
          <a:ln/>
        </p:spPr>
        <p:txBody>
          <a:bodyPr wrap="square" lIns="0" tIns="0" rIns="0" bIns="0" rtlCol="0" anchor="ctr"/>
          <a:lstStyle/>
          <a:p>
            <a:pPr indent="0" marL="0">
              <a:buNone/>
            </a:pPr>
            <a:r>
              <a:rPr lang="en-US" sz="850" dirty="0">
                <a:solidFill>
                  <a:srgbClr val="3ECF8E"/>
                </a:solidFill>
                <a:latin typeface="Menlo, Consolas, Courier New" pitchFamily="34" charset="0"/>
                <a:ea typeface="Menlo, Consolas, Courier New" pitchFamily="34" charset="-122"/>
                <a:cs typeface="Menlo, Consolas, Courier New" pitchFamily="34" charset="-120"/>
              </a:rPr>
              <a:t>+ 2.3% w/w</a:t>
            </a:r>
            <a:endParaRPr lang="en-US" sz="850" dirty="0"/>
          </a:p>
        </p:txBody>
      </p:sp>
      <p:sp>
        <p:nvSpPr>
          <p:cNvPr id="16" name="Text 14"/>
          <p:cNvSpPr/>
          <p:nvPr/>
        </p:nvSpPr>
        <p:spPr>
          <a:xfrm>
            <a:off x="2651760" y="4663440"/>
            <a:ext cx="1600200" cy="201168"/>
          </a:xfrm>
          <a:prstGeom prst="rect">
            <a:avLst/>
          </a:prstGeom>
          <a:noFill/>
          <a:ln/>
        </p:spPr>
        <p:txBody>
          <a:bodyPr wrap="square" lIns="0" tIns="0" rIns="0" bIns="0" rtlCol="0" anchor="ctr"/>
          <a:lstStyle/>
          <a:p>
            <a:pPr indent="0" marL="0">
              <a:buNone/>
            </a:pPr>
            <a:r>
              <a:rPr lang="en-US" sz="750" spc="500" kern="0" dirty="0">
                <a:solidFill>
                  <a:srgbClr val="8A8A87"/>
                </a:solidFill>
                <a:latin typeface="Menlo, Consolas, Courier New" pitchFamily="34" charset="0"/>
                <a:ea typeface="Menlo, Consolas, Courier New" pitchFamily="34" charset="-122"/>
                <a:cs typeface="Menlo, Consolas, Courier New" pitchFamily="34" charset="-120"/>
              </a:rPr>
              <a:t>AFTER WINDOW</a:t>
            </a:r>
            <a:endParaRPr lang="en-US" sz="750" dirty="0"/>
          </a:p>
        </p:txBody>
      </p:sp>
      <p:sp>
        <p:nvSpPr>
          <p:cNvPr id="17" name="Text 15"/>
          <p:cNvSpPr/>
          <p:nvPr/>
        </p:nvSpPr>
        <p:spPr>
          <a:xfrm>
            <a:off x="2651760" y="4864608"/>
            <a:ext cx="1600200" cy="411480"/>
          </a:xfrm>
          <a:prstGeom prst="rect">
            <a:avLst/>
          </a:prstGeom>
          <a:noFill/>
          <a:ln/>
        </p:spPr>
        <p:txBody>
          <a:bodyPr wrap="square" lIns="0" tIns="0" rIns="0" bIns="0" rtlCol="0" anchor="ctr"/>
          <a:lstStyle/>
          <a:p>
            <a:pPr indent="0" marL="0">
              <a:buNone/>
            </a:pPr>
            <a:r>
              <a:rPr lang="en-US" sz="1800" dirty="0">
                <a:solidFill>
                  <a:srgbClr val="F5F5F3"/>
                </a:solidFill>
                <a:latin typeface="Britti Sans, Helvetica Neue, Helvetica, Arial" pitchFamily="34" charset="0"/>
                <a:ea typeface="Britti Sans, Helvetica Neue, Helvetica, Arial" pitchFamily="34" charset="-122"/>
                <a:cs typeface="Britti Sans, Helvetica Neue, Helvetica, Arial" pitchFamily="34" charset="-120"/>
              </a:rPr>
              <a:t>CHF 59.6k</a:t>
            </a:r>
            <a:endParaRPr lang="en-US" sz="1800" dirty="0"/>
          </a:p>
        </p:txBody>
      </p:sp>
      <p:sp>
        <p:nvSpPr>
          <p:cNvPr id="18" name="Text 16"/>
          <p:cNvSpPr/>
          <p:nvPr/>
        </p:nvSpPr>
        <p:spPr>
          <a:xfrm>
            <a:off x="2651760" y="5285232"/>
            <a:ext cx="1600200" cy="201168"/>
          </a:xfrm>
          <a:prstGeom prst="rect">
            <a:avLst/>
          </a:prstGeom>
          <a:noFill/>
          <a:ln/>
        </p:spPr>
        <p:txBody>
          <a:bodyPr wrap="square" lIns="0" tIns="0" rIns="0" bIns="0" rtlCol="0" anchor="ctr"/>
          <a:lstStyle/>
          <a:p>
            <a:pPr indent="0" marL="0">
              <a:buNone/>
            </a:pPr>
            <a:r>
              <a:rPr lang="en-US" sz="850" dirty="0">
                <a:solidFill>
                  <a:srgbClr val="8A8A87"/>
                </a:solidFill>
                <a:latin typeface="Menlo, Consolas, Courier New" pitchFamily="34" charset="0"/>
                <a:ea typeface="Menlo, Consolas, Courier New" pitchFamily="34" charset="-122"/>
                <a:cs typeface="Menlo, Consolas, Courier New" pitchFamily="34" charset="-120"/>
              </a:rPr>
              <a:t>by Jun 12</a:t>
            </a:r>
            <a:endParaRPr lang="en-US" sz="850" dirty="0"/>
          </a:p>
        </p:txBody>
      </p:sp>
      <p:sp>
        <p:nvSpPr>
          <p:cNvPr id="19" name="Text 17"/>
          <p:cNvSpPr/>
          <p:nvPr/>
        </p:nvSpPr>
        <p:spPr>
          <a:xfrm>
            <a:off x="4297680" y="4663440"/>
            <a:ext cx="1600200" cy="201168"/>
          </a:xfrm>
          <a:prstGeom prst="rect">
            <a:avLst/>
          </a:prstGeom>
          <a:noFill/>
          <a:ln/>
        </p:spPr>
        <p:txBody>
          <a:bodyPr wrap="square" lIns="0" tIns="0" rIns="0" bIns="0" rtlCol="0" anchor="ctr"/>
          <a:lstStyle/>
          <a:p>
            <a:pPr indent="0" marL="0">
              <a:buNone/>
            </a:pPr>
            <a:r>
              <a:rPr lang="en-US" sz="750" spc="500" kern="0" dirty="0">
                <a:solidFill>
                  <a:srgbClr val="8A8A87"/>
                </a:solidFill>
                <a:latin typeface="Menlo, Consolas, Courier New" pitchFamily="34" charset="0"/>
                <a:ea typeface="Menlo, Consolas, Courier New" pitchFamily="34" charset="-122"/>
                <a:cs typeface="Menlo, Consolas, Courier New" pitchFamily="34" charset="-120"/>
              </a:rPr>
              <a:t>OPEN AP</a:t>
            </a:r>
            <a:endParaRPr lang="en-US" sz="750" dirty="0"/>
          </a:p>
        </p:txBody>
      </p:sp>
      <p:sp>
        <p:nvSpPr>
          <p:cNvPr id="20" name="Text 18"/>
          <p:cNvSpPr/>
          <p:nvPr/>
        </p:nvSpPr>
        <p:spPr>
          <a:xfrm>
            <a:off x="4297680" y="4864608"/>
            <a:ext cx="1600200" cy="411480"/>
          </a:xfrm>
          <a:prstGeom prst="rect">
            <a:avLst/>
          </a:prstGeom>
          <a:noFill/>
          <a:ln/>
        </p:spPr>
        <p:txBody>
          <a:bodyPr wrap="square" lIns="0" tIns="0" rIns="0" bIns="0" rtlCol="0" anchor="ctr"/>
          <a:lstStyle/>
          <a:p>
            <a:pPr indent="0" marL="0">
              <a:buNone/>
            </a:pPr>
            <a:r>
              <a:rPr lang="en-US" sz="1800" dirty="0">
                <a:solidFill>
                  <a:srgbClr val="F5F5F3"/>
                </a:solidFill>
                <a:latin typeface="Britti Sans, Helvetica Neue, Helvetica, Arial" pitchFamily="34" charset="0"/>
                <a:ea typeface="Britti Sans, Helvetica Neue, Helvetica, Arial" pitchFamily="34" charset="-122"/>
                <a:cs typeface="Britti Sans, Helvetica Neue, Helvetica, Arial" pitchFamily="34" charset="-120"/>
              </a:rPr>
              <a:t>CHF 1.26M</a:t>
            </a:r>
            <a:endParaRPr lang="en-US" sz="1800" dirty="0"/>
          </a:p>
        </p:txBody>
      </p:sp>
      <p:sp>
        <p:nvSpPr>
          <p:cNvPr id="21" name="Text 19"/>
          <p:cNvSpPr/>
          <p:nvPr/>
        </p:nvSpPr>
        <p:spPr>
          <a:xfrm>
            <a:off x="4297680" y="5285232"/>
            <a:ext cx="1600200" cy="201168"/>
          </a:xfrm>
          <a:prstGeom prst="rect">
            <a:avLst/>
          </a:prstGeom>
          <a:noFill/>
          <a:ln/>
        </p:spPr>
        <p:txBody>
          <a:bodyPr wrap="square" lIns="0" tIns="0" rIns="0" bIns="0" rtlCol="0" anchor="ctr"/>
          <a:lstStyle/>
          <a:p>
            <a:pPr indent="0" marL="0">
              <a:buNone/>
            </a:pPr>
            <a:r>
              <a:rPr lang="en-US" sz="850" dirty="0">
                <a:solidFill>
                  <a:srgbClr val="8A8A87"/>
                </a:solidFill>
                <a:latin typeface="Menlo, Consolas, Courier New" pitchFamily="34" charset="0"/>
                <a:ea typeface="Menlo, Consolas, Courier New" pitchFamily="34" charset="-122"/>
                <a:cs typeface="Menlo, Consolas, Courier New" pitchFamily="34" charset="-120"/>
              </a:rPr>
              <a:t>245 invoices</a:t>
            </a:r>
            <a:endParaRPr lang="en-US" sz="850" dirty="0"/>
          </a:p>
        </p:txBody>
      </p:sp>
      <p:sp>
        <p:nvSpPr>
          <p:cNvPr id="22" name="Text 20"/>
          <p:cNvSpPr/>
          <p:nvPr/>
        </p:nvSpPr>
        <p:spPr>
          <a:xfrm>
            <a:off x="5943600" y="4663440"/>
            <a:ext cx="1600200" cy="201168"/>
          </a:xfrm>
          <a:prstGeom prst="rect">
            <a:avLst/>
          </a:prstGeom>
          <a:noFill/>
          <a:ln/>
        </p:spPr>
        <p:txBody>
          <a:bodyPr wrap="square" lIns="0" tIns="0" rIns="0" bIns="0" rtlCol="0" anchor="ctr"/>
          <a:lstStyle/>
          <a:p>
            <a:pPr indent="0" marL="0">
              <a:buNone/>
            </a:pPr>
            <a:r>
              <a:rPr lang="en-US" sz="750" spc="500" kern="0" dirty="0">
                <a:solidFill>
                  <a:srgbClr val="8A8A87"/>
                </a:solidFill>
                <a:latin typeface="Menlo, Consolas, Courier New" pitchFamily="34" charset="0"/>
                <a:ea typeface="Menlo, Consolas, Courier New" pitchFamily="34" charset="-122"/>
                <a:cs typeface="Menlo, Consolas, Courier New" pitchFamily="34" charset="-120"/>
              </a:rPr>
              <a:t>Q1 NET P/L</a:t>
            </a:r>
            <a:endParaRPr lang="en-US" sz="750" dirty="0"/>
          </a:p>
        </p:txBody>
      </p:sp>
      <p:sp>
        <p:nvSpPr>
          <p:cNvPr id="23" name="Text 21"/>
          <p:cNvSpPr/>
          <p:nvPr/>
        </p:nvSpPr>
        <p:spPr>
          <a:xfrm>
            <a:off x="5943600" y="4864608"/>
            <a:ext cx="1600200" cy="411480"/>
          </a:xfrm>
          <a:prstGeom prst="rect">
            <a:avLst/>
          </a:prstGeom>
          <a:noFill/>
          <a:ln/>
        </p:spPr>
        <p:txBody>
          <a:bodyPr wrap="square" lIns="0" tIns="0" rIns="0" bIns="0" rtlCol="0" anchor="ctr"/>
          <a:lstStyle/>
          <a:p>
            <a:pPr indent="0" marL="0">
              <a:buNone/>
            </a:pPr>
            <a:r>
              <a:rPr lang="en-US" sz="1800" dirty="0">
                <a:solidFill>
                  <a:srgbClr val="F5F5F3"/>
                </a:solidFill>
                <a:latin typeface="Britti Sans, Helvetica Neue, Helvetica, Arial" pitchFamily="34" charset="0"/>
                <a:ea typeface="Britti Sans, Helvetica Neue, Helvetica, Arial" pitchFamily="34" charset="-122"/>
                <a:cs typeface="Britti Sans, Helvetica Neue, Helvetica, Arial" pitchFamily="34" charset="-120"/>
              </a:rPr>
              <a:t>CHF -770k</a:t>
            </a:r>
            <a:endParaRPr lang="en-US" sz="1800" dirty="0"/>
          </a:p>
        </p:txBody>
      </p:sp>
      <p:sp>
        <p:nvSpPr>
          <p:cNvPr id="24" name="Text 22"/>
          <p:cNvSpPr/>
          <p:nvPr/>
        </p:nvSpPr>
        <p:spPr>
          <a:xfrm>
            <a:off x="5943600" y="5285232"/>
            <a:ext cx="1600200" cy="201168"/>
          </a:xfrm>
          <a:prstGeom prst="rect">
            <a:avLst/>
          </a:prstGeom>
          <a:noFill/>
          <a:ln/>
        </p:spPr>
        <p:txBody>
          <a:bodyPr wrap="square" lIns="0" tIns="0" rIns="0" bIns="0" rtlCol="0" anchor="ctr"/>
          <a:lstStyle/>
          <a:p>
            <a:pPr indent="0" marL="0">
              <a:buNone/>
            </a:pPr>
            <a:r>
              <a:rPr lang="en-US" sz="850" dirty="0">
                <a:solidFill>
                  <a:srgbClr val="EF4747"/>
                </a:solidFill>
                <a:latin typeface="Menlo, Consolas, Courier New" pitchFamily="34" charset="0"/>
                <a:ea typeface="Menlo, Consolas, Courier New" pitchFamily="34" charset="-122"/>
                <a:cs typeface="Menlo, Consolas, Courier New" pitchFamily="34" charset="-120"/>
              </a:rPr>
              <a:t>5 entities</a:t>
            </a:r>
            <a:endParaRPr lang="en-US" sz="850" dirty="0"/>
          </a:p>
        </p:txBody>
      </p:sp>
      <p:sp>
        <p:nvSpPr>
          <p:cNvPr id="25" name="Shape 23"/>
          <p:cNvSpPr/>
          <p:nvPr/>
        </p:nvSpPr>
        <p:spPr>
          <a:xfrm>
            <a:off x="1005840" y="5669280"/>
            <a:ext cx="6583680" cy="4572"/>
          </a:xfrm>
          <a:prstGeom prst="rect">
            <a:avLst/>
          </a:prstGeom>
          <a:solidFill>
            <a:srgbClr val="1F1F1F"/>
          </a:solidFill>
          <a:ln/>
        </p:spPr>
      </p:sp>
      <p:sp>
        <p:nvSpPr>
          <p:cNvPr id="26" name="Text 24"/>
          <p:cNvSpPr/>
          <p:nvPr/>
        </p:nvSpPr>
        <p:spPr>
          <a:xfrm>
            <a:off x="1005840" y="5760720"/>
            <a:ext cx="4572000" cy="201168"/>
          </a:xfrm>
          <a:prstGeom prst="rect">
            <a:avLst/>
          </a:prstGeom>
          <a:noFill/>
          <a:ln/>
        </p:spPr>
        <p:txBody>
          <a:bodyPr wrap="square" lIns="0" tIns="0" rIns="0" bIns="0" rtlCol="0" anchor="ctr"/>
          <a:lstStyle/>
          <a:p>
            <a:pPr indent="0" marL="0">
              <a:buNone/>
            </a:pPr>
            <a:r>
              <a:rPr lang="en-US" sz="750" spc="500" kern="0" dirty="0">
                <a:solidFill>
                  <a:srgbClr val="8A8A87"/>
                </a:solidFill>
                <a:latin typeface="Menlo, Consolas, Courier New" pitchFamily="34" charset="0"/>
                <a:ea typeface="Menlo, Consolas, Courier New" pitchFamily="34" charset="-122"/>
                <a:cs typeface="Menlo, Consolas, Courier New" pitchFamily="34" charset="-120"/>
              </a:rPr>
              <a:t>RECENT AI ACTIVITY</a:t>
            </a:r>
            <a:endParaRPr lang="en-US" sz="750" dirty="0"/>
          </a:p>
        </p:txBody>
      </p:sp>
      <p:sp>
        <p:nvSpPr>
          <p:cNvPr id="27" name="Text 25"/>
          <p:cNvSpPr/>
          <p:nvPr/>
        </p:nvSpPr>
        <p:spPr>
          <a:xfrm>
            <a:off x="1005840" y="5989320"/>
            <a:ext cx="5486400" cy="164592"/>
          </a:xfrm>
          <a:prstGeom prst="rect">
            <a:avLst/>
          </a:prstGeom>
          <a:noFill/>
          <a:ln/>
        </p:spPr>
        <p:txBody>
          <a:bodyPr wrap="square" lIns="0" tIns="0" rIns="0" bIns="0" rtlCol="0" anchor="ctr"/>
          <a:lstStyle/>
          <a:p>
            <a:pPr indent="0" marL="0">
              <a:buNone/>
            </a:pPr>
            <a:r>
              <a:rPr lang="en-US" sz="1000" dirty="0">
                <a:solidFill>
                  <a:srgbClr val="8A8A87"/>
                </a:solidFill>
                <a:latin typeface="Britti Sans, Helvetica Neue, Helvetica, Arial" pitchFamily="34" charset="0"/>
                <a:ea typeface="Britti Sans, Helvetica Neue, Helvetica, Arial" pitchFamily="34" charset="-122"/>
                <a:cs typeface="Britti Sans, Helvetica Neue, Helvetica, Arial" pitchFamily="34" charset="-120"/>
              </a:rPr>
              <a:t>"why is cash down this week"</a:t>
            </a:r>
            <a:endParaRPr lang="en-US" sz="1000" dirty="0"/>
          </a:p>
        </p:txBody>
      </p:sp>
      <p:sp>
        <p:nvSpPr>
          <p:cNvPr id="28" name="Text 26"/>
          <p:cNvSpPr/>
          <p:nvPr/>
        </p:nvSpPr>
        <p:spPr>
          <a:xfrm>
            <a:off x="6583680" y="5989320"/>
            <a:ext cx="914400" cy="164592"/>
          </a:xfrm>
          <a:prstGeom prst="rect">
            <a:avLst/>
          </a:prstGeom>
          <a:noFill/>
          <a:ln/>
        </p:spPr>
        <p:txBody>
          <a:bodyPr wrap="square" lIns="0" tIns="0" rIns="0" bIns="0" rtlCol="0" anchor="ctr"/>
          <a:lstStyle/>
          <a:p>
            <a:pPr algn="r" indent="0" marL="0">
              <a:buNone/>
            </a:pPr>
            <a:r>
              <a:rPr lang="en-US" sz="850" spc="400" kern="0" dirty="0">
                <a:solidFill>
                  <a:srgbClr val="ED2024"/>
                </a:solidFill>
                <a:latin typeface="Menlo, Consolas, Courier New" pitchFamily="34" charset="0"/>
                <a:ea typeface="Menlo, Consolas, Courier New" pitchFamily="34" charset="-122"/>
                <a:cs typeface="Menlo, Consolas, Courier New" pitchFamily="34" charset="-120"/>
              </a:rPr>
              <a:t>private</a:t>
            </a:r>
            <a:endParaRPr lang="en-US" sz="850" dirty="0"/>
          </a:p>
        </p:txBody>
      </p:sp>
      <p:sp>
        <p:nvSpPr>
          <p:cNvPr id="29" name="Text 27"/>
          <p:cNvSpPr/>
          <p:nvPr/>
        </p:nvSpPr>
        <p:spPr>
          <a:xfrm>
            <a:off x="1005840" y="6126480"/>
            <a:ext cx="5486400" cy="164592"/>
          </a:xfrm>
          <a:prstGeom prst="rect">
            <a:avLst/>
          </a:prstGeom>
          <a:noFill/>
          <a:ln/>
        </p:spPr>
        <p:txBody>
          <a:bodyPr wrap="square" lIns="0" tIns="0" rIns="0" bIns="0" rtlCol="0" anchor="ctr"/>
          <a:lstStyle/>
          <a:p>
            <a:pPr indent="0" marL="0">
              <a:buNone/>
            </a:pPr>
            <a:r>
              <a:rPr lang="en-US" sz="1000" dirty="0">
                <a:solidFill>
                  <a:srgbClr val="8A8A87"/>
                </a:solidFill>
                <a:latin typeface="Britti Sans, Helvetica Neue, Helvetica, Arial" pitchFamily="34" charset="0"/>
                <a:ea typeface="Britti Sans, Helvetica Neue, Helvetica, Arial" pitchFamily="34" charset="-122"/>
                <a:cs typeface="Britti Sans, Helvetica Neue, Helvetica, Arial" pitchFamily="34" charset="-120"/>
              </a:rPr>
              <a:t>"reconcile Sygnum zv2026…"</a:t>
            </a:r>
            <a:endParaRPr lang="en-US" sz="1000" dirty="0"/>
          </a:p>
        </p:txBody>
      </p:sp>
      <p:sp>
        <p:nvSpPr>
          <p:cNvPr id="30" name="Text 28"/>
          <p:cNvSpPr/>
          <p:nvPr/>
        </p:nvSpPr>
        <p:spPr>
          <a:xfrm>
            <a:off x="6583680" y="6126480"/>
            <a:ext cx="914400" cy="164592"/>
          </a:xfrm>
          <a:prstGeom prst="rect">
            <a:avLst/>
          </a:prstGeom>
          <a:noFill/>
          <a:ln/>
        </p:spPr>
        <p:txBody>
          <a:bodyPr wrap="square" lIns="0" tIns="0" rIns="0" bIns="0" rtlCol="0" anchor="ctr"/>
          <a:lstStyle/>
          <a:p>
            <a:pPr algn="r" indent="0" marL="0">
              <a:buNone/>
            </a:pPr>
            <a:r>
              <a:rPr lang="en-US" sz="850" spc="400" kern="0" dirty="0">
                <a:solidFill>
                  <a:srgbClr val="5AA9FF"/>
                </a:solidFill>
                <a:latin typeface="Menlo, Consolas, Courier New" pitchFamily="34" charset="0"/>
                <a:ea typeface="Menlo, Consolas, Courier New" pitchFamily="34" charset="-122"/>
                <a:cs typeface="Menlo, Consolas, Courier New" pitchFamily="34" charset="-120"/>
              </a:rPr>
              <a:t>sealed</a:t>
            </a:r>
            <a:endParaRPr lang="en-US" sz="850" dirty="0"/>
          </a:p>
        </p:txBody>
      </p:sp>
      <p:sp>
        <p:nvSpPr>
          <p:cNvPr id="31" name="Text 29"/>
          <p:cNvSpPr/>
          <p:nvPr/>
        </p:nvSpPr>
        <p:spPr>
          <a:xfrm>
            <a:off x="8229600" y="3246120"/>
            <a:ext cx="3474720" cy="457200"/>
          </a:xfrm>
          <a:prstGeom prst="rect">
            <a:avLst/>
          </a:prstGeom>
          <a:noFill/>
          <a:ln/>
        </p:spPr>
        <p:txBody>
          <a:bodyPr wrap="square" lIns="0" tIns="0" rIns="0" bIns="0" rtlCol="0" anchor="t"/>
          <a:lstStyle/>
          <a:p>
            <a:pPr indent="0" marL="0">
              <a:buNone/>
            </a:pPr>
            <a:r>
              <a:rPr lang="en-US" sz="1800" dirty="0">
                <a:solidFill>
                  <a:srgbClr val="F5F5F3"/>
                </a:solidFill>
                <a:latin typeface="Britti Sans, Helvetica Neue, Helvetica, Arial" pitchFamily="34" charset="0"/>
                <a:ea typeface="Britti Sans, Helvetica Neue, Helvetica, Arial" pitchFamily="34" charset="-122"/>
                <a:cs typeface="Britti Sans, Helvetica Neue, Helvetica, Arial" pitchFamily="34" charset="-120"/>
              </a:rPr>
              <a:t>Built around the questions</a:t>
            </a:r>
            <a:endParaRPr lang="en-US" sz="1800" dirty="0"/>
          </a:p>
        </p:txBody>
      </p:sp>
      <p:sp>
        <p:nvSpPr>
          <p:cNvPr id="32" name="Text 30"/>
          <p:cNvSpPr/>
          <p:nvPr/>
        </p:nvSpPr>
        <p:spPr>
          <a:xfrm>
            <a:off x="8229600" y="3611880"/>
            <a:ext cx="3474720" cy="457200"/>
          </a:xfrm>
          <a:prstGeom prst="rect">
            <a:avLst/>
          </a:prstGeom>
          <a:noFill/>
          <a:ln/>
        </p:spPr>
        <p:txBody>
          <a:bodyPr wrap="square" lIns="0" tIns="0" rIns="0" bIns="0" rtlCol="0" anchor="t"/>
          <a:lstStyle/>
          <a:p>
            <a:pPr indent="0" marL="0">
              <a:buNone/>
            </a:pPr>
            <a:r>
              <a:rPr lang="en-US" sz="1800" dirty="0">
                <a:solidFill>
                  <a:srgbClr val="ED2024"/>
                </a:solidFill>
                <a:latin typeface="Britti Sans, Helvetica Neue, Helvetica, Arial" pitchFamily="34" charset="0"/>
                <a:ea typeface="Britti Sans, Helvetica Neue, Helvetica, Arial" pitchFamily="34" charset="-122"/>
                <a:cs typeface="Britti Sans, Helvetica Neue, Helvetica, Arial" pitchFamily="34" charset="-120"/>
              </a:rPr>
              <a:t>your CFO actually asks.</a:t>
            </a:r>
            <a:endParaRPr lang="en-US" sz="1800" dirty="0"/>
          </a:p>
        </p:txBody>
      </p:sp>
      <p:sp>
        <p:nvSpPr>
          <p:cNvPr id="33" name="Shape 31"/>
          <p:cNvSpPr/>
          <p:nvPr/>
        </p:nvSpPr>
        <p:spPr>
          <a:xfrm>
            <a:off x="8229600" y="4251960"/>
            <a:ext cx="457200" cy="4572"/>
          </a:xfrm>
          <a:prstGeom prst="rect">
            <a:avLst/>
          </a:prstGeom>
          <a:solidFill>
            <a:srgbClr val="ED2024"/>
          </a:solidFill>
          <a:ln/>
        </p:spPr>
      </p:sp>
      <p:sp>
        <p:nvSpPr>
          <p:cNvPr id="34" name="Shape 32"/>
          <p:cNvSpPr/>
          <p:nvPr/>
        </p:nvSpPr>
        <p:spPr>
          <a:xfrm>
            <a:off x="8229600" y="4617720"/>
            <a:ext cx="73152" cy="73152"/>
          </a:xfrm>
          <a:prstGeom prst="rect">
            <a:avLst/>
          </a:prstGeom>
          <a:solidFill>
            <a:srgbClr val="ED2024"/>
          </a:solidFill>
          <a:ln/>
        </p:spPr>
      </p:sp>
      <p:sp>
        <p:nvSpPr>
          <p:cNvPr id="35" name="Text 33"/>
          <p:cNvSpPr/>
          <p:nvPr/>
        </p:nvSpPr>
        <p:spPr>
          <a:xfrm>
            <a:off x="8412480" y="4526280"/>
            <a:ext cx="3474720" cy="411480"/>
          </a:xfrm>
          <a:prstGeom prst="rect">
            <a:avLst/>
          </a:prstGeom>
          <a:noFill/>
          <a:ln/>
        </p:spPr>
        <p:txBody>
          <a:bodyPr wrap="square" lIns="0" tIns="0" rIns="0" bIns="0" rtlCol="0" anchor="t"/>
          <a:lstStyle/>
          <a:p>
            <a:pPr indent="0" marL="0">
              <a:buNone/>
            </a:pPr>
            <a:r>
              <a:rPr lang="en-US" sz="1200" dirty="0">
                <a:solidFill>
                  <a:srgbClr val="8A8A87"/>
                </a:solidFill>
                <a:latin typeface="Britti Sans, Helvetica Neue, Helvetica, Arial" pitchFamily="34" charset="0"/>
                <a:ea typeface="Britti Sans, Helvetica Neue, Helvetica, Arial" pitchFamily="34" charset="-122"/>
                <a:cs typeface="Britti Sans, Helvetica Neue, Helvetica, Arial" pitchFamily="34" charset="-120"/>
              </a:rPr>
              <a:t>Live KPIs from your source systems</a:t>
            </a:r>
            <a:endParaRPr lang="en-US" sz="1200" dirty="0"/>
          </a:p>
        </p:txBody>
      </p:sp>
      <p:sp>
        <p:nvSpPr>
          <p:cNvPr id="36" name="Shape 34"/>
          <p:cNvSpPr/>
          <p:nvPr/>
        </p:nvSpPr>
        <p:spPr>
          <a:xfrm>
            <a:off x="8229600" y="5074920"/>
            <a:ext cx="73152" cy="73152"/>
          </a:xfrm>
          <a:prstGeom prst="rect">
            <a:avLst/>
          </a:prstGeom>
          <a:solidFill>
            <a:srgbClr val="ED2024"/>
          </a:solidFill>
          <a:ln/>
        </p:spPr>
      </p:sp>
      <p:sp>
        <p:nvSpPr>
          <p:cNvPr id="37" name="Text 35"/>
          <p:cNvSpPr/>
          <p:nvPr/>
        </p:nvSpPr>
        <p:spPr>
          <a:xfrm>
            <a:off x="8412480" y="4983480"/>
            <a:ext cx="3474720" cy="411480"/>
          </a:xfrm>
          <a:prstGeom prst="rect">
            <a:avLst/>
          </a:prstGeom>
          <a:noFill/>
          <a:ln/>
        </p:spPr>
        <p:txBody>
          <a:bodyPr wrap="square" lIns="0" tIns="0" rIns="0" bIns="0" rtlCol="0" anchor="t"/>
          <a:lstStyle/>
          <a:p>
            <a:pPr indent="0" marL="0">
              <a:buNone/>
            </a:pPr>
            <a:r>
              <a:rPr lang="en-US" sz="1200" dirty="0">
                <a:solidFill>
                  <a:srgbClr val="8A8A87"/>
                </a:solidFill>
                <a:latin typeface="Britti Sans, Helvetica Neue, Helvetica, Arial" pitchFamily="34" charset="0"/>
                <a:ea typeface="Britti Sans, Helvetica Neue, Helvetica, Arial" pitchFamily="34" charset="-122"/>
                <a:cs typeface="Britti Sans, Helvetica Neue, Helvetica, Arial" pitchFamily="34" charset="-120"/>
              </a:rPr>
              <a:t>Full ERP — AP, treasury, payments, fund admin</a:t>
            </a:r>
            <a:endParaRPr lang="en-US" sz="1200" dirty="0"/>
          </a:p>
        </p:txBody>
      </p:sp>
      <p:sp>
        <p:nvSpPr>
          <p:cNvPr id="38" name="Shape 36"/>
          <p:cNvSpPr/>
          <p:nvPr/>
        </p:nvSpPr>
        <p:spPr>
          <a:xfrm>
            <a:off x="8229600" y="5532120"/>
            <a:ext cx="73152" cy="73152"/>
          </a:xfrm>
          <a:prstGeom prst="rect">
            <a:avLst/>
          </a:prstGeom>
          <a:solidFill>
            <a:srgbClr val="ED2024"/>
          </a:solidFill>
          <a:ln/>
        </p:spPr>
      </p:sp>
      <p:sp>
        <p:nvSpPr>
          <p:cNvPr id="39" name="Text 37"/>
          <p:cNvSpPr/>
          <p:nvPr/>
        </p:nvSpPr>
        <p:spPr>
          <a:xfrm>
            <a:off x="8412480" y="5440680"/>
            <a:ext cx="3474720" cy="411480"/>
          </a:xfrm>
          <a:prstGeom prst="rect">
            <a:avLst/>
          </a:prstGeom>
          <a:noFill/>
          <a:ln/>
        </p:spPr>
        <p:txBody>
          <a:bodyPr wrap="square" lIns="0" tIns="0" rIns="0" bIns="0" rtlCol="0" anchor="t"/>
          <a:lstStyle/>
          <a:p>
            <a:pPr indent="0" marL="0">
              <a:buNone/>
            </a:pPr>
            <a:r>
              <a:rPr lang="en-US" sz="1200" dirty="0">
                <a:solidFill>
                  <a:srgbClr val="8A8A87"/>
                </a:solidFill>
                <a:latin typeface="Britti Sans, Helvetica Neue, Helvetica, Arial" pitchFamily="34" charset="0"/>
                <a:ea typeface="Britti Sans, Helvetica Neue, Helvetica, Arial" pitchFamily="34" charset="-122"/>
                <a:cs typeface="Britti Sans, Helvetica Neue, Helvetica, Arial" pitchFamily="34" charset="-120"/>
              </a:rPr>
              <a:t>AI built in. Tier + redaction visible per call.</a:t>
            </a:r>
            <a:endParaRPr lang="en-US" sz="1200" dirty="0"/>
          </a:p>
        </p:txBody>
      </p:sp>
      <p:sp>
        <p:nvSpPr>
          <p:cNvPr id="40" name="Text 38"/>
          <p:cNvSpPr/>
          <p:nvPr/>
        </p:nvSpPr>
        <p:spPr>
          <a:xfrm>
            <a:off x="640080" y="6446520"/>
            <a:ext cx="1828800" cy="274320"/>
          </a:xfrm>
          <a:prstGeom prst="rect">
            <a:avLst/>
          </a:prstGeom>
          <a:noFill/>
          <a:ln/>
        </p:spPr>
        <p:txBody>
          <a:bodyPr wrap="square" lIns="0" tIns="0" rIns="0" bIns="0" rtlCol="0" anchor="ctr"/>
          <a:lstStyle/>
          <a:p>
            <a:pPr indent="0" marL="0">
              <a:buNone/>
            </a:pPr>
            <a:r>
              <a:rPr lang="en-US" sz="800" spc="800" kern="0" dirty="0">
                <a:solidFill>
                  <a:srgbClr val="555552"/>
                </a:solidFill>
                <a:latin typeface="Menlo, Consolas, Courier New" pitchFamily="34" charset="0"/>
                <a:ea typeface="Menlo, Consolas, Courier New" pitchFamily="34" charset="-122"/>
                <a:cs typeface="Menlo, Consolas, Courier New" pitchFamily="34" charset="-120"/>
              </a:rPr>
              <a:t>CALIBER</a:t>
            </a:r>
            <a:endParaRPr lang="en-US" sz="800" dirty="0"/>
          </a:p>
        </p:txBody>
      </p:sp>
      <p:sp>
        <p:nvSpPr>
          <p:cNvPr id="41" name="Text 39"/>
          <p:cNvSpPr/>
          <p:nvPr/>
        </p:nvSpPr>
        <p:spPr>
          <a:xfrm>
            <a:off x="10972800" y="6446520"/>
            <a:ext cx="914400" cy="274320"/>
          </a:xfrm>
          <a:prstGeom prst="rect">
            <a:avLst/>
          </a:prstGeom>
          <a:noFill/>
          <a:ln/>
        </p:spPr>
        <p:txBody>
          <a:bodyPr wrap="square" lIns="0" tIns="0" rIns="0" bIns="0" rtlCol="0" anchor="ctr"/>
          <a:lstStyle/>
          <a:p>
            <a:pPr algn="r" indent="0" marL="0">
              <a:buNone/>
            </a:pPr>
            <a:r>
              <a:rPr lang="en-US" sz="800" spc="400" kern="0" dirty="0">
                <a:solidFill>
                  <a:srgbClr val="555552"/>
                </a:solidFill>
                <a:latin typeface="Menlo, Consolas, Courier New" pitchFamily="34" charset="0"/>
                <a:ea typeface="Menlo, Consolas, Courier New" pitchFamily="34" charset="-122"/>
                <a:cs typeface="Menlo, Consolas, Courier New" pitchFamily="34" charset="-120"/>
              </a:rPr>
              <a:t>08 / 13</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640080" y="502920"/>
            <a:ext cx="10972800" cy="274320"/>
          </a:xfrm>
          <a:prstGeom prst="rect">
            <a:avLst/>
          </a:prstGeom>
          <a:noFill/>
          <a:ln/>
        </p:spPr>
        <p:txBody>
          <a:bodyPr wrap="square" lIns="0" tIns="0" rIns="0" bIns="0" rtlCol="0" anchor="ctr"/>
          <a:lstStyle/>
          <a:p>
            <a:pPr indent="0" marL="0">
              <a:buNone/>
            </a:pPr>
            <a:r>
              <a:rPr lang="en-US" sz="1000" spc="800" kern="0" dirty="0">
                <a:solidFill>
                  <a:srgbClr val="ED2024"/>
                </a:solidFill>
                <a:latin typeface="Menlo, Consolas, Courier New" pitchFamily="34" charset="0"/>
                <a:ea typeface="Menlo, Consolas, Courier New" pitchFamily="34" charset="-122"/>
                <a:cs typeface="Menlo, Consolas, Courier New" pitchFamily="34" charset="-120"/>
              </a:rPr>
              <a:t>08 · ONBOARDING</a:t>
            </a:r>
            <a:endParaRPr lang="en-US" sz="1000" dirty="0"/>
          </a:p>
        </p:txBody>
      </p:sp>
      <p:sp>
        <p:nvSpPr>
          <p:cNvPr id="3" name="Text 1"/>
          <p:cNvSpPr/>
          <p:nvPr/>
        </p:nvSpPr>
        <p:spPr>
          <a:xfrm>
            <a:off x="640080" y="1005840"/>
            <a:ext cx="10972800" cy="822960"/>
          </a:xfrm>
          <a:prstGeom prst="rect">
            <a:avLst/>
          </a:prstGeom>
          <a:noFill/>
          <a:ln/>
        </p:spPr>
        <p:txBody>
          <a:bodyPr wrap="square" lIns="0" tIns="0" rIns="0" bIns="0" rtlCol="0" anchor="ctr"/>
          <a:lstStyle/>
          <a:p>
            <a:pPr indent="0" marL="0">
              <a:buNone/>
            </a:pPr>
            <a:r>
              <a:rPr lang="en-US" sz="4400" dirty="0">
                <a:solidFill>
                  <a:srgbClr val="F5F5F3"/>
                </a:solidFill>
                <a:latin typeface="Britti Sans, Helvetica Neue, Helvetica, Arial" pitchFamily="34" charset="0"/>
                <a:ea typeface="Britti Sans, Helvetica Neue, Helvetica, Arial" pitchFamily="34" charset="-122"/>
                <a:cs typeface="Britti Sans, Helvetica Neue, Helvetica, Arial" pitchFamily="34" charset="-120"/>
              </a:rPr>
              <a:t>16 connectors.</a:t>
            </a:r>
            <a:endParaRPr lang="en-US" sz="4400" dirty="0"/>
          </a:p>
        </p:txBody>
      </p:sp>
      <p:sp>
        <p:nvSpPr>
          <p:cNvPr id="4" name="Text 2"/>
          <p:cNvSpPr/>
          <p:nvPr/>
        </p:nvSpPr>
        <p:spPr>
          <a:xfrm>
            <a:off x="640080" y="1691640"/>
            <a:ext cx="10972800" cy="822960"/>
          </a:xfrm>
          <a:prstGeom prst="rect">
            <a:avLst/>
          </a:prstGeom>
          <a:noFill/>
          <a:ln/>
        </p:spPr>
        <p:txBody>
          <a:bodyPr wrap="square" lIns="0" tIns="0" rIns="0" bIns="0" rtlCol="0" anchor="ctr"/>
          <a:lstStyle/>
          <a:p>
            <a:pPr indent="0" marL="0">
              <a:buNone/>
            </a:pPr>
            <a:r>
              <a:rPr lang="en-US" sz="4400" dirty="0">
                <a:solidFill>
                  <a:srgbClr val="ED2024"/>
                </a:solidFill>
                <a:latin typeface="Britti Sans, Helvetica Neue, Helvetica, Arial" pitchFamily="34" charset="0"/>
                <a:ea typeface="Britti Sans, Helvetica Neue, Helvetica, Arial" pitchFamily="34" charset="-122"/>
                <a:cs typeface="Britti Sans, Helvetica Neue, Helvetica, Arial" pitchFamily="34" charset="-120"/>
              </a:rPr>
              <a:t>Live in an hour.</a:t>
            </a:r>
            <a:endParaRPr lang="en-US" sz="4400" dirty="0"/>
          </a:p>
        </p:txBody>
      </p:sp>
      <p:sp>
        <p:nvSpPr>
          <p:cNvPr id="5" name="Shape 3"/>
          <p:cNvSpPr/>
          <p:nvPr/>
        </p:nvSpPr>
        <p:spPr>
          <a:xfrm>
            <a:off x="640080" y="2788920"/>
            <a:ext cx="914400" cy="4572"/>
          </a:xfrm>
          <a:prstGeom prst="rect">
            <a:avLst/>
          </a:prstGeom>
          <a:solidFill>
            <a:srgbClr val="ED2024"/>
          </a:solidFill>
          <a:ln/>
        </p:spPr>
      </p:sp>
      <p:sp>
        <p:nvSpPr>
          <p:cNvPr id="6" name="Text 4"/>
          <p:cNvSpPr/>
          <p:nvPr/>
        </p:nvSpPr>
        <p:spPr>
          <a:xfrm>
            <a:off x="640080" y="3200400"/>
            <a:ext cx="10972800" cy="914400"/>
          </a:xfrm>
          <a:prstGeom prst="rect">
            <a:avLst/>
          </a:prstGeom>
          <a:noFill/>
          <a:ln/>
        </p:spPr>
        <p:txBody>
          <a:bodyPr wrap="square" lIns="0" tIns="0" rIns="0" bIns="0" rtlCol="0" anchor="t"/>
          <a:lstStyle/>
          <a:p>
            <a:pPr indent="0" marL="0">
              <a:buNone/>
            </a:pPr>
            <a:r>
              <a:rPr lang="en-US" sz="1400" dirty="0">
                <a:solidFill>
                  <a:srgbClr val="8A8A87"/>
                </a:solidFill>
                <a:latin typeface="Britti Sans, Helvetica Neue, Helvetica, Arial" pitchFamily="34" charset="0"/>
                <a:ea typeface="Britti Sans, Helvetica Neue, Helvetica, Arial" pitchFamily="34" charset="-122"/>
                <a:cs typeface="Britti Sans, Helvetica Neue, Helvetica, Arial" pitchFamily="34" charset="-120"/>
              </a:rPr>
              <a:t>Modern connector catalog UX. The customer picks the tools their team already uses, clicks Connect, walks through OAuth or pastes an API key. No services engagement. No consultants. No 8-week pilots.</a:t>
            </a:r>
            <a:endParaRPr lang="en-US" sz="1400" dirty="0"/>
          </a:p>
        </p:txBody>
      </p:sp>
      <p:sp>
        <p:nvSpPr>
          <p:cNvPr id="7" name="Text 5"/>
          <p:cNvSpPr/>
          <p:nvPr/>
        </p:nvSpPr>
        <p:spPr>
          <a:xfrm>
            <a:off x="640080" y="4434840"/>
            <a:ext cx="2514600" cy="228600"/>
          </a:xfrm>
          <a:prstGeom prst="rect">
            <a:avLst/>
          </a:prstGeom>
          <a:noFill/>
          <a:ln/>
        </p:spPr>
        <p:txBody>
          <a:bodyPr wrap="square" lIns="0" tIns="0" rIns="0" bIns="0" rtlCol="0" anchor="ctr"/>
          <a:lstStyle/>
          <a:p>
            <a:pPr indent="0" marL="0">
              <a:buNone/>
            </a:pPr>
            <a:r>
              <a:rPr lang="en-US" sz="900" spc="800" kern="0" dirty="0">
                <a:solidFill>
                  <a:srgbClr val="ED2024"/>
                </a:solidFill>
                <a:latin typeface="Menlo, Consolas, Courier New" pitchFamily="34" charset="0"/>
                <a:ea typeface="Menlo, Consolas, Courier New" pitchFamily="34" charset="-122"/>
                <a:cs typeface="Menlo, Consolas, Courier New" pitchFamily="34" charset="-120"/>
              </a:rPr>
              <a:t>ACCOUNTING</a:t>
            </a:r>
            <a:endParaRPr lang="en-US" sz="900" dirty="0"/>
          </a:p>
        </p:txBody>
      </p:sp>
      <p:sp>
        <p:nvSpPr>
          <p:cNvPr id="8" name="Shape 6"/>
          <p:cNvSpPr/>
          <p:nvPr/>
        </p:nvSpPr>
        <p:spPr>
          <a:xfrm>
            <a:off x="640080" y="4709160"/>
            <a:ext cx="2423160" cy="4572"/>
          </a:xfrm>
          <a:prstGeom prst="rect">
            <a:avLst/>
          </a:prstGeom>
          <a:solidFill>
            <a:srgbClr val="ED2024"/>
          </a:solidFill>
          <a:ln/>
        </p:spPr>
      </p:sp>
      <p:sp>
        <p:nvSpPr>
          <p:cNvPr id="9" name="Text 7"/>
          <p:cNvSpPr/>
          <p:nvPr/>
        </p:nvSpPr>
        <p:spPr>
          <a:xfrm>
            <a:off x="640080" y="4846320"/>
            <a:ext cx="2514600" cy="320040"/>
          </a:xfrm>
          <a:prstGeom prst="rect">
            <a:avLst/>
          </a:prstGeom>
          <a:noFill/>
          <a:ln/>
        </p:spPr>
        <p:txBody>
          <a:bodyPr wrap="square" lIns="0" tIns="0" rIns="0" bIns="0" rtlCol="0" anchor="ctr"/>
          <a:lstStyle/>
          <a:p>
            <a:pPr indent="0" marL="0">
              <a:buNone/>
            </a:pPr>
            <a:r>
              <a:rPr lang="en-US" sz="1500" dirty="0">
                <a:solidFill>
                  <a:srgbClr val="F5F5F3"/>
                </a:solidFill>
                <a:latin typeface="Britti Sans, Helvetica Neue, Helvetica, Arial" pitchFamily="34" charset="0"/>
                <a:ea typeface="Britti Sans, Helvetica Neue, Helvetica, Arial" pitchFamily="34" charset="-122"/>
                <a:cs typeface="Britti Sans, Helvetica Neue, Helvetica, Arial" pitchFamily="34" charset="-120"/>
              </a:rPr>
              <a:t>Banana</a:t>
            </a:r>
            <a:endParaRPr lang="en-US" sz="1500" dirty="0"/>
          </a:p>
        </p:txBody>
      </p:sp>
      <p:sp>
        <p:nvSpPr>
          <p:cNvPr id="10" name="Text 8"/>
          <p:cNvSpPr/>
          <p:nvPr/>
        </p:nvSpPr>
        <p:spPr>
          <a:xfrm>
            <a:off x="640080" y="5212080"/>
            <a:ext cx="2514600" cy="320040"/>
          </a:xfrm>
          <a:prstGeom prst="rect">
            <a:avLst/>
          </a:prstGeom>
          <a:noFill/>
          <a:ln/>
        </p:spPr>
        <p:txBody>
          <a:bodyPr wrap="square" lIns="0" tIns="0" rIns="0" bIns="0" rtlCol="0" anchor="ctr"/>
          <a:lstStyle/>
          <a:p>
            <a:pPr indent="0" marL="0">
              <a:buNone/>
            </a:pPr>
            <a:r>
              <a:rPr lang="en-US" sz="1500" dirty="0">
                <a:solidFill>
                  <a:srgbClr val="F5F5F3"/>
                </a:solidFill>
                <a:latin typeface="Britti Sans, Helvetica Neue, Helvetica, Arial" pitchFamily="34" charset="0"/>
                <a:ea typeface="Britti Sans, Helvetica Neue, Helvetica, Arial" pitchFamily="34" charset="-122"/>
                <a:cs typeface="Britti Sans, Helvetica Neue, Helvetica, Arial" pitchFamily="34" charset="-120"/>
              </a:rPr>
              <a:t>QuickBooks</a:t>
            </a:r>
            <a:endParaRPr lang="en-US" sz="1500" dirty="0"/>
          </a:p>
        </p:txBody>
      </p:sp>
      <p:sp>
        <p:nvSpPr>
          <p:cNvPr id="11" name="Text 9"/>
          <p:cNvSpPr/>
          <p:nvPr/>
        </p:nvSpPr>
        <p:spPr>
          <a:xfrm>
            <a:off x="640080" y="5577840"/>
            <a:ext cx="2514600" cy="320040"/>
          </a:xfrm>
          <a:prstGeom prst="rect">
            <a:avLst/>
          </a:prstGeom>
          <a:noFill/>
          <a:ln/>
        </p:spPr>
        <p:txBody>
          <a:bodyPr wrap="square" lIns="0" tIns="0" rIns="0" bIns="0" rtlCol="0" anchor="ctr"/>
          <a:lstStyle/>
          <a:p>
            <a:pPr indent="0" marL="0">
              <a:buNone/>
            </a:pPr>
            <a:r>
              <a:rPr lang="en-US" sz="1500" dirty="0">
                <a:solidFill>
                  <a:srgbClr val="F5F5F3"/>
                </a:solidFill>
                <a:latin typeface="Britti Sans, Helvetica Neue, Helvetica, Arial" pitchFamily="34" charset="0"/>
                <a:ea typeface="Britti Sans, Helvetica Neue, Helvetica, Arial" pitchFamily="34" charset="-122"/>
                <a:cs typeface="Britti Sans, Helvetica Neue, Helvetica, Arial" pitchFamily="34" charset="-120"/>
              </a:rPr>
              <a:t>Xero</a:t>
            </a:r>
            <a:endParaRPr lang="en-US" sz="1500" dirty="0"/>
          </a:p>
        </p:txBody>
      </p:sp>
      <p:sp>
        <p:nvSpPr>
          <p:cNvPr id="12" name="Text 10"/>
          <p:cNvSpPr/>
          <p:nvPr/>
        </p:nvSpPr>
        <p:spPr>
          <a:xfrm>
            <a:off x="640080" y="5943600"/>
            <a:ext cx="2514600" cy="320040"/>
          </a:xfrm>
          <a:prstGeom prst="rect">
            <a:avLst/>
          </a:prstGeom>
          <a:noFill/>
          <a:ln/>
        </p:spPr>
        <p:txBody>
          <a:bodyPr wrap="square" lIns="0" tIns="0" rIns="0" bIns="0" rtlCol="0" anchor="ctr"/>
          <a:lstStyle/>
          <a:p>
            <a:pPr indent="0" marL="0">
              <a:buNone/>
            </a:pPr>
            <a:r>
              <a:rPr lang="en-US" sz="1500" dirty="0">
                <a:solidFill>
                  <a:srgbClr val="F5F5F3"/>
                </a:solidFill>
                <a:latin typeface="Britti Sans, Helvetica Neue, Helvetica, Arial" pitchFamily="34" charset="0"/>
                <a:ea typeface="Britti Sans, Helvetica Neue, Helvetica, Arial" pitchFamily="34" charset="-122"/>
                <a:cs typeface="Britti Sans, Helvetica Neue, Helvetica, Arial" pitchFamily="34" charset="-120"/>
              </a:rPr>
              <a:t>NetSuite</a:t>
            </a:r>
            <a:endParaRPr lang="en-US" sz="1500" dirty="0"/>
          </a:p>
        </p:txBody>
      </p:sp>
      <p:sp>
        <p:nvSpPr>
          <p:cNvPr id="13" name="Text 11"/>
          <p:cNvSpPr/>
          <p:nvPr/>
        </p:nvSpPr>
        <p:spPr>
          <a:xfrm>
            <a:off x="3429000" y="4434840"/>
            <a:ext cx="2514600" cy="228600"/>
          </a:xfrm>
          <a:prstGeom prst="rect">
            <a:avLst/>
          </a:prstGeom>
          <a:noFill/>
          <a:ln/>
        </p:spPr>
        <p:txBody>
          <a:bodyPr wrap="square" lIns="0" tIns="0" rIns="0" bIns="0" rtlCol="0" anchor="ctr"/>
          <a:lstStyle/>
          <a:p>
            <a:pPr indent="0" marL="0">
              <a:buNone/>
            </a:pPr>
            <a:r>
              <a:rPr lang="en-US" sz="900" spc="800" kern="0" dirty="0">
                <a:solidFill>
                  <a:srgbClr val="ED2024"/>
                </a:solidFill>
                <a:latin typeface="Menlo, Consolas, Courier New" pitchFamily="34" charset="0"/>
                <a:ea typeface="Menlo, Consolas, Courier New" pitchFamily="34" charset="-122"/>
                <a:cs typeface="Menlo, Consolas, Courier New" pitchFamily="34" charset="-120"/>
              </a:rPr>
              <a:t>BANKING</a:t>
            </a:r>
            <a:endParaRPr lang="en-US" sz="900" dirty="0"/>
          </a:p>
        </p:txBody>
      </p:sp>
      <p:sp>
        <p:nvSpPr>
          <p:cNvPr id="14" name="Shape 12"/>
          <p:cNvSpPr/>
          <p:nvPr/>
        </p:nvSpPr>
        <p:spPr>
          <a:xfrm>
            <a:off x="3429000" y="4709160"/>
            <a:ext cx="2423160" cy="4572"/>
          </a:xfrm>
          <a:prstGeom prst="rect">
            <a:avLst/>
          </a:prstGeom>
          <a:solidFill>
            <a:srgbClr val="ED2024"/>
          </a:solidFill>
          <a:ln/>
        </p:spPr>
      </p:sp>
      <p:sp>
        <p:nvSpPr>
          <p:cNvPr id="15" name="Text 13"/>
          <p:cNvSpPr/>
          <p:nvPr/>
        </p:nvSpPr>
        <p:spPr>
          <a:xfrm>
            <a:off x="3429000" y="4846320"/>
            <a:ext cx="2514600" cy="320040"/>
          </a:xfrm>
          <a:prstGeom prst="rect">
            <a:avLst/>
          </a:prstGeom>
          <a:noFill/>
          <a:ln/>
        </p:spPr>
        <p:txBody>
          <a:bodyPr wrap="square" lIns="0" tIns="0" rIns="0" bIns="0" rtlCol="0" anchor="ctr"/>
          <a:lstStyle/>
          <a:p>
            <a:pPr indent="0" marL="0">
              <a:buNone/>
            </a:pPr>
            <a:r>
              <a:rPr lang="en-US" sz="1500" dirty="0">
                <a:solidFill>
                  <a:srgbClr val="F5F5F3"/>
                </a:solidFill>
                <a:latin typeface="Britti Sans, Helvetica Neue, Helvetica, Arial" pitchFamily="34" charset="0"/>
                <a:ea typeface="Britti Sans, Helvetica Neue, Helvetica, Arial" pitchFamily="34" charset="-122"/>
                <a:cs typeface="Britti Sans, Helvetica Neue, Helvetica, Arial" pitchFamily="34" charset="-120"/>
              </a:rPr>
              <a:t>Sygnum</a:t>
            </a:r>
            <a:endParaRPr lang="en-US" sz="1500" dirty="0"/>
          </a:p>
        </p:txBody>
      </p:sp>
      <p:sp>
        <p:nvSpPr>
          <p:cNvPr id="16" name="Text 14"/>
          <p:cNvSpPr/>
          <p:nvPr/>
        </p:nvSpPr>
        <p:spPr>
          <a:xfrm>
            <a:off x="3429000" y="5212080"/>
            <a:ext cx="2514600" cy="320040"/>
          </a:xfrm>
          <a:prstGeom prst="rect">
            <a:avLst/>
          </a:prstGeom>
          <a:noFill/>
          <a:ln/>
        </p:spPr>
        <p:txBody>
          <a:bodyPr wrap="square" lIns="0" tIns="0" rIns="0" bIns="0" rtlCol="0" anchor="ctr"/>
          <a:lstStyle/>
          <a:p>
            <a:pPr indent="0" marL="0">
              <a:buNone/>
            </a:pPr>
            <a:r>
              <a:rPr lang="en-US" sz="1500" dirty="0">
                <a:solidFill>
                  <a:srgbClr val="F5F5F3"/>
                </a:solidFill>
                <a:latin typeface="Britti Sans, Helvetica Neue, Helvetica, Arial" pitchFamily="34" charset="0"/>
                <a:ea typeface="Britti Sans, Helvetica Neue, Helvetica, Arial" pitchFamily="34" charset="-122"/>
                <a:cs typeface="Britti Sans, Helvetica Neue, Helvetica, Arial" pitchFamily="34" charset="-120"/>
              </a:rPr>
              <a:t>Wise</a:t>
            </a:r>
            <a:endParaRPr lang="en-US" sz="1500" dirty="0"/>
          </a:p>
        </p:txBody>
      </p:sp>
      <p:sp>
        <p:nvSpPr>
          <p:cNvPr id="17" name="Text 15"/>
          <p:cNvSpPr/>
          <p:nvPr/>
        </p:nvSpPr>
        <p:spPr>
          <a:xfrm>
            <a:off x="3429000" y="5577840"/>
            <a:ext cx="2514600" cy="320040"/>
          </a:xfrm>
          <a:prstGeom prst="rect">
            <a:avLst/>
          </a:prstGeom>
          <a:noFill/>
          <a:ln/>
        </p:spPr>
        <p:txBody>
          <a:bodyPr wrap="square" lIns="0" tIns="0" rIns="0" bIns="0" rtlCol="0" anchor="ctr"/>
          <a:lstStyle/>
          <a:p>
            <a:pPr indent="0" marL="0">
              <a:buNone/>
            </a:pPr>
            <a:r>
              <a:rPr lang="en-US" sz="1500" dirty="0">
                <a:solidFill>
                  <a:srgbClr val="F5F5F3"/>
                </a:solidFill>
                <a:latin typeface="Britti Sans, Helvetica Neue, Helvetica, Arial" pitchFamily="34" charset="0"/>
                <a:ea typeface="Britti Sans, Helvetica Neue, Helvetica, Arial" pitchFamily="34" charset="-122"/>
                <a:cs typeface="Britti Sans, Helvetica Neue, Helvetica, Arial" pitchFamily="34" charset="-120"/>
              </a:rPr>
              <a:t>Plaid</a:t>
            </a:r>
            <a:endParaRPr lang="en-US" sz="1500" dirty="0"/>
          </a:p>
        </p:txBody>
      </p:sp>
      <p:sp>
        <p:nvSpPr>
          <p:cNvPr id="18" name="Text 16"/>
          <p:cNvSpPr/>
          <p:nvPr/>
        </p:nvSpPr>
        <p:spPr>
          <a:xfrm>
            <a:off x="3429000" y="5943600"/>
            <a:ext cx="2514600" cy="320040"/>
          </a:xfrm>
          <a:prstGeom prst="rect">
            <a:avLst/>
          </a:prstGeom>
          <a:noFill/>
          <a:ln/>
        </p:spPr>
        <p:txBody>
          <a:bodyPr wrap="square" lIns="0" tIns="0" rIns="0" bIns="0" rtlCol="0" anchor="ctr"/>
          <a:lstStyle/>
          <a:p>
            <a:pPr indent="0" marL="0">
              <a:buNone/>
            </a:pPr>
            <a:r>
              <a:rPr lang="en-US" sz="1500" dirty="0">
                <a:solidFill>
                  <a:srgbClr val="F5F5F3"/>
                </a:solidFill>
                <a:latin typeface="Britti Sans, Helvetica Neue, Helvetica, Arial" pitchFamily="34" charset="0"/>
                <a:ea typeface="Britti Sans, Helvetica Neue, Helvetica, Arial" pitchFamily="34" charset="-122"/>
                <a:cs typeface="Britti Sans, Helvetica Neue, Helvetica, Arial" pitchFamily="34" charset="-120"/>
              </a:rPr>
              <a:t>ether.fi</a:t>
            </a:r>
            <a:endParaRPr lang="en-US" sz="1500" dirty="0"/>
          </a:p>
        </p:txBody>
      </p:sp>
      <p:sp>
        <p:nvSpPr>
          <p:cNvPr id="19" name="Text 17"/>
          <p:cNvSpPr/>
          <p:nvPr/>
        </p:nvSpPr>
        <p:spPr>
          <a:xfrm>
            <a:off x="6217920" y="4434840"/>
            <a:ext cx="2514600" cy="228600"/>
          </a:xfrm>
          <a:prstGeom prst="rect">
            <a:avLst/>
          </a:prstGeom>
          <a:noFill/>
          <a:ln/>
        </p:spPr>
        <p:txBody>
          <a:bodyPr wrap="square" lIns="0" tIns="0" rIns="0" bIns="0" rtlCol="0" anchor="ctr"/>
          <a:lstStyle/>
          <a:p>
            <a:pPr indent="0" marL="0">
              <a:buNone/>
            </a:pPr>
            <a:r>
              <a:rPr lang="en-US" sz="900" spc="800" kern="0" dirty="0">
                <a:solidFill>
                  <a:srgbClr val="ED2024"/>
                </a:solidFill>
                <a:latin typeface="Menlo, Consolas, Courier New" pitchFamily="34" charset="0"/>
                <a:ea typeface="Menlo, Consolas, Courier New" pitchFamily="34" charset="-122"/>
                <a:cs typeface="Menlo, Consolas, Courier New" pitchFamily="34" charset="-120"/>
              </a:rPr>
              <a:t>DOCUMENTS</a:t>
            </a:r>
            <a:endParaRPr lang="en-US" sz="900" dirty="0"/>
          </a:p>
        </p:txBody>
      </p:sp>
      <p:sp>
        <p:nvSpPr>
          <p:cNvPr id="20" name="Shape 18"/>
          <p:cNvSpPr/>
          <p:nvPr/>
        </p:nvSpPr>
        <p:spPr>
          <a:xfrm>
            <a:off x="6217920" y="4709160"/>
            <a:ext cx="2423160" cy="4572"/>
          </a:xfrm>
          <a:prstGeom prst="rect">
            <a:avLst/>
          </a:prstGeom>
          <a:solidFill>
            <a:srgbClr val="ED2024"/>
          </a:solidFill>
          <a:ln/>
        </p:spPr>
      </p:sp>
      <p:sp>
        <p:nvSpPr>
          <p:cNvPr id="21" name="Text 19"/>
          <p:cNvSpPr/>
          <p:nvPr/>
        </p:nvSpPr>
        <p:spPr>
          <a:xfrm>
            <a:off x="6217920" y="4846320"/>
            <a:ext cx="2514600" cy="320040"/>
          </a:xfrm>
          <a:prstGeom prst="rect">
            <a:avLst/>
          </a:prstGeom>
          <a:noFill/>
          <a:ln/>
        </p:spPr>
        <p:txBody>
          <a:bodyPr wrap="square" lIns="0" tIns="0" rIns="0" bIns="0" rtlCol="0" anchor="ctr"/>
          <a:lstStyle/>
          <a:p>
            <a:pPr indent="0" marL="0">
              <a:buNone/>
            </a:pPr>
            <a:r>
              <a:rPr lang="en-US" sz="1500" dirty="0">
                <a:solidFill>
                  <a:srgbClr val="F5F5F3"/>
                </a:solidFill>
                <a:latin typeface="Britti Sans, Helvetica Neue, Helvetica, Arial" pitchFamily="34" charset="0"/>
                <a:ea typeface="Britti Sans, Helvetica Neue, Helvetica, Arial" pitchFamily="34" charset="-122"/>
                <a:cs typeface="Britti Sans, Helvetica Neue, Helvetica, Arial" pitchFamily="34" charset="-120"/>
              </a:rPr>
              <a:t>Drive</a:t>
            </a:r>
            <a:endParaRPr lang="en-US" sz="1500" dirty="0"/>
          </a:p>
        </p:txBody>
      </p:sp>
      <p:sp>
        <p:nvSpPr>
          <p:cNvPr id="22" name="Text 20"/>
          <p:cNvSpPr/>
          <p:nvPr/>
        </p:nvSpPr>
        <p:spPr>
          <a:xfrm>
            <a:off x="6217920" y="5212080"/>
            <a:ext cx="2514600" cy="320040"/>
          </a:xfrm>
          <a:prstGeom prst="rect">
            <a:avLst/>
          </a:prstGeom>
          <a:noFill/>
          <a:ln/>
        </p:spPr>
        <p:txBody>
          <a:bodyPr wrap="square" lIns="0" tIns="0" rIns="0" bIns="0" rtlCol="0" anchor="ctr"/>
          <a:lstStyle/>
          <a:p>
            <a:pPr indent="0" marL="0">
              <a:buNone/>
            </a:pPr>
            <a:r>
              <a:rPr lang="en-US" sz="1500" dirty="0">
                <a:solidFill>
                  <a:srgbClr val="F5F5F3"/>
                </a:solidFill>
                <a:latin typeface="Britti Sans, Helvetica Neue, Helvetica, Arial" pitchFamily="34" charset="0"/>
                <a:ea typeface="Britti Sans, Helvetica Neue, Helvetica, Arial" pitchFamily="34" charset="-122"/>
                <a:cs typeface="Britti Sans, Helvetica Neue, Helvetica, Arial" pitchFamily="34" charset="-120"/>
              </a:rPr>
              <a:t>Sheets</a:t>
            </a:r>
            <a:endParaRPr lang="en-US" sz="1500" dirty="0"/>
          </a:p>
        </p:txBody>
      </p:sp>
      <p:sp>
        <p:nvSpPr>
          <p:cNvPr id="23" name="Text 21"/>
          <p:cNvSpPr/>
          <p:nvPr/>
        </p:nvSpPr>
        <p:spPr>
          <a:xfrm>
            <a:off x="6217920" y="5577840"/>
            <a:ext cx="2514600" cy="320040"/>
          </a:xfrm>
          <a:prstGeom prst="rect">
            <a:avLst/>
          </a:prstGeom>
          <a:noFill/>
          <a:ln/>
        </p:spPr>
        <p:txBody>
          <a:bodyPr wrap="square" lIns="0" tIns="0" rIns="0" bIns="0" rtlCol="0" anchor="ctr"/>
          <a:lstStyle/>
          <a:p>
            <a:pPr indent="0" marL="0">
              <a:buNone/>
            </a:pPr>
            <a:r>
              <a:rPr lang="en-US" sz="1500" dirty="0">
                <a:solidFill>
                  <a:srgbClr val="F5F5F3"/>
                </a:solidFill>
                <a:latin typeface="Britti Sans, Helvetica Neue, Helvetica, Arial" pitchFamily="34" charset="0"/>
                <a:ea typeface="Britti Sans, Helvetica Neue, Helvetica, Arial" pitchFamily="34" charset="-122"/>
                <a:cs typeface="Britti Sans, Helvetica Neue, Helvetica, Arial" pitchFamily="34" charset="-120"/>
              </a:rPr>
              <a:t>Dropbox</a:t>
            </a:r>
            <a:endParaRPr lang="en-US" sz="1500" dirty="0"/>
          </a:p>
        </p:txBody>
      </p:sp>
      <p:sp>
        <p:nvSpPr>
          <p:cNvPr id="24" name="Text 22"/>
          <p:cNvSpPr/>
          <p:nvPr/>
        </p:nvSpPr>
        <p:spPr>
          <a:xfrm>
            <a:off x="6217920" y="5943600"/>
            <a:ext cx="2514600" cy="320040"/>
          </a:xfrm>
          <a:prstGeom prst="rect">
            <a:avLst/>
          </a:prstGeom>
          <a:noFill/>
          <a:ln/>
        </p:spPr>
        <p:txBody>
          <a:bodyPr wrap="square" lIns="0" tIns="0" rIns="0" bIns="0" rtlCol="0" anchor="ctr"/>
          <a:lstStyle/>
          <a:p>
            <a:pPr indent="0" marL="0">
              <a:buNone/>
            </a:pPr>
            <a:r>
              <a:rPr lang="en-US" sz="1500" dirty="0">
                <a:solidFill>
                  <a:srgbClr val="F5F5F3"/>
                </a:solidFill>
                <a:latin typeface="Britti Sans, Helvetica Neue, Helvetica, Arial" pitchFamily="34" charset="0"/>
                <a:ea typeface="Britti Sans, Helvetica Neue, Helvetica, Arial" pitchFamily="34" charset="-122"/>
                <a:cs typeface="Britti Sans, Helvetica Neue, Helvetica, Arial" pitchFamily="34" charset="-120"/>
              </a:rPr>
              <a:t>OneDrive</a:t>
            </a:r>
            <a:endParaRPr lang="en-US" sz="1500" dirty="0"/>
          </a:p>
        </p:txBody>
      </p:sp>
      <p:sp>
        <p:nvSpPr>
          <p:cNvPr id="25" name="Text 23"/>
          <p:cNvSpPr/>
          <p:nvPr/>
        </p:nvSpPr>
        <p:spPr>
          <a:xfrm>
            <a:off x="9006840" y="4434840"/>
            <a:ext cx="2514600" cy="228600"/>
          </a:xfrm>
          <a:prstGeom prst="rect">
            <a:avLst/>
          </a:prstGeom>
          <a:noFill/>
          <a:ln/>
        </p:spPr>
        <p:txBody>
          <a:bodyPr wrap="square" lIns="0" tIns="0" rIns="0" bIns="0" rtlCol="0" anchor="ctr"/>
          <a:lstStyle/>
          <a:p>
            <a:pPr indent="0" marL="0">
              <a:buNone/>
            </a:pPr>
            <a:r>
              <a:rPr lang="en-US" sz="900" spc="800" kern="0" dirty="0">
                <a:solidFill>
                  <a:srgbClr val="ED2024"/>
                </a:solidFill>
                <a:latin typeface="Menlo, Consolas, Courier New" pitchFamily="34" charset="0"/>
                <a:ea typeface="Menlo, Consolas, Courier New" pitchFamily="34" charset="-122"/>
                <a:cs typeface="Menlo, Consolas, Courier New" pitchFamily="34" charset="-120"/>
              </a:rPr>
              <a:t>FUND / DATA</a:t>
            </a:r>
            <a:endParaRPr lang="en-US" sz="900" dirty="0"/>
          </a:p>
        </p:txBody>
      </p:sp>
      <p:sp>
        <p:nvSpPr>
          <p:cNvPr id="26" name="Shape 24"/>
          <p:cNvSpPr/>
          <p:nvPr/>
        </p:nvSpPr>
        <p:spPr>
          <a:xfrm>
            <a:off x="9006840" y="4709160"/>
            <a:ext cx="2423160" cy="4572"/>
          </a:xfrm>
          <a:prstGeom prst="rect">
            <a:avLst/>
          </a:prstGeom>
          <a:solidFill>
            <a:srgbClr val="ED2024"/>
          </a:solidFill>
          <a:ln/>
        </p:spPr>
      </p:sp>
      <p:sp>
        <p:nvSpPr>
          <p:cNvPr id="27" name="Text 25"/>
          <p:cNvSpPr/>
          <p:nvPr/>
        </p:nvSpPr>
        <p:spPr>
          <a:xfrm>
            <a:off x="9006840" y="4846320"/>
            <a:ext cx="2514600" cy="320040"/>
          </a:xfrm>
          <a:prstGeom prst="rect">
            <a:avLst/>
          </a:prstGeom>
          <a:noFill/>
          <a:ln/>
        </p:spPr>
        <p:txBody>
          <a:bodyPr wrap="square" lIns="0" tIns="0" rIns="0" bIns="0" rtlCol="0" anchor="ctr"/>
          <a:lstStyle/>
          <a:p>
            <a:pPr indent="0" marL="0">
              <a:buNone/>
            </a:pPr>
            <a:r>
              <a:rPr lang="en-US" sz="1500" dirty="0">
                <a:solidFill>
                  <a:srgbClr val="F5F5F3"/>
                </a:solidFill>
                <a:latin typeface="Britti Sans, Helvetica Neue, Helvetica, Arial" pitchFamily="34" charset="0"/>
                <a:ea typeface="Britti Sans, Helvetica Neue, Helvetica, Arial" pitchFamily="34" charset="-122"/>
                <a:cs typeface="Britti Sans, Helvetica Neue, Helvetica, Arial" pitchFamily="34" charset="-120"/>
              </a:rPr>
              <a:t>NAVC</a:t>
            </a:r>
            <a:endParaRPr lang="en-US" sz="1500" dirty="0"/>
          </a:p>
        </p:txBody>
      </p:sp>
      <p:sp>
        <p:nvSpPr>
          <p:cNvPr id="28" name="Text 26"/>
          <p:cNvSpPr/>
          <p:nvPr/>
        </p:nvSpPr>
        <p:spPr>
          <a:xfrm>
            <a:off x="9006840" y="5212080"/>
            <a:ext cx="2514600" cy="320040"/>
          </a:xfrm>
          <a:prstGeom prst="rect">
            <a:avLst/>
          </a:prstGeom>
          <a:noFill/>
          <a:ln/>
        </p:spPr>
        <p:txBody>
          <a:bodyPr wrap="square" lIns="0" tIns="0" rIns="0" bIns="0" rtlCol="0" anchor="ctr"/>
          <a:lstStyle/>
          <a:p>
            <a:pPr indent="0" marL="0">
              <a:buNone/>
            </a:pPr>
            <a:r>
              <a:rPr lang="en-US" sz="1500" dirty="0">
                <a:solidFill>
                  <a:srgbClr val="F5F5F3"/>
                </a:solidFill>
                <a:latin typeface="Britti Sans, Helvetica Neue, Helvetica, Arial" pitchFamily="34" charset="0"/>
                <a:ea typeface="Britti Sans, Helvetica Neue, Helvetica, Arial" pitchFamily="34" charset="-122"/>
                <a:cs typeface="Britti Sans, Helvetica Neue, Helvetica, Arial" pitchFamily="34" charset="-120"/>
              </a:rPr>
              <a:t>SS&amp;C</a:t>
            </a:r>
            <a:endParaRPr lang="en-US" sz="1500" dirty="0"/>
          </a:p>
        </p:txBody>
      </p:sp>
      <p:sp>
        <p:nvSpPr>
          <p:cNvPr id="29" name="Text 27"/>
          <p:cNvSpPr/>
          <p:nvPr/>
        </p:nvSpPr>
        <p:spPr>
          <a:xfrm>
            <a:off x="9006840" y="5577840"/>
            <a:ext cx="2514600" cy="320040"/>
          </a:xfrm>
          <a:prstGeom prst="rect">
            <a:avLst/>
          </a:prstGeom>
          <a:noFill/>
          <a:ln/>
        </p:spPr>
        <p:txBody>
          <a:bodyPr wrap="square" lIns="0" tIns="0" rIns="0" bIns="0" rtlCol="0" anchor="ctr"/>
          <a:lstStyle/>
          <a:p>
            <a:pPr indent="0" marL="0">
              <a:buNone/>
            </a:pPr>
            <a:r>
              <a:rPr lang="en-US" sz="1500" dirty="0">
                <a:solidFill>
                  <a:srgbClr val="F5F5F3"/>
                </a:solidFill>
                <a:latin typeface="Britti Sans, Helvetica Neue, Helvetica, Arial" pitchFamily="34" charset="0"/>
                <a:ea typeface="Britti Sans, Helvetica Neue, Helvetica, Arial" pitchFamily="34" charset="-122"/>
                <a:cs typeface="Britti Sans, Helvetica Neue, Helvetica, Arial" pitchFamily="34" charset="-120"/>
              </a:rPr>
              <a:t>BigQuery</a:t>
            </a:r>
            <a:endParaRPr lang="en-US" sz="1500" dirty="0"/>
          </a:p>
        </p:txBody>
      </p:sp>
      <p:sp>
        <p:nvSpPr>
          <p:cNvPr id="30" name="Text 28"/>
          <p:cNvSpPr/>
          <p:nvPr/>
        </p:nvSpPr>
        <p:spPr>
          <a:xfrm>
            <a:off x="9006840" y="5943600"/>
            <a:ext cx="2514600" cy="320040"/>
          </a:xfrm>
          <a:prstGeom prst="rect">
            <a:avLst/>
          </a:prstGeom>
          <a:noFill/>
          <a:ln/>
        </p:spPr>
        <p:txBody>
          <a:bodyPr wrap="square" lIns="0" tIns="0" rIns="0" bIns="0" rtlCol="0" anchor="ctr"/>
          <a:lstStyle/>
          <a:p>
            <a:pPr indent="0" marL="0">
              <a:buNone/>
            </a:pPr>
            <a:r>
              <a:rPr lang="en-US" sz="1500" dirty="0">
                <a:solidFill>
                  <a:srgbClr val="F5F5F3"/>
                </a:solidFill>
                <a:latin typeface="Britti Sans, Helvetica Neue, Helvetica, Arial" pitchFamily="34" charset="0"/>
                <a:ea typeface="Britti Sans, Helvetica Neue, Helvetica, Arial" pitchFamily="34" charset="-122"/>
                <a:cs typeface="Britti Sans, Helvetica Neue, Helvetica, Arial" pitchFamily="34" charset="-120"/>
              </a:rPr>
              <a:t>Snowflake</a:t>
            </a:r>
            <a:endParaRPr lang="en-US" sz="1500" dirty="0"/>
          </a:p>
        </p:txBody>
      </p:sp>
      <p:sp>
        <p:nvSpPr>
          <p:cNvPr id="31" name="Text 29"/>
          <p:cNvSpPr/>
          <p:nvPr/>
        </p:nvSpPr>
        <p:spPr>
          <a:xfrm>
            <a:off x="640080" y="6446520"/>
            <a:ext cx="1828800" cy="274320"/>
          </a:xfrm>
          <a:prstGeom prst="rect">
            <a:avLst/>
          </a:prstGeom>
          <a:noFill/>
          <a:ln/>
        </p:spPr>
        <p:txBody>
          <a:bodyPr wrap="square" lIns="0" tIns="0" rIns="0" bIns="0" rtlCol="0" anchor="ctr"/>
          <a:lstStyle/>
          <a:p>
            <a:pPr indent="0" marL="0">
              <a:buNone/>
            </a:pPr>
            <a:r>
              <a:rPr lang="en-US" sz="800" spc="800" kern="0" dirty="0">
                <a:solidFill>
                  <a:srgbClr val="555552"/>
                </a:solidFill>
                <a:latin typeface="Menlo, Consolas, Courier New" pitchFamily="34" charset="0"/>
                <a:ea typeface="Menlo, Consolas, Courier New" pitchFamily="34" charset="-122"/>
                <a:cs typeface="Menlo, Consolas, Courier New" pitchFamily="34" charset="-120"/>
              </a:rPr>
              <a:t>CALIBER</a:t>
            </a:r>
            <a:endParaRPr lang="en-US" sz="800" dirty="0"/>
          </a:p>
        </p:txBody>
      </p:sp>
      <p:sp>
        <p:nvSpPr>
          <p:cNvPr id="32" name="Text 30"/>
          <p:cNvSpPr/>
          <p:nvPr/>
        </p:nvSpPr>
        <p:spPr>
          <a:xfrm>
            <a:off x="10972800" y="6446520"/>
            <a:ext cx="914400" cy="274320"/>
          </a:xfrm>
          <a:prstGeom prst="rect">
            <a:avLst/>
          </a:prstGeom>
          <a:noFill/>
          <a:ln/>
        </p:spPr>
        <p:txBody>
          <a:bodyPr wrap="square" lIns="0" tIns="0" rIns="0" bIns="0" rtlCol="0" anchor="ctr"/>
          <a:lstStyle/>
          <a:p>
            <a:pPr algn="r" indent="0" marL="0">
              <a:buNone/>
            </a:pPr>
            <a:r>
              <a:rPr lang="en-US" sz="800" spc="400" kern="0" dirty="0">
                <a:solidFill>
                  <a:srgbClr val="555552"/>
                </a:solidFill>
                <a:latin typeface="Menlo, Consolas, Courier New" pitchFamily="34" charset="0"/>
                <a:ea typeface="Menlo, Consolas, Courier New" pitchFamily="34" charset="-122"/>
                <a:cs typeface="Menlo, Consolas, Courier New" pitchFamily="34" charset="-120"/>
              </a:rPr>
              <a:t>09 / 13</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640080" y="502920"/>
            <a:ext cx="10972800" cy="274320"/>
          </a:xfrm>
          <a:prstGeom prst="rect">
            <a:avLst/>
          </a:prstGeom>
          <a:noFill/>
          <a:ln/>
        </p:spPr>
        <p:txBody>
          <a:bodyPr wrap="square" lIns="0" tIns="0" rIns="0" bIns="0" rtlCol="0" anchor="ctr"/>
          <a:lstStyle/>
          <a:p>
            <a:pPr indent="0" marL="0">
              <a:buNone/>
            </a:pPr>
            <a:r>
              <a:rPr lang="en-US" sz="1000" spc="800" kern="0" dirty="0">
                <a:solidFill>
                  <a:srgbClr val="ED2024"/>
                </a:solidFill>
                <a:latin typeface="Menlo, Consolas, Courier New" pitchFamily="34" charset="0"/>
                <a:ea typeface="Menlo, Consolas, Courier New" pitchFamily="34" charset="-122"/>
                <a:cs typeface="Menlo, Consolas, Courier New" pitchFamily="34" charset="-120"/>
              </a:rPr>
              <a:t>09 · COMPLIANCE POSTURE</a:t>
            </a:r>
            <a:endParaRPr lang="en-US" sz="1000" dirty="0"/>
          </a:p>
        </p:txBody>
      </p:sp>
      <p:sp>
        <p:nvSpPr>
          <p:cNvPr id="3" name="Text 1"/>
          <p:cNvSpPr/>
          <p:nvPr/>
        </p:nvSpPr>
        <p:spPr>
          <a:xfrm>
            <a:off x="640080" y="1005840"/>
            <a:ext cx="10972800" cy="822960"/>
          </a:xfrm>
          <a:prstGeom prst="rect">
            <a:avLst/>
          </a:prstGeom>
          <a:noFill/>
          <a:ln/>
        </p:spPr>
        <p:txBody>
          <a:bodyPr wrap="square" lIns="0" tIns="0" rIns="0" bIns="0" rtlCol="0" anchor="ctr"/>
          <a:lstStyle/>
          <a:p>
            <a:pPr indent="0" marL="0">
              <a:buNone/>
            </a:pPr>
            <a:r>
              <a:rPr lang="en-US" sz="4400" dirty="0">
                <a:solidFill>
                  <a:srgbClr val="F5F5F3"/>
                </a:solidFill>
                <a:latin typeface="Britti Sans, Helvetica Neue, Helvetica, Arial" pitchFamily="34" charset="0"/>
                <a:ea typeface="Britti Sans, Helvetica Neue, Helvetica, Arial" pitchFamily="34" charset="-122"/>
                <a:cs typeface="Britti Sans, Helvetica Neue, Helvetica, Arial" pitchFamily="34" charset="-120"/>
              </a:rPr>
              <a:t>Receipts for everything</a:t>
            </a:r>
            <a:endParaRPr lang="en-US" sz="4400" dirty="0"/>
          </a:p>
        </p:txBody>
      </p:sp>
      <p:sp>
        <p:nvSpPr>
          <p:cNvPr id="4" name="Text 2"/>
          <p:cNvSpPr/>
          <p:nvPr/>
        </p:nvSpPr>
        <p:spPr>
          <a:xfrm>
            <a:off x="640080" y="1691640"/>
            <a:ext cx="10972800" cy="822960"/>
          </a:xfrm>
          <a:prstGeom prst="rect">
            <a:avLst/>
          </a:prstGeom>
          <a:noFill/>
          <a:ln/>
        </p:spPr>
        <p:txBody>
          <a:bodyPr wrap="square" lIns="0" tIns="0" rIns="0" bIns="0" rtlCol="0" anchor="ctr"/>
          <a:lstStyle/>
          <a:p>
            <a:pPr indent="0" marL="0">
              <a:buNone/>
            </a:pPr>
            <a:r>
              <a:rPr lang="en-US" sz="4400" dirty="0">
                <a:solidFill>
                  <a:srgbClr val="ED2024"/>
                </a:solidFill>
                <a:latin typeface="Britti Sans, Helvetica Neue, Helvetica, Arial" pitchFamily="34" charset="0"/>
                <a:ea typeface="Britti Sans, Helvetica Neue, Helvetica, Arial" pitchFamily="34" charset="-122"/>
                <a:cs typeface="Britti Sans, Helvetica Neue, Helvetica, Arial" pitchFamily="34" charset="-120"/>
              </a:rPr>
              <a:t>we claim.</a:t>
            </a:r>
            <a:endParaRPr lang="en-US" sz="4400" dirty="0"/>
          </a:p>
        </p:txBody>
      </p:sp>
      <p:sp>
        <p:nvSpPr>
          <p:cNvPr id="5" name="Shape 3"/>
          <p:cNvSpPr/>
          <p:nvPr/>
        </p:nvSpPr>
        <p:spPr>
          <a:xfrm>
            <a:off x="640080" y="2788920"/>
            <a:ext cx="914400" cy="4572"/>
          </a:xfrm>
          <a:prstGeom prst="rect">
            <a:avLst/>
          </a:prstGeom>
          <a:solidFill>
            <a:srgbClr val="ED2024"/>
          </a:solidFill>
          <a:ln/>
        </p:spPr>
      </p:sp>
      <p:sp>
        <p:nvSpPr>
          <p:cNvPr id="6" name="Text 4"/>
          <p:cNvSpPr/>
          <p:nvPr/>
        </p:nvSpPr>
        <p:spPr>
          <a:xfrm>
            <a:off x="640080" y="3246120"/>
            <a:ext cx="2514600" cy="411480"/>
          </a:xfrm>
          <a:prstGeom prst="rect">
            <a:avLst/>
          </a:prstGeom>
          <a:noFill/>
          <a:ln/>
        </p:spPr>
        <p:txBody>
          <a:bodyPr wrap="square" lIns="0" tIns="0" rIns="0" bIns="0" rtlCol="0" anchor="ctr"/>
          <a:lstStyle/>
          <a:p>
            <a:pPr indent="0" marL="0">
              <a:buNone/>
            </a:pPr>
            <a:r>
              <a:rPr lang="en-US" sz="1600" dirty="0">
                <a:solidFill>
                  <a:srgbClr val="F5F5F3"/>
                </a:solidFill>
                <a:latin typeface="Britti Sans, Helvetica Neue, Helvetica, Arial" pitchFamily="34" charset="0"/>
                <a:ea typeface="Britti Sans, Helvetica Neue, Helvetica, Arial" pitchFamily="34" charset="-122"/>
                <a:cs typeface="Britti Sans, Helvetica Neue, Helvetica, Arial" pitchFamily="34" charset="-120"/>
              </a:rPr>
              <a:t>SOC 2 Type II</a:t>
            </a:r>
            <a:endParaRPr lang="en-US" sz="1600" dirty="0"/>
          </a:p>
        </p:txBody>
      </p:sp>
      <p:sp>
        <p:nvSpPr>
          <p:cNvPr id="7" name="Shape 5"/>
          <p:cNvSpPr/>
          <p:nvPr/>
        </p:nvSpPr>
        <p:spPr>
          <a:xfrm>
            <a:off x="640080" y="3657600"/>
            <a:ext cx="365760" cy="4572"/>
          </a:xfrm>
          <a:prstGeom prst="rect">
            <a:avLst/>
          </a:prstGeom>
          <a:solidFill>
            <a:srgbClr val="ED2024"/>
          </a:solidFill>
          <a:ln/>
        </p:spPr>
      </p:sp>
      <p:sp>
        <p:nvSpPr>
          <p:cNvPr id="8" name="Text 6"/>
          <p:cNvSpPr/>
          <p:nvPr/>
        </p:nvSpPr>
        <p:spPr>
          <a:xfrm>
            <a:off x="640080" y="3794760"/>
            <a:ext cx="2514600" cy="868680"/>
          </a:xfrm>
          <a:prstGeom prst="rect">
            <a:avLst/>
          </a:prstGeom>
          <a:noFill/>
          <a:ln/>
        </p:spPr>
        <p:txBody>
          <a:bodyPr wrap="square" lIns="0" tIns="0" rIns="0" bIns="0" rtlCol="0" anchor="t"/>
          <a:lstStyle/>
          <a:p>
            <a:pPr indent="0" marL="0">
              <a:buNone/>
            </a:pPr>
            <a:r>
              <a:rPr lang="en-US" sz="1100" dirty="0">
                <a:solidFill>
                  <a:srgbClr val="8A8A87"/>
                </a:solidFill>
                <a:latin typeface="Britti Sans, Helvetica Neue, Helvetica, Arial" pitchFamily="34" charset="0"/>
                <a:ea typeface="Britti Sans, Helvetica Neue, Helvetica, Arial" pitchFamily="34" charset="-122"/>
                <a:cs typeface="Britti Sans, Helvetica Neue, Helvetica, Arial" pitchFamily="34" charset="-120"/>
              </a:rPr>
              <a:t>Type I Q3 · Type II Q1 next year. Vanta-managed.</a:t>
            </a:r>
            <a:endParaRPr lang="en-US" sz="1100" dirty="0"/>
          </a:p>
        </p:txBody>
      </p:sp>
      <p:sp>
        <p:nvSpPr>
          <p:cNvPr id="9" name="Text 7"/>
          <p:cNvSpPr/>
          <p:nvPr/>
        </p:nvSpPr>
        <p:spPr>
          <a:xfrm>
            <a:off x="3429000" y="3246120"/>
            <a:ext cx="2514600" cy="411480"/>
          </a:xfrm>
          <a:prstGeom prst="rect">
            <a:avLst/>
          </a:prstGeom>
          <a:noFill/>
          <a:ln/>
        </p:spPr>
        <p:txBody>
          <a:bodyPr wrap="square" lIns="0" tIns="0" rIns="0" bIns="0" rtlCol="0" anchor="ctr"/>
          <a:lstStyle/>
          <a:p>
            <a:pPr indent="0" marL="0">
              <a:buNone/>
            </a:pPr>
            <a:r>
              <a:rPr lang="en-US" sz="1600" dirty="0">
                <a:solidFill>
                  <a:srgbClr val="F5F5F3"/>
                </a:solidFill>
                <a:latin typeface="Britti Sans, Helvetica Neue, Helvetica, Arial" pitchFamily="34" charset="0"/>
                <a:ea typeface="Britti Sans, Helvetica Neue, Helvetica, Arial" pitchFamily="34" charset="-122"/>
                <a:cs typeface="Britti Sans, Helvetica Neue, Helvetica, Arial" pitchFamily="34" charset="-120"/>
              </a:rPr>
              <a:t>ISO 27001</a:t>
            </a:r>
            <a:endParaRPr lang="en-US" sz="1600" dirty="0"/>
          </a:p>
        </p:txBody>
      </p:sp>
      <p:sp>
        <p:nvSpPr>
          <p:cNvPr id="10" name="Shape 8"/>
          <p:cNvSpPr/>
          <p:nvPr/>
        </p:nvSpPr>
        <p:spPr>
          <a:xfrm>
            <a:off x="3429000" y="3657600"/>
            <a:ext cx="365760" cy="4572"/>
          </a:xfrm>
          <a:prstGeom prst="rect">
            <a:avLst/>
          </a:prstGeom>
          <a:solidFill>
            <a:srgbClr val="ED2024"/>
          </a:solidFill>
          <a:ln/>
        </p:spPr>
      </p:sp>
      <p:sp>
        <p:nvSpPr>
          <p:cNvPr id="11" name="Text 9"/>
          <p:cNvSpPr/>
          <p:nvPr/>
        </p:nvSpPr>
        <p:spPr>
          <a:xfrm>
            <a:off x="3429000" y="3794760"/>
            <a:ext cx="2514600" cy="868680"/>
          </a:xfrm>
          <a:prstGeom prst="rect">
            <a:avLst/>
          </a:prstGeom>
          <a:noFill/>
          <a:ln/>
        </p:spPr>
        <p:txBody>
          <a:bodyPr wrap="square" lIns="0" tIns="0" rIns="0" bIns="0" rtlCol="0" anchor="t"/>
          <a:lstStyle/>
          <a:p>
            <a:pPr indent="0" marL="0">
              <a:buNone/>
            </a:pPr>
            <a:r>
              <a:rPr lang="en-US" sz="1100" dirty="0">
                <a:solidFill>
                  <a:srgbClr val="8A8A87"/>
                </a:solidFill>
                <a:latin typeface="Britti Sans, Helvetica Neue, Helvetica, Arial" pitchFamily="34" charset="0"/>
                <a:ea typeface="Britti Sans, Helvetica Neue, Helvetica, Arial" pitchFamily="34" charset="-122"/>
                <a:cs typeface="Britti Sans, Helvetica Neue, Helvetica, Arial" pitchFamily="34" charset="-120"/>
              </a:rPr>
              <a:t>ISMS certification in parallel with SOC 2.</a:t>
            </a:r>
            <a:endParaRPr lang="en-US" sz="1100" dirty="0"/>
          </a:p>
        </p:txBody>
      </p:sp>
      <p:sp>
        <p:nvSpPr>
          <p:cNvPr id="12" name="Text 10"/>
          <p:cNvSpPr/>
          <p:nvPr/>
        </p:nvSpPr>
        <p:spPr>
          <a:xfrm>
            <a:off x="6217920" y="3246120"/>
            <a:ext cx="2514600" cy="411480"/>
          </a:xfrm>
          <a:prstGeom prst="rect">
            <a:avLst/>
          </a:prstGeom>
          <a:noFill/>
          <a:ln/>
        </p:spPr>
        <p:txBody>
          <a:bodyPr wrap="square" lIns="0" tIns="0" rIns="0" bIns="0" rtlCol="0" anchor="ctr"/>
          <a:lstStyle/>
          <a:p>
            <a:pPr indent="0" marL="0">
              <a:buNone/>
            </a:pPr>
            <a:r>
              <a:rPr lang="en-US" sz="1600" dirty="0">
                <a:solidFill>
                  <a:srgbClr val="F5F5F3"/>
                </a:solidFill>
                <a:latin typeface="Britti Sans, Helvetica Neue, Helvetica, Arial" pitchFamily="34" charset="0"/>
                <a:ea typeface="Britti Sans, Helvetica Neue, Helvetica, Arial" pitchFamily="34" charset="-122"/>
                <a:cs typeface="Britti Sans, Helvetica Neue, Helvetica, Arial" pitchFamily="34" charset="-120"/>
              </a:rPr>
              <a:t>GDPR + DPA</a:t>
            </a:r>
            <a:endParaRPr lang="en-US" sz="1600" dirty="0"/>
          </a:p>
        </p:txBody>
      </p:sp>
      <p:sp>
        <p:nvSpPr>
          <p:cNvPr id="13" name="Shape 11"/>
          <p:cNvSpPr/>
          <p:nvPr/>
        </p:nvSpPr>
        <p:spPr>
          <a:xfrm>
            <a:off x="6217920" y="3657600"/>
            <a:ext cx="365760" cy="4572"/>
          </a:xfrm>
          <a:prstGeom prst="rect">
            <a:avLst/>
          </a:prstGeom>
          <a:solidFill>
            <a:srgbClr val="ED2024"/>
          </a:solidFill>
          <a:ln/>
        </p:spPr>
      </p:sp>
      <p:sp>
        <p:nvSpPr>
          <p:cNvPr id="14" name="Text 12"/>
          <p:cNvSpPr/>
          <p:nvPr/>
        </p:nvSpPr>
        <p:spPr>
          <a:xfrm>
            <a:off x="6217920" y="3794760"/>
            <a:ext cx="2514600" cy="868680"/>
          </a:xfrm>
          <a:prstGeom prst="rect">
            <a:avLst/>
          </a:prstGeom>
          <a:noFill/>
          <a:ln/>
        </p:spPr>
        <p:txBody>
          <a:bodyPr wrap="square" lIns="0" tIns="0" rIns="0" bIns="0" rtlCol="0" anchor="t"/>
          <a:lstStyle/>
          <a:p>
            <a:pPr indent="0" marL="0">
              <a:buNone/>
            </a:pPr>
            <a:r>
              <a:rPr lang="en-US" sz="1100" dirty="0">
                <a:solidFill>
                  <a:srgbClr val="8A8A87"/>
                </a:solidFill>
                <a:latin typeface="Britti Sans, Helvetica Neue, Helvetica, Arial" pitchFamily="34" charset="0"/>
                <a:ea typeface="Britti Sans, Helvetica Neue, Helvetica, Arial" pitchFamily="34" charset="-122"/>
                <a:cs typeface="Britti Sans, Helvetica Neue, Helvetica, Arial" pitchFamily="34" charset="-120"/>
              </a:rPr>
              <a:t>Standard DPA. EU representative on file.</a:t>
            </a:r>
            <a:endParaRPr lang="en-US" sz="1100" dirty="0"/>
          </a:p>
        </p:txBody>
      </p:sp>
      <p:sp>
        <p:nvSpPr>
          <p:cNvPr id="15" name="Text 13"/>
          <p:cNvSpPr/>
          <p:nvPr/>
        </p:nvSpPr>
        <p:spPr>
          <a:xfrm>
            <a:off x="9006840" y="3246120"/>
            <a:ext cx="2514600" cy="411480"/>
          </a:xfrm>
          <a:prstGeom prst="rect">
            <a:avLst/>
          </a:prstGeom>
          <a:noFill/>
          <a:ln/>
        </p:spPr>
        <p:txBody>
          <a:bodyPr wrap="square" lIns="0" tIns="0" rIns="0" bIns="0" rtlCol="0" anchor="ctr"/>
          <a:lstStyle/>
          <a:p>
            <a:pPr indent="0" marL="0">
              <a:buNone/>
            </a:pPr>
            <a:r>
              <a:rPr lang="en-US" sz="1600" dirty="0">
                <a:solidFill>
                  <a:srgbClr val="F5F5F3"/>
                </a:solidFill>
                <a:latin typeface="Britti Sans, Helvetica Neue, Helvetica, Arial" pitchFamily="34" charset="0"/>
                <a:ea typeface="Britti Sans, Helvetica Neue, Helvetica, Arial" pitchFamily="34" charset="-122"/>
                <a:cs typeface="Britti Sans, Helvetica Neue, Helvetica, Arial" pitchFamily="34" charset="-120"/>
              </a:rPr>
              <a:t>BYOK / HYOK</a:t>
            </a:r>
            <a:endParaRPr lang="en-US" sz="1600" dirty="0"/>
          </a:p>
        </p:txBody>
      </p:sp>
      <p:sp>
        <p:nvSpPr>
          <p:cNvPr id="16" name="Shape 14"/>
          <p:cNvSpPr/>
          <p:nvPr/>
        </p:nvSpPr>
        <p:spPr>
          <a:xfrm>
            <a:off x="9006840" y="3657600"/>
            <a:ext cx="365760" cy="4572"/>
          </a:xfrm>
          <a:prstGeom prst="rect">
            <a:avLst/>
          </a:prstGeom>
          <a:solidFill>
            <a:srgbClr val="ED2024"/>
          </a:solidFill>
          <a:ln/>
        </p:spPr>
      </p:sp>
      <p:sp>
        <p:nvSpPr>
          <p:cNvPr id="17" name="Text 15"/>
          <p:cNvSpPr/>
          <p:nvPr/>
        </p:nvSpPr>
        <p:spPr>
          <a:xfrm>
            <a:off x="9006840" y="3794760"/>
            <a:ext cx="2514600" cy="868680"/>
          </a:xfrm>
          <a:prstGeom prst="rect">
            <a:avLst/>
          </a:prstGeom>
          <a:noFill/>
          <a:ln/>
        </p:spPr>
        <p:txBody>
          <a:bodyPr wrap="square" lIns="0" tIns="0" rIns="0" bIns="0" rtlCol="0" anchor="t"/>
          <a:lstStyle/>
          <a:p>
            <a:pPr indent="0" marL="0">
              <a:buNone/>
            </a:pPr>
            <a:r>
              <a:rPr lang="en-US" sz="1100" dirty="0">
                <a:solidFill>
                  <a:srgbClr val="8A8A87"/>
                </a:solidFill>
                <a:latin typeface="Britti Sans, Helvetica Neue, Helvetica, Arial" pitchFamily="34" charset="0"/>
                <a:ea typeface="Britti Sans, Helvetica Neue, Helvetica, Arial" pitchFamily="34" charset="-122"/>
                <a:cs typeface="Britti Sans, Helvetica Neue, Helvetica, Arial" pitchFamily="34" charset="-120"/>
              </a:rPr>
              <a:t>Customer-held KMS keys. Revoke any time.</a:t>
            </a:r>
            <a:endParaRPr lang="en-US" sz="1100" dirty="0"/>
          </a:p>
        </p:txBody>
      </p:sp>
      <p:sp>
        <p:nvSpPr>
          <p:cNvPr id="18" name="Text 16"/>
          <p:cNvSpPr/>
          <p:nvPr/>
        </p:nvSpPr>
        <p:spPr>
          <a:xfrm>
            <a:off x="640080" y="4754880"/>
            <a:ext cx="2514600" cy="411480"/>
          </a:xfrm>
          <a:prstGeom prst="rect">
            <a:avLst/>
          </a:prstGeom>
          <a:noFill/>
          <a:ln/>
        </p:spPr>
        <p:txBody>
          <a:bodyPr wrap="square" lIns="0" tIns="0" rIns="0" bIns="0" rtlCol="0" anchor="ctr"/>
          <a:lstStyle/>
          <a:p>
            <a:pPr indent="0" marL="0">
              <a:buNone/>
            </a:pPr>
            <a:r>
              <a:rPr lang="en-US" sz="1600" dirty="0">
                <a:solidFill>
                  <a:srgbClr val="F5F5F3"/>
                </a:solidFill>
                <a:latin typeface="Britti Sans, Helvetica Neue, Helvetica, Arial" pitchFamily="34" charset="0"/>
                <a:ea typeface="Britti Sans, Helvetica Neue, Helvetica, Arial" pitchFamily="34" charset="-122"/>
                <a:cs typeface="Britti Sans, Helvetica Neue, Helvetica, Arial" pitchFamily="34" charset="-120"/>
              </a:rPr>
              <a:t>ZDR contracts</a:t>
            </a:r>
            <a:endParaRPr lang="en-US" sz="1600" dirty="0"/>
          </a:p>
        </p:txBody>
      </p:sp>
      <p:sp>
        <p:nvSpPr>
          <p:cNvPr id="19" name="Shape 17"/>
          <p:cNvSpPr/>
          <p:nvPr/>
        </p:nvSpPr>
        <p:spPr>
          <a:xfrm>
            <a:off x="640080" y="5166360"/>
            <a:ext cx="365760" cy="4572"/>
          </a:xfrm>
          <a:prstGeom prst="rect">
            <a:avLst/>
          </a:prstGeom>
          <a:solidFill>
            <a:srgbClr val="ED2024"/>
          </a:solidFill>
          <a:ln/>
        </p:spPr>
      </p:sp>
      <p:sp>
        <p:nvSpPr>
          <p:cNvPr id="20" name="Text 18"/>
          <p:cNvSpPr/>
          <p:nvPr/>
        </p:nvSpPr>
        <p:spPr>
          <a:xfrm>
            <a:off x="640080" y="5303520"/>
            <a:ext cx="2514600" cy="868680"/>
          </a:xfrm>
          <a:prstGeom prst="rect">
            <a:avLst/>
          </a:prstGeom>
          <a:noFill/>
          <a:ln/>
        </p:spPr>
        <p:txBody>
          <a:bodyPr wrap="square" lIns="0" tIns="0" rIns="0" bIns="0" rtlCol="0" anchor="t"/>
          <a:lstStyle/>
          <a:p>
            <a:pPr indent="0" marL="0">
              <a:buNone/>
            </a:pPr>
            <a:r>
              <a:rPr lang="en-US" sz="1100" dirty="0">
                <a:solidFill>
                  <a:srgbClr val="8A8A87"/>
                </a:solidFill>
                <a:latin typeface="Britti Sans, Helvetica Neue, Helvetica, Arial" pitchFamily="34" charset="0"/>
                <a:ea typeface="Britti Sans, Helvetica Neue, Helvetica, Arial" pitchFamily="34" charset="-122"/>
                <a:cs typeface="Britti Sans, Helvetica Neue, Helvetica, Arial" pitchFamily="34" charset="-120"/>
              </a:rPr>
              <a:t>Zero-data-retention with every LLM provider.</a:t>
            </a:r>
            <a:endParaRPr lang="en-US" sz="1100" dirty="0"/>
          </a:p>
        </p:txBody>
      </p:sp>
      <p:sp>
        <p:nvSpPr>
          <p:cNvPr id="21" name="Text 19"/>
          <p:cNvSpPr/>
          <p:nvPr/>
        </p:nvSpPr>
        <p:spPr>
          <a:xfrm>
            <a:off x="3429000" y="4754880"/>
            <a:ext cx="2514600" cy="411480"/>
          </a:xfrm>
          <a:prstGeom prst="rect">
            <a:avLst/>
          </a:prstGeom>
          <a:noFill/>
          <a:ln/>
        </p:spPr>
        <p:txBody>
          <a:bodyPr wrap="square" lIns="0" tIns="0" rIns="0" bIns="0" rtlCol="0" anchor="ctr"/>
          <a:lstStyle/>
          <a:p>
            <a:pPr indent="0" marL="0">
              <a:buNone/>
            </a:pPr>
            <a:r>
              <a:rPr lang="en-US" sz="1600" dirty="0">
                <a:solidFill>
                  <a:srgbClr val="F5F5F3"/>
                </a:solidFill>
                <a:latin typeface="Britti Sans, Helvetica Neue, Helvetica, Arial" pitchFamily="34" charset="0"/>
                <a:ea typeface="Britti Sans, Helvetica Neue, Helvetica, Arial" pitchFamily="34" charset="-122"/>
                <a:cs typeface="Britti Sans, Helvetica Neue, Helvetica, Arial" pitchFamily="34" charset="-120"/>
              </a:rPr>
              <a:t>Region-pinned</a:t>
            </a:r>
            <a:endParaRPr lang="en-US" sz="1600" dirty="0"/>
          </a:p>
        </p:txBody>
      </p:sp>
      <p:sp>
        <p:nvSpPr>
          <p:cNvPr id="22" name="Shape 20"/>
          <p:cNvSpPr/>
          <p:nvPr/>
        </p:nvSpPr>
        <p:spPr>
          <a:xfrm>
            <a:off x="3429000" y="5166360"/>
            <a:ext cx="365760" cy="4572"/>
          </a:xfrm>
          <a:prstGeom prst="rect">
            <a:avLst/>
          </a:prstGeom>
          <a:solidFill>
            <a:srgbClr val="ED2024"/>
          </a:solidFill>
          <a:ln/>
        </p:spPr>
      </p:sp>
      <p:sp>
        <p:nvSpPr>
          <p:cNvPr id="23" name="Text 21"/>
          <p:cNvSpPr/>
          <p:nvPr/>
        </p:nvSpPr>
        <p:spPr>
          <a:xfrm>
            <a:off x="3429000" y="5303520"/>
            <a:ext cx="2514600" cy="868680"/>
          </a:xfrm>
          <a:prstGeom prst="rect">
            <a:avLst/>
          </a:prstGeom>
          <a:noFill/>
          <a:ln/>
        </p:spPr>
        <p:txBody>
          <a:bodyPr wrap="square" lIns="0" tIns="0" rIns="0" bIns="0" rtlCol="0" anchor="t"/>
          <a:lstStyle/>
          <a:p>
            <a:pPr indent="0" marL="0">
              <a:buNone/>
            </a:pPr>
            <a:r>
              <a:rPr lang="en-US" sz="1100" dirty="0">
                <a:solidFill>
                  <a:srgbClr val="8A8A87"/>
                </a:solidFill>
                <a:latin typeface="Britti Sans, Helvetica Neue, Helvetica, Arial" pitchFamily="34" charset="0"/>
                <a:ea typeface="Britti Sans, Helvetica Neue, Helvetica, Arial" pitchFamily="34" charset="-122"/>
                <a:cs typeface="Britti Sans, Helvetica Neue, Helvetica, Arial" pitchFamily="34" charset="-120"/>
              </a:rPr>
              <a:t>EU · US · UK data residency at signup.</a:t>
            </a:r>
            <a:endParaRPr lang="en-US" sz="1100" dirty="0"/>
          </a:p>
        </p:txBody>
      </p:sp>
      <p:sp>
        <p:nvSpPr>
          <p:cNvPr id="24" name="Text 22"/>
          <p:cNvSpPr/>
          <p:nvPr/>
        </p:nvSpPr>
        <p:spPr>
          <a:xfrm>
            <a:off x="6217920" y="4754880"/>
            <a:ext cx="2514600" cy="411480"/>
          </a:xfrm>
          <a:prstGeom prst="rect">
            <a:avLst/>
          </a:prstGeom>
          <a:noFill/>
          <a:ln/>
        </p:spPr>
        <p:txBody>
          <a:bodyPr wrap="square" lIns="0" tIns="0" rIns="0" bIns="0" rtlCol="0" anchor="ctr"/>
          <a:lstStyle/>
          <a:p>
            <a:pPr indent="0" marL="0">
              <a:buNone/>
            </a:pPr>
            <a:r>
              <a:rPr lang="en-US" sz="1600" dirty="0">
                <a:solidFill>
                  <a:srgbClr val="F5F5F3"/>
                </a:solidFill>
                <a:latin typeface="Britti Sans, Helvetica Neue, Helvetica, Arial" pitchFamily="34" charset="0"/>
                <a:ea typeface="Britti Sans, Helvetica Neue, Helvetica, Arial" pitchFamily="34" charset="-122"/>
                <a:cs typeface="Britti Sans, Helvetica Neue, Helvetica, Arial" pitchFamily="34" charset="-120"/>
              </a:rPr>
              <a:t>Pen-tested</a:t>
            </a:r>
            <a:endParaRPr lang="en-US" sz="1600" dirty="0"/>
          </a:p>
        </p:txBody>
      </p:sp>
      <p:sp>
        <p:nvSpPr>
          <p:cNvPr id="25" name="Shape 23"/>
          <p:cNvSpPr/>
          <p:nvPr/>
        </p:nvSpPr>
        <p:spPr>
          <a:xfrm>
            <a:off x="6217920" y="5166360"/>
            <a:ext cx="365760" cy="4572"/>
          </a:xfrm>
          <a:prstGeom prst="rect">
            <a:avLst/>
          </a:prstGeom>
          <a:solidFill>
            <a:srgbClr val="ED2024"/>
          </a:solidFill>
          <a:ln/>
        </p:spPr>
      </p:sp>
      <p:sp>
        <p:nvSpPr>
          <p:cNvPr id="26" name="Text 24"/>
          <p:cNvSpPr/>
          <p:nvPr/>
        </p:nvSpPr>
        <p:spPr>
          <a:xfrm>
            <a:off x="6217920" y="5303520"/>
            <a:ext cx="2514600" cy="868680"/>
          </a:xfrm>
          <a:prstGeom prst="rect">
            <a:avLst/>
          </a:prstGeom>
          <a:noFill/>
          <a:ln/>
        </p:spPr>
        <p:txBody>
          <a:bodyPr wrap="square" lIns="0" tIns="0" rIns="0" bIns="0" rtlCol="0" anchor="t"/>
          <a:lstStyle/>
          <a:p>
            <a:pPr indent="0" marL="0">
              <a:buNone/>
            </a:pPr>
            <a:r>
              <a:rPr lang="en-US" sz="1100" dirty="0">
                <a:solidFill>
                  <a:srgbClr val="8A8A87"/>
                </a:solidFill>
                <a:latin typeface="Britti Sans, Helvetica Neue, Helvetica, Arial" pitchFamily="34" charset="0"/>
                <a:ea typeface="Britti Sans, Helvetica Neue, Helvetica, Arial" pitchFamily="34" charset="-122"/>
                <a:cs typeface="Britti Sans, Helvetica Neue, Helvetica, Arial" pitchFamily="34" charset="-120"/>
              </a:rPr>
              <a:t>Annual third-party audit. Reports under NDA.</a:t>
            </a:r>
            <a:endParaRPr lang="en-US" sz="1100" dirty="0"/>
          </a:p>
        </p:txBody>
      </p:sp>
      <p:sp>
        <p:nvSpPr>
          <p:cNvPr id="27" name="Text 25"/>
          <p:cNvSpPr/>
          <p:nvPr/>
        </p:nvSpPr>
        <p:spPr>
          <a:xfrm>
            <a:off x="9006840" y="4754880"/>
            <a:ext cx="2514600" cy="411480"/>
          </a:xfrm>
          <a:prstGeom prst="rect">
            <a:avLst/>
          </a:prstGeom>
          <a:noFill/>
          <a:ln/>
        </p:spPr>
        <p:txBody>
          <a:bodyPr wrap="square" lIns="0" tIns="0" rIns="0" bIns="0" rtlCol="0" anchor="ctr"/>
          <a:lstStyle/>
          <a:p>
            <a:pPr indent="0" marL="0">
              <a:buNone/>
            </a:pPr>
            <a:r>
              <a:rPr lang="en-US" sz="1600" dirty="0">
                <a:solidFill>
                  <a:srgbClr val="F5F5F3"/>
                </a:solidFill>
                <a:latin typeface="Britti Sans, Helvetica Neue, Helvetica, Arial" pitchFamily="34" charset="0"/>
                <a:ea typeface="Britti Sans, Helvetica Neue, Helvetica, Arial" pitchFamily="34" charset="-122"/>
                <a:cs typeface="Britti Sans, Helvetica Neue, Helvetica, Arial" pitchFamily="34" charset="-120"/>
              </a:rPr>
              <a:t>Customer-cloud</a:t>
            </a:r>
            <a:endParaRPr lang="en-US" sz="1600" dirty="0"/>
          </a:p>
        </p:txBody>
      </p:sp>
      <p:sp>
        <p:nvSpPr>
          <p:cNvPr id="28" name="Shape 26"/>
          <p:cNvSpPr/>
          <p:nvPr/>
        </p:nvSpPr>
        <p:spPr>
          <a:xfrm>
            <a:off x="9006840" y="5166360"/>
            <a:ext cx="365760" cy="4572"/>
          </a:xfrm>
          <a:prstGeom prst="rect">
            <a:avLst/>
          </a:prstGeom>
          <a:solidFill>
            <a:srgbClr val="ED2024"/>
          </a:solidFill>
          <a:ln/>
        </p:spPr>
      </p:sp>
      <p:sp>
        <p:nvSpPr>
          <p:cNvPr id="29" name="Text 27"/>
          <p:cNvSpPr/>
          <p:nvPr/>
        </p:nvSpPr>
        <p:spPr>
          <a:xfrm>
            <a:off x="9006840" y="5303520"/>
            <a:ext cx="2514600" cy="868680"/>
          </a:xfrm>
          <a:prstGeom prst="rect">
            <a:avLst/>
          </a:prstGeom>
          <a:noFill/>
          <a:ln/>
        </p:spPr>
        <p:txBody>
          <a:bodyPr wrap="square" lIns="0" tIns="0" rIns="0" bIns="0" rtlCol="0" anchor="t"/>
          <a:lstStyle/>
          <a:p>
            <a:pPr indent="0" marL="0">
              <a:buNone/>
            </a:pPr>
            <a:r>
              <a:rPr lang="en-US" sz="1100" dirty="0">
                <a:solidFill>
                  <a:srgbClr val="8A8A87"/>
                </a:solidFill>
                <a:latin typeface="Britti Sans, Helvetica Neue, Helvetica, Arial" pitchFamily="34" charset="0"/>
                <a:ea typeface="Britti Sans, Helvetica Neue, Helvetica, Arial" pitchFamily="34" charset="-122"/>
                <a:cs typeface="Britti Sans, Helvetica Neue, Helvetica, Arial" pitchFamily="34" charset="-120"/>
              </a:rPr>
              <a:t>Optional VPC deployment for enterprise tier.</a:t>
            </a:r>
            <a:endParaRPr lang="en-US" sz="1100" dirty="0"/>
          </a:p>
        </p:txBody>
      </p:sp>
      <p:sp>
        <p:nvSpPr>
          <p:cNvPr id="30" name="Text 28"/>
          <p:cNvSpPr/>
          <p:nvPr/>
        </p:nvSpPr>
        <p:spPr>
          <a:xfrm>
            <a:off x="640080" y="6446520"/>
            <a:ext cx="1828800" cy="274320"/>
          </a:xfrm>
          <a:prstGeom prst="rect">
            <a:avLst/>
          </a:prstGeom>
          <a:noFill/>
          <a:ln/>
        </p:spPr>
        <p:txBody>
          <a:bodyPr wrap="square" lIns="0" tIns="0" rIns="0" bIns="0" rtlCol="0" anchor="ctr"/>
          <a:lstStyle/>
          <a:p>
            <a:pPr indent="0" marL="0">
              <a:buNone/>
            </a:pPr>
            <a:r>
              <a:rPr lang="en-US" sz="800" spc="800" kern="0" dirty="0">
                <a:solidFill>
                  <a:srgbClr val="555552"/>
                </a:solidFill>
                <a:latin typeface="Menlo, Consolas, Courier New" pitchFamily="34" charset="0"/>
                <a:ea typeface="Menlo, Consolas, Courier New" pitchFamily="34" charset="-122"/>
                <a:cs typeface="Menlo, Consolas, Courier New" pitchFamily="34" charset="-120"/>
              </a:rPr>
              <a:t>CALIBER</a:t>
            </a:r>
            <a:endParaRPr lang="en-US" sz="800" dirty="0"/>
          </a:p>
        </p:txBody>
      </p:sp>
      <p:sp>
        <p:nvSpPr>
          <p:cNvPr id="31" name="Text 29"/>
          <p:cNvSpPr/>
          <p:nvPr/>
        </p:nvSpPr>
        <p:spPr>
          <a:xfrm>
            <a:off x="10972800" y="6446520"/>
            <a:ext cx="914400" cy="274320"/>
          </a:xfrm>
          <a:prstGeom prst="rect">
            <a:avLst/>
          </a:prstGeom>
          <a:noFill/>
          <a:ln/>
        </p:spPr>
        <p:txBody>
          <a:bodyPr wrap="square" lIns="0" tIns="0" rIns="0" bIns="0" rtlCol="0" anchor="ctr"/>
          <a:lstStyle/>
          <a:p>
            <a:pPr algn="r" indent="0" marL="0">
              <a:buNone/>
            </a:pPr>
            <a:r>
              <a:rPr lang="en-US" sz="800" spc="400" kern="0" dirty="0">
                <a:solidFill>
                  <a:srgbClr val="555552"/>
                </a:solidFill>
                <a:latin typeface="Menlo, Consolas, Courier New" pitchFamily="34" charset="0"/>
                <a:ea typeface="Menlo, Consolas, Courier New" pitchFamily="34" charset="-122"/>
                <a:cs typeface="Menlo, Consolas, Courier New" pitchFamily="34" charset="-120"/>
              </a:rPr>
              <a:t>10 / 13</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640080" y="502920"/>
            <a:ext cx="10972800" cy="274320"/>
          </a:xfrm>
          <a:prstGeom prst="rect">
            <a:avLst/>
          </a:prstGeom>
          <a:noFill/>
          <a:ln/>
        </p:spPr>
        <p:txBody>
          <a:bodyPr wrap="square" lIns="0" tIns="0" rIns="0" bIns="0" rtlCol="0" anchor="ctr"/>
          <a:lstStyle/>
          <a:p>
            <a:pPr indent="0" marL="0">
              <a:buNone/>
            </a:pPr>
            <a:r>
              <a:rPr lang="en-US" sz="1000" spc="800" kern="0" dirty="0">
                <a:solidFill>
                  <a:srgbClr val="ED2024"/>
                </a:solidFill>
                <a:latin typeface="Menlo, Consolas, Courier New" pitchFamily="34" charset="0"/>
                <a:ea typeface="Menlo, Consolas, Courier New" pitchFamily="34" charset="-122"/>
                <a:cs typeface="Menlo, Consolas, Courier New" pitchFamily="34" charset="-120"/>
              </a:rPr>
              <a:t>10 · WHAT WE'RE OFFERING</a:t>
            </a:r>
            <a:endParaRPr lang="en-US" sz="1000" dirty="0"/>
          </a:p>
        </p:txBody>
      </p:sp>
      <p:sp>
        <p:nvSpPr>
          <p:cNvPr id="3" name="Text 1"/>
          <p:cNvSpPr/>
          <p:nvPr/>
        </p:nvSpPr>
        <p:spPr>
          <a:xfrm>
            <a:off x="640080" y="1005840"/>
            <a:ext cx="10972800" cy="822960"/>
          </a:xfrm>
          <a:prstGeom prst="rect">
            <a:avLst/>
          </a:prstGeom>
          <a:noFill/>
          <a:ln/>
        </p:spPr>
        <p:txBody>
          <a:bodyPr wrap="square" lIns="0" tIns="0" rIns="0" bIns="0" rtlCol="0" anchor="ctr"/>
          <a:lstStyle/>
          <a:p>
            <a:pPr indent="0" marL="0">
              <a:buNone/>
            </a:pPr>
            <a:r>
              <a:rPr lang="en-US" sz="4400" dirty="0">
                <a:solidFill>
                  <a:srgbClr val="F5F5F3"/>
                </a:solidFill>
                <a:latin typeface="Britti Sans, Helvetica Neue, Helvetica, Arial" pitchFamily="34" charset="0"/>
                <a:ea typeface="Britti Sans, Helvetica Neue, Helvetica, Arial" pitchFamily="34" charset="-122"/>
                <a:cs typeface="Britti Sans, Helvetica Neue, Helvetica, Arial" pitchFamily="34" charset="-120"/>
              </a:rPr>
              <a:t>Two-week paid pilot.</a:t>
            </a:r>
            <a:endParaRPr lang="en-US" sz="4400" dirty="0"/>
          </a:p>
        </p:txBody>
      </p:sp>
      <p:sp>
        <p:nvSpPr>
          <p:cNvPr id="4" name="Text 2"/>
          <p:cNvSpPr/>
          <p:nvPr/>
        </p:nvSpPr>
        <p:spPr>
          <a:xfrm>
            <a:off x="640080" y="1691640"/>
            <a:ext cx="10972800" cy="822960"/>
          </a:xfrm>
          <a:prstGeom prst="rect">
            <a:avLst/>
          </a:prstGeom>
          <a:noFill/>
          <a:ln/>
        </p:spPr>
        <p:txBody>
          <a:bodyPr wrap="square" lIns="0" tIns="0" rIns="0" bIns="0" rtlCol="0" anchor="ctr"/>
          <a:lstStyle/>
          <a:p>
            <a:pPr indent="0" marL="0">
              <a:buNone/>
            </a:pPr>
            <a:r>
              <a:rPr lang="en-US" sz="4400" dirty="0">
                <a:solidFill>
                  <a:srgbClr val="ED2024"/>
                </a:solidFill>
                <a:latin typeface="Britti Sans, Helvetica Neue, Helvetica, Arial" pitchFamily="34" charset="0"/>
                <a:ea typeface="Britti Sans, Helvetica Neue, Helvetica, Arial" pitchFamily="34" charset="-122"/>
                <a:cs typeface="Britti Sans, Helvetica Neue, Helvetica, Arial" pitchFamily="34" charset="-120"/>
              </a:rPr>
              <a:t>Your data. Your team.</a:t>
            </a:r>
            <a:endParaRPr lang="en-US" sz="4400" dirty="0"/>
          </a:p>
        </p:txBody>
      </p:sp>
      <p:sp>
        <p:nvSpPr>
          <p:cNvPr id="5" name="Shape 3"/>
          <p:cNvSpPr/>
          <p:nvPr/>
        </p:nvSpPr>
        <p:spPr>
          <a:xfrm>
            <a:off x="640080" y="2788920"/>
            <a:ext cx="914400" cy="4572"/>
          </a:xfrm>
          <a:prstGeom prst="rect">
            <a:avLst/>
          </a:prstGeom>
          <a:solidFill>
            <a:srgbClr val="ED2024"/>
          </a:solidFill>
          <a:ln/>
        </p:spPr>
      </p:sp>
      <p:sp>
        <p:nvSpPr>
          <p:cNvPr id="6" name="Text 4"/>
          <p:cNvSpPr/>
          <p:nvPr/>
        </p:nvSpPr>
        <p:spPr>
          <a:xfrm>
            <a:off x="640080" y="3246120"/>
            <a:ext cx="4572000" cy="274320"/>
          </a:xfrm>
          <a:prstGeom prst="rect">
            <a:avLst/>
          </a:prstGeom>
          <a:noFill/>
          <a:ln/>
        </p:spPr>
        <p:txBody>
          <a:bodyPr wrap="square" lIns="0" tIns="0" rIns="0" bIns="0" rtlCol="0" anchor="ctr"/>
          <a:lstStyle/>
          <a:p>
            <a:pPr indent="0" marL="0">
              <a:buNone/>
            </a:pPr>
            <a:r>
              <a:rPr lang="en-US" sz="900" spc="800" kern="0" dirty="0">
                <a:solidFill>
                  <a:srgbClr val="8A8A87"/>
                </a:solidFill>
                <a:latin typeface="Menlo, Consolas, Courier New" pitchFamily="34" charset="0"/>
                <a:ea typeface="Menlo, Consolas, Courier New" pitchFamily="34" charset="-122"/>
                <a:cs typeface="Menlo, Consolas, Courier New" pitchFamily="34" charset="-120"/>
              </a:rPr>
              <a:t>WHAT YOU GET</a:t>
            </a:r>
            <a:endParaRPr lang="en-US" sz="900" dirty="0"/>
          </a:p>
        </p:txBody>
      </p:sp>
      <p:sp>
        <p:nvSpPr>
          <p:cNvPr id="7" name="Shape 5"/>
          <p:cNvSpPr/>
          <p:nvPr/>
        </p:nvSpPr>
        <p:spPr>
          <a:xfrm>
            <a:off x="640080" y="3822192"/>
            <a:ext cx="73152" cy="73152"/>
          </a:xfrm>
          <a:prstGeom prst="rect">
            <a:avLst/>
          </a:prstGeom>
          <a:solidFill>
            <a:srgbClr val="ED2024"/>
          </a:solidFill>
          <a:ln/>
        </p:spPr>
      </p:sp>
      <p:sp>
        <p:nvSpPr>
          <p:cNvPr id="8" name="Text 6"/>
          <p:cNvSpPr/>
          <p:nvPr/>
        </p:nvSpPr>
        <p:spPr>
          <a:xfrm>
            <a:off x="822960" y="3703320"/>
            <a:ext cx="10789920" cy="365760"/>
          </a:xfrm>
          <a:prstGeom prst="rect">
            <a:avLst/>
          </a:prstGeom>
          <a:noFill/>
          <a:ln/>
        </p:spPr>
        <p:txBody>
          <a:bodyPr wrap="square" lIns="0" tIns="0" rIns="0" bIns="0" rtlCol="0" anchor="ctr"/>
          <a:lstStyle/>
          <a:p>
            <a:pPr indent="0" marL="0">
              <a:buNone/>
            </a:pPr>
            <a:r>
              <a:rPr lang="en-US" sz="1300" dirty="0">
                <a:solidFill>
                  <a:srgbClr val="F5F5F3"/>
                </a:solidFill>
                <a:latin typeface="Britti Sans, Helvetica Neue, Helvetica, Arial" pitchFamily="34" charset="0"/>
                <a:ea typeface="Britti Sans, Helvetica Neue, Helvetica, Arial" pitchFamily="34" charset="-122"/>
                <a:cs typeface="Britti Sans, Helvetica Neue, Helvetica, Arial" pitchFamily="34" charset="-120"/>
              </a:rPr>
              <a:t>Caliber gateway deployed in our EU cloud, scoped to your tenant</a:t>
            </a:r>
            <a:endParaRPr lang="en-US" sz="1300" dirty="0"/>
          </a:p>
        </p:txBody>
      </p:sp>
      <p:sp>
        <p:nvSpPr>
          <p:cNvPr id="9" name="Shape 7"/>
          <p:cNvSpPr/>
          <p:nvPr/>
        </p:nvSpPr>
        <p:spPr>
          <a:xfrm>
            <a:off x="640080" y="4233672"/>
            <a:ext cx="73152" cy="73152"/>
          </a:xfrm>
          <a:prstGeom prst="rect">
            <a:avLst/>
          </a:prstGeom>
          <a:solidFill>
            <a:srgbClr val="ED2024"/>
          </a:solidFill>
          <a:ln/>
        </p:spPr>
      </p:sp>
      <p:sp>
        <p:nvSpPr>
          <p:cNvPr id="10" name="Text 8"/>
          <p:cNvSpPr/>
          <p:nvPr/>
        </p:nvSpPr>
        <p:spPr>
          <a:xfrm>
            <a:off x="822960" y="4114800"/>
            <a:ext cx="10789920" cy="365760"/>
          </a:xfrm>
          <a:prstGeom prst="rect">
            <a:avLst/>
          </a:prstGeom>
          <a:noFill/>
          <a:ln/>
        </p:spPr>
        <p:txBody>
          <a:bodyPr wrap="square" lIns="0" tIns="0" rIns="0" bIns="0" rtlCol="0" anchor="ctr"/>
          <a:lstStyle/>
          <a:p>
            <a:pPr indent="0" marL="0">
              <a:buNone/>
            </a:pPr>
            <a:r>
              <a:rPr lang="en-US" sz="1300" dirty="0">
                <a:solidFill>
                  <a:srgbClr val="F5F5F3"/>
                </a:solidFill>
                <a:latin typeface="Britti Sans, Helvetica Neue, Helvetica, Arial" pitchFamily="34" charset="0"/>
                <a:ea typeface="Britti Sans, Helvetica Neue, Helvetica, Arial" pitchFamily="34" charset="-122"/>
                <a:cs typeface="Britti Sans, Helvetica Neue, Helvetica, Arial" pitchFamily="34" charset="-120"/>
              </a:rPr>
              <a:t>Up to 3 data sources connected, we do the onboarding live with you</a:t>
            </a:r>
            <a:endParaRPr lang="en-US" sz="1300" dirty="0"/>
          </a:p>
        </p:txBody>
      </p:sp>
      <p:sp>
        <p:nvSpPr>
          <p:cNvPr id="11" name="Shape 9"/>
          <p:cNvSpPr/>
          <p:nvPr/>
        </p:nvSpPr>
        <p:spPr>
          <a:xfrm>
            <a:off x="640080" y="4645152"/>
            <a:ext cx="73152" cy="73152"/>
          </a:xfrm>
          <a:prstGeom prst="rect">
            <a:avLst/>
          </a:prstGeom>
          <a:solidFill>
            <a:srgbClr val="ED2024"/>
          </a:solidFill>
          <a:ln/>
        </p:spPr>
      </p:sp>
      <p:sp>
        <p:nvSpPr>
          <p:cNvPr id="12" name="Text 10"/>
          <p:cNvSpPr/>
          <p:nvPr/>
        </p:nvSpPr>
        <p:spPr>
          <a:xfrm>
            <a:off x="822960" y="4526280"/>
            <a:ext cx="10789920" cy="365760"/>
          </a:xfrm>
          <a:prstGeom prst="rect">
            <a:avLst/>
          </a:prstGeom>
          <a:noFill/>
          <a:ln/>
        </p:spPr>
        <p:txBody>
          <a:bodyPr wrap="square" lIns="0" tIns="0" rIns="0" bIns="0" rtlCol="0" anchor="ctr"/>
          <a:lstStyle/>
          <a:p>
            <a:pPr indent="0" marL="0">
              <a:buNone/>
            </a:pPr>
            <a:r>
              <a:rPr lang="en-US" sz="1300" dirty="0">
                <a:solidFill>
                  <a:srgbClr val="F5F5F3"/>
                </a:solidFill>
                <a:latin typeface="Britti Sans, Helvetica Neue, Helvetica, Arial" pitchFamily="34" charset="0"/>
                <a:ea typeface="Britti Sans, Helvetica Neue, Helvetica, Arial" pitchFamily="34" charset="-122"/>
                <a:cs typeface="Britti Sans, Helvetica Neue, Helvetica, Arial" pitchFamily="34" charset="-120"/>
              </a:rPr>
              <a:t>10 named users from your team · full Caliber + AI Agent access</a:t>
            </a:r>
            <a:endParaRPr lang="en-US" sz="1300" dirty="0"/>
          </a:p>
        </p:txBody>
      </p:sp>
      <p:sp>
        <p:nvSpPr>
          <p:cNvPr id="13" name="Shape 11"/>
          <p:cNvSpPr/>
          <p:nvPr/>
        </p:nvSpPr>
        <p:spPr>
          <a:xfrm>
            <a:off x="640080" y="5056632"/>
            <a:ext cx="73152" cy="73152"/>
          </a:xfrm>
          <a:prstGeom prst="rect">
            <a:avLst/>
          </a:prstGeom>
          <a:solidFill>
            <a:srgbClr val="ED2024"/>
          </a:solidFill>
          <a:ln/>
        </p:spPr>
      </p:sp>
      <p:sp>
        <p:nvSpPr>
          <p:cNvPr id="14" name="Text 12"/>
          <p:cNvSpPr/>
          <p:nvPr/>
        </p:nvSpPr>
        <p:spPr>
          <a:xfrm>
            <a:off x="822960" y="4937760"/>
            <a:ext cx="10789920" cy="365760"/>
          </a:xfrm>
          <a:prstGeom prst="rect">
            <a:avLst/>
          </a:prstGeom>
          <a:noFill/>
          <a:ln/>
        </p:spPr>
        <p:txBody>
          <a:bodyPr wrap="square" lIns="0" tIns="0" rIns="0" bIns="0" rtlCol="0" anchor="ctr"/>
          <a:lstStyle/>
          <a:p>
            <a:pPr indent="0" marL="0">
              <a:buNone/>
            </a:pPr>
            <a:r>
              <a:rPr lang="en-US" sz="1300" dirty="0">
                <a:solidFill>
                  <a:srgbClr val="F5F5F3"/>
                </a:solidFill>
                <a:latin typeface="Britti Sans, Helvetica Neue, Helvetica, Arial" pitchFamily="34" charset="0"/>
                <a:ea typeface="Britti Sans, Helvetica Neue, Helvetica, Arial" pitchFamily="34" charset="-122"/>
                <a:cs typeface="Britti Sans, Helvetica Neue, Helvetica, Arial" pitchFamily="34" charset="-120"/>
              </a:rPr>
              <a:t>Weekly check-in with founder · dedicated Slack support channel</a:t>
            </a:r>
            <a:endParaRPr lang="en-US" sz="1300" dirty="0"/>
          </a:p>
        </p:txBody>
      </p:sp>
      <p:sp>
        <p:nvSpPr>
          <p:cNvPr id="15" name="Shape 13"/>
          <p:cNvSpPr/>
          <p:nvPr/>
        </p:nvSpPr>
        <p:spPr>
          <a:xfrm>
            <a:off x="640080" y="5468112"/>
            <a:ext cx="73152" cy="73152"/>
          </a:xfrm>
          <a:prstGeom prst="rect">
            <a:avLst/>
          </a:prstGeom>
          <a:solidFill>
            <a:srgbClr val="ED2024"/>
          </a:solidFill>
          <a:ln/>
        </p:spPr>
      </p:sp>
      <p:sp>
        <p:nvSpPr>
          <p:cNvPr id="16" name="Text 14"/>
          <p:cNvSpPr/>
          <p:nvPr/>
        </p:nvSpPr>
        <p:spPr>
          <a:xfrm>
            <a:off x="822960" y="5349240"/>
            <a:ext cx="10789920" cy="365760"/>
          </a:xfrm>
          <a:prstGeom prst="rect">
            <a:avLst/>
          </a:prstGeom>
          <a:noFill/>
          <a:ln/>
        </p:spPr>
        <p:txBody>
          <a:bodyPr wrap="square" lIns="0" tIns="0" rIns="0" bIns="0" rtlCol="0" anchor="ctr"/>
          <a:lstStyle/>
          <a:p>
            <a:pPr indent="0" marL="0">
              <a:buNone/>
            </a:pPr>
            <a:r>
              <a:rPr lang="en-US" sz="1300" dirty="0">
                <a:solidFill>
                  <a:srgbClr val="F5F5F3"/>
                </a:solidFill>
                <a:latin typeface="Britti Sans, Helvetica Neue, Helvetica, Arial" pitchFamily="34" charset="0"/>
                <a:ea typeface="Britti Sans, Helvetica Neue, Helvetica, Arial" pitchFamily="34" charset="-122"/>
                <a:cs typeface="Britti Sans, Helvetica Neue, Helvetica, Arial" pitchFamily="34" charset="-120"/>
              </a:rPr>
              <a:t>14 days of hash-chained audit log, exportable as evidence</a:t>
            </a:r>
            <a:endParaRPr lang="en-US" sz="1300" dirty="0"/>
          </a:p>
        </p:txBody>
      </p:sp>
      <p:sp>
        <p:nvSpPr>
          <p:cNvPr id="17" name="Shape 15"/>
          <p:cNvSpPr/>
          <p:nvPr/>
        </p:nvSpPr>
        <p:spPr>
          <a:xfrm>
            <a:off x="640080" y="5879592"/>
            <a:ext cx="73152" cy="73152"/>
          </a:xfrm>
          <a:prstGeom prst="rect">
            <a:avLst/>
          </a:prstGeom>
          <a:solidFill>
            <a:srgbClr val="ED2024"/>
          </a:solidFill>
          <a:ln/>
        </p:spPr>
      </p:sp>
      <p:sp>
        <p:nvSpPr>
          <p:cNvPr id="18" name="Text 16"/>
          <p:cNvSpPr/>
          <p:nvPr/>
        </p:nvSpPr>
        <p:spPr>
          <a:xfrm>
            <a:off x="822960" y="5760720"/>
            <a:ext cx="10789920" cy="365760"/>
          </a:xfrm>
          <a:prstGeom prst="rect">
            <a:avLst/>
          </a:prstGeom>
          <a:noFill/>
          <a:ln/>
        </p:spPr>
        <p:txBody>
          <a:bodyPr wrap="square" lIns="0" tIns="0" rIns="0" bIns="0" rtlCol="0" anchor="ctr"/>
          <a:lstStyle/>
          <a:p>
            <a:pPr indent="0" marL="0">
              <a:buNone/>
            </a:pPr>
            <a:r>
              <a:rPr lang="en-US" sz="1300" dirty="0">
                <a:solidFill>
                  <a:srgbClr val="F5F5F3"/>
                </a:solidFill>
                <a:latin typeface="Britti Sans, Helvetica Neue, Helvetica, Arial" pitchFamily="34" charset="0"/>
                <a:ea typeface="Britti Sans, Helvetica Neue, Helvetica, Arial" pitchFamily="34" charset="-122"/>
                <a:cs typeface="Britti Sans, Helvetica Neue, Helvetica, Arial" pitchFamily="34" charset="-120"/>
              </a:rPr>
              <a:t>After 2 weeks: keep going under contract, or walk away · no obligation</a:t>
            </a:r>
            <a:endParaRPr lang="en-US" sz="1300" dirty="0"/>
          </a:p>
        </p:txBody>
      </p:sp>
      <p:sp>
        <p:nvSpPr>
          <p:cNvPr id="19" name="Text 17"/>
          <p:cNvSpPr/>
          <p:nvPr/>
        </p:nvSpPr>
        <p:spPr>
          <a:xfrm>
            <a:off x="640080" y="6446520"/>
            <a:ext cx="1828800" cy="274320"/>
          </a:xfrm>
          <a:prstGeom prst="rect">
            <a:avLst/>
          </a:prstGeom>
          <a:noFill/>
          <a:ln/>
        </p:spPr>
        <p:txBody>
          <a:bodyPr wrap="square" lIns="0" tIns="0" rIns="0" bIns="0" rtlCol="0" anchor="ctr"/>
          <a:lstStyle/>
          <a:p>
            <a:pPr indent="0" marL="0">
              <a:buNone/>
            </a:pPr>
            <a:r>
              <a:rPr lang="en-US" sz="800" spc="800" kern="0" dirty="0">
                <a:solidFill>
                  <a:srgbClr val="555552"/>
                </a:solidFill>
                <a:latin typeface="Menlo, Consolas, Courier New" pitchFamily="34" charset="0"/>
                <a:ea typeface="Menlo, Consolas, Courier New" pitchFamily="34" charset="-122"/>
                <a:cs typeface="Menlo, Consolas, Courier New" pitchFamily="34" charset="-120"/>
              </a:rPr>
              <a:t>CALIBER</a:t>
            </a:r>
            <a:endParaRPr lang="en-US" sz="800" dirty="0"/>
          </a:p>
        </p:txBody>
      </p:sp>
      <p:sp>
        <p:nvSpPr>
          <p:cNvPr id="20" name="Text 18"/>
          <p:cNvSpPr/>
          <p:nvPr/>
        </p:nvSpPr>
        <p:spPr>
          <a:xfrm>
            <a:off x="10972800" y="6446520"/>
            <a:ext cx="914400" cy="274320"/>
          </a:xfrm>
          <a:prstGeom prst="rect">
            <a:avLst/>
          </a:prstGeom>
          <a:noFill/>
          <a:ln/>
        </p:spPr>
        <p:txBody>
          <a:bodyPr wrap="square" lIns="0" tIns="0" rIns="0" bIns="0" rtlCol="0" anchor="ctr"/>
          <a:lstStyle/>
          <a:p>
            <a:pPr algn="r" indent="0" marL="0">
              <a:buNone/>
            </a:pPr>
            <a:r>
              <a:rPr lang="en-US" sz="800" spc="400" kern="0" dirty="0">
                <a:solidFill>
                  <a:srgbClr val="555552"/>
                </a:solidFill>
                <a:latin typeface="Menlo, Consolas, Courier New" pitchFamily="34" charset="0"/>
                <a:ea typeface="Menlo, Consolas, Courier New" pitchFamily="34" charset="-122"/>
                <a:cs typeface="Menlo, Consolas, Courier New" pitchFamily="34" charset="-120"/>
              </a:rPr>
              <a:t>11 / 13</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640080" y="502920"/>
            <a:ext cx="10972800" cy="274320"/>
          </a:xfrm>
          <a:prstGeom prst="rect">
            <a:avLst/>
          </a:prstGeom>
          <a:noFill/>
          <a:ln/>
        </p:spPr>
        <p:txBody>
          <a:bodyPr wrap="square" lIns="0" tIns="0" rIns="0" bIns="0" rtlCol="0" anchor="ctr"/>
          <a:lstStyle/>
          <a:p>
            <a:pPr indent="0" marL="0">
              <a:buNone/>
            </a:pPr>
            <a:r>
              <a:rPr lang="en-US" sz="1000" spc="800" kern="0" dirty="0">
                <a:solidFill>
                  <a:srgbClr val="ED2024"/>
                </a:solidFill>
                <a:latin typeface="Menlo, Consolas, Courier New" pitchFamily="34" charset="0"/>
                <a:ea typeface="Menlo, Consolas, Courier New" pitchFamily="34" charset="-122"/>
                <a:cs typeface="Menlo, Consolas, Courier New" pitchFamily="34" charset="-120"/>
              </a:rPr>
              <a:t>11 · WHY NOW</a:t>
            </a:r>
            <a:endParaRPr lang="en-US" sz="1000" dirty="0"/>
          </a:p>
        </p:txBody>
      </p:sp>
      <p:sp>
        <p:nvSpPr>
          <p:cNvPr id="3" name="Text 1"/>
          <p:cNvSpPr/>
          <p:nvPr/>
        </p:nvSpPr>
        <p:spPr>
          <a:xfrm>
            <a:off x="640080" y="1005840"/>
            <a:ext cx="10972800" cy="822960"/>
          </a:xfrm>
          <a:prstGeom prst="rect">
            <a:avLst/>
          </a:prstGeom>
          <a:noFill/>
          <a:ln/>
        </p:spPr>
        <p:txBody>
          <a:bodyPr wrap="square" lIns="0" tIns="0" rIns="0" bIns="0" rtlCol="0" anchor="ctr"/>
          <a:lstStyle/>
          <a:p>
            <a:pPr indent="0" marL="0">
              <a:buNone/>
            </a:pPr>
            <a:r>
              <a:rPr lang="en-US" sz="4400" dirty="0">
                <a:solidFill>
                  <a:srgbClr val="F5F5F3"/>
                </a:solidFill>
                <a:latin typeface="Britti Sans, Helvetica Neue, Helvetica, Arial" pitchFamily="34" charset="0"/>
                <a:ea typeface="Britti Sans, Helvetica Neue, Helvetica, Arial" pitchFamily="34" charset="-122"/>
                <a:cs typeface="Britti Sans, Helvetica Neue, Helvetica, Arial" pitchFamily="34" charset="-120"/>
              </a:rPr>
              <a:t>The window is open.</a:t>
            </a:r>
            <a:endParaRPr lang="en-US" sz="4400" dirty="0"/>
          </a:p>
        </p:txBody>
      </p:sp>
      <p:sp>
        <p:nvSpPr>
          <p:cNvPr id="4" name="Shape 2"/>
          <p:cNvSpPr/>
          <p:nvPr/>
        </p:nvSpPr>
        <p:spPr>
          <a:xfrm>
            <a:off x="640080" y="2103120"/>
            <a:ext cx="914400" cy="4572"/>
          </a:xfrm>
          <a:prstGeom prst="rect">
            <a:avLst/>
          </a:prstGeom>
          <a:solidFill>
            <a:srgbClr val="ED2024"/>
          </a:solidFill>
          <a:ln/>
        </p:spPr>
      </p:sp>
      <p:sp>
        <p:nvSpPr>
          <p:cNvPr id="5" name="Text 3"/>
          <p:cNvSpPr/>
          <p:nvPr/>
        </p:nvSpPr>
        <p:spPr>
          <a:xfrm>
            <a:off x="640080" y="2423160"/>
            <a:ext cx="10972800" cy="1005840"/>
          </a:xfrm>
          <a:prstGeom prst="rect">
            <a:avLst/>
          </a:prstGeom>
          <a:noFill/>
          <a:ln/>
        </p:spPr>
        <p:txBody>
          <a:bodyPr wrap="square" lIns="0" tIns="0" rIns="0" bIns="0" rtlCol="0" anchor="t"/>
          <a:lstStyle/>
          <a:p>
            <a:pPr indent="0" marL="0">
              <a:buNone/>
            </a:pPr>
            <a:r>
              <a:rPr lang="en-US" sz="1400" dirty="0">
                <a:solidFill>
                  <a:srgbClr val="8A8A87"/>
                </a:solidFill>
                <a:latin typeface="Britti Sans, Helvetica Neue, Helvetica, Arial" pitchFamily="34" charset="0"/>
                <a:ea typeface="Britti Sans, Helvetica Neue, Helvetica, Arial" pitchFamily="34" charset="-122"/>
                <a:cs typeface="Britti Sans, Helvetica Neue, Helvetica, Arial" pitchFamily="34" charset="-120"/>
              </a:rPr>
              <a:t>Three things are true today that weren't 18 months ago. Together they make this the moment finance teams can actually use AI — and the moment regulators start paying attention to ones that do it wrong.</a:t>
            </a:r>
            <a:endParaRPr lang="en-US" sz="1400" dirty="0"/>
          </a:p>
        </p:txBody>
      </p:sp>
      <p:sp>
        <p:nvSpPr>
          <p:cNvPr id="6" name="Text 4"/>
          <p:cNvSpPr/>
          <p:nvPr/>
        </p:nvSpPr>
        <p:spPr>
          <a:xfrm>
            <a:off x="640080" y="3840480"/>
            <a:ext cx="1371600" cy="502920"/>
          </a:xfrm>
          <a:prstGeom prst="rect">
            <a:avLst/>
          </a:prstGeom>
          <a:noFill/>
          <a:ln/>
        </p:spPr>
        <p:txBody>
          <a:bodyPr wrap="square" lIns="0" tIns="0" rIns="0" bIns="0" rtlCol="0" anchor="ctr"/>
          <a:lstStyle/>
          <a:p>
            <a:pPr indent="0" marL="0">
              <a:buNone/>
            </a:pPr>
            <a:r>
              <a:rPr lang="en-US" sz="1100" spc="800" kern="0" dirty="0">
                <a:solidFill>
                  <a:srgbClr val="ED2024"/>
                </a:solidFill>
                <a:latin typeface="Menlo, Consolas, Courier New" pitchFamily="34" charset="0"/>
                <a:ea typeface="Menlo, Consolas, Courier New" pitchFamily="34" charset="-122"/>
                <a:cs typeface="Menlo, Consolas, Courier New" pitchFamily="34" charset="-120"/>
              </a:rPr>
              <a:t>01</a:t>
            </a:r>
            <a:endParaRPr lang="en-US" sz="1100" dirty="0"/>
          </a:p>
        </p:txBody>
      </p:sp>
      <p:sp>
        <p:nvSpPr>
          <p:cNvPr id="7" name="Shape 5"/>
          <p:cNvSpPr/>
          <p:nvPr/>
        </p:nvSpPr>
        <p:spPr>
          <a:xfrm>
            <a:off x="640080" y="4389120"/>
            <a:ext cx="457200" cy="4572"/>
          </a:xfrm>
          <a:prstGeom prst="rect">
            <a:avLst/>
          </a:prstGeom>
          <a:solidFill>
            <a:srgbClr val="ED2024"/>
          </a:solidFill>
          <a:ln/>
        </p:spPr>
      </p:sp>
      <p:sp>
        <p:nvSpPr>
          <p:cNvPr id="8" name="Text 6"/>
          <p:cNvSpPr/>
          <p:nvPr/>
        </p:nvSpPr>
        <p:spPr>
          <a:xfrm>
            <a:off x="640080" y="4572000"/>
            <a:ext cx="3429000" cy="548640"/>
          </a:xfrm>
          <a:prstGeom prst="rect">
            <a:avLst/>
          </a:prstGeom>
          <a:noFill/>
          <a:ln/>
        </p:spPr>
        <p:txBody>
          <a:bodyPr wrap="square" lIns="0" tIns="0" rIns="0" bIns="0" rtlCol="0" anchor="ctr"/>
          <a:lstStyle/>
          <a:p>
            <a:pPr indent="0" marL="0">
              <a:buNone/>
            </a:pPr>
            <a:r>
              <a:rPr lang="en-US" sz="1800" dirty="0">
                <a:solidFill>
                  <a:srgbClr val="F5F5F3"/>
                </a:solidFill>
                <a:latin typeface="Britti Sans, Helvetica Neue, Helvetica, Arial" pitchFamily="34" charset="0"/>
                <a:ea typeface="Britti Sans, Helvetica Neue, Helvetica, Arial" pitchFamily="34" charset="-122"/>
                <a:cs typeface="Britti Sans, Helvetica Neue, Helvetica, Arial" pitchFamily="34" charset="-120"/>
              </a:rPr>
              <a:t>Models are good enough</a:t>
            </a:r>
            <a:endParaRPr lang="en-US" sz="1800" dirty="0"/>
          </a:p>
        </p:txBody>
      </p:sp>
      <p:sp>
        <p:nvSpPr>
          <p:cNvPr id="9" name="Text 7"/>
          <p:cNvSpPr/>
          <p:nvPr/>
        </p:nvSpPr>
        <p:spPr>
          <a:xfrm>
            <a:off x="640080" y="5166360"/>
            <a:ext cx="3429000" cy="1097280"/>
          </a:xfrm>
          <a:prstGeom prst="rect">
            <a:avLst/>
          </a:prstGeom>
          <a:noFill/>
          <a:ln/>
        </p:spPr>
        <p:txBody>
          <a:bodyPr wrap="square" lIns="0" tIns="0" rIns="0" bIns="0" rtlCol="0" anchor="t"/>
          <a:lstStyle/>
          <a:p>
            <a:pPr indent="0" marL="0">
              <a:buNone/>
            </a:pPr>
            <a:r>
              <a:rPr lang="en-US" sz="1200" dirty="0">
                <a:solidFill>
                  <a:srgbClr val="8A8A87"/>
                </a:solidFill>
                <a:latin typeface="Britti Sans, Helvetica Neue, Helvetica, Arial" pitchFamily="34" charset="0"/>
                <a:ea typeface="Britti Sans, Helvetica Neue, Helvetica, Arial" pitchFamily="34" charset="-122"/>
                <a:cs typeface="Britti Sans, Helvetica Neue, Helvetica, Arial" pitchFamily="34" charset="-120"/>
              </a:rPr>
              <a:t>Frontier models now handle finance reasoning at controller level. The technology hurdle that kept this from happening in 2023 is gone.</a:t>
            </a:r>
            <a:endParaRPr lang="en-US" sz="1200" dirty="0"/>
          </a:p>
        </p:txBody>
      </p:sp>
      <p:sp>
        <p:nvSpPr>
          <p:cNvPr id="10" name="Text 8"/>
          <p:cNvSpPr/>
          <p:nvPr/>
        </p:nvSpPr>
        <p:spPr>
          <a:xfrm>
            <a:off x="4480560" y="3840480"/>
            <a:ext cx="1371600" cy="502920"/>
          </a:xfrm>
          <a:prstGeom prst="rect">
            <a:avLst/>
          </a:prstGeom>
          <a:noFill/>
          <a:ln/>
        </p:spPr>
        <p:txBody>
          <a:bodyPr wrap="square" lIns="0" tIns="0" rIns="0" bIns="0" rtlCol="0" anchor="ctr"/>
          <a:lstStyle/>
          <a:p>
            <a:pPr indent="0" marL="0">
              <a:buNone/>
            </a:pPr>
            <a:r>
              <a:rPr lang="en-US" sz="1100" spc="800" kern="0" dirty="0">
                <a:solidFill>
                  <a:srgbClr val="ED2024"/>
                </a:solidFill>
                <a:latin typeface="Menlo, Consolas, Courier New" pitchFamily="34" charset="0"/>
                <a:ea typeface="Menlo, Consolas, Courier New" pitchFamily="34" charset="-122"/>
                <a:cs typeface="Menlo, Consolas, Courier New" pitchFamily="34" charset="-120"/>
              </a:rPr>
              <a:t>02</a:t>
            </a:r>
            <a:endParaRPr lang="en-US" sz="1100" dirty="0"/>
          </a:p>
        </p:txBody>
      </p:sp>
      <p:sp>
        <p:nvSpPr>
          <p:cNvPr id="11" name="Shape 9"/>
          <p:cNvSpPr/>
          <p:nvPr/>
        </p:nvSpPr>
        <p:spPr>
          <a:xfrm>
            <a:off x="4480560" y="4389120"/>
            <a:ext cx="457200" cy="4572"/>
          </a:xfrm>
          <a:prstGeom prst="rect">
            <a:avLst/>
          </a:prstGeom>
          <a:solidFill>
            <a:srgbClr val="ED2024"/>
          </a:solidFill>
          <a:ln/>
        </p:spPr>
      </p:sp>
      <p:sp>
        <p:nvSpPr>
          <p:cNvPr id="12" name="Text 10"/>
          <p:cNvSpPr/>
          <p:nvPr/>
        </p:nvSpPr>
        <p:spPr>
          <a:xfrm>
            <a:off x="4480560" y="4572000"/>
            <a:ext cx="3429000" cy="548640"/>
          </a:xfrm>
          <a:prstGeom prst="rect">
            <a:avLst/>
          </a:prstGeom>
          <a:noFill/>
          <a:ln/>
        </p:spPr>
        <p:txBody>
          <a:bodyPr wrap="square" lIns="0" tIns="0" rIns="0" bIns="0" rtlCol="0" anchor="ctr"/>
          <a:lstStyle/>
          <a:p>
            <a:pPr indent="0" marL="0">
              <a:buNone/>
            </a:pPr>
            <a:r>
              <a:rPr lang="en-US" sz="1800" dirty="0">
                <a:solidFill>
                  <a:srgbClr val="F5F5F3"/>
                </a:solidFill>
                <a:latin typeface="Britti Sans, Helvetica Neue, Helvetica, Arial" pitchFamily="34" charset="0"/>
                <a:ea typeface="Britti Sans, Helvetica Neue, Helvetica, Arial" pitchFamily="34" charset="-122"/>
                <a:cs typeface="Britti Sans, Helvetica Neue, Helvetica, Arial" pitchFamily="34" charset="-120"/>
              </a:rPr>
              <a:t>Regulators are looking</a:t>
            </a:r>
            <a:endParaRPr lang="en-US" sz="1800" dirty="0"/>
          </a:p>
        </p:txBody>
      </p:sp>
      <p:sp>
        <p:nvSpPr>
          <p:cNvPr id="13" name="Text 11"/>
          <p:cNvSpPr/>
          <p:nvPr/>
        </p:nvSpPr>
        <p:spPr>
          <a:xfrm>
            <a:off x="4480560" y="5166360"/>
            <a:ext cx="3429000" cy="1097280"/>
          </a:xfrm>
          <a:prstGeom prst="rect">
            <a:avLst/>
          </a:prstGeom>
          <a:noFill/>
          <a:ln/>
        </p:spPr>
        <p:txBody>
          <a:bodyPr wrap="square" lIns="0" tIns="0" rIns="0" bIns="0" rtlCol="0" anchor="t"/>
          <a:lstStyle/>
          <a:p>
            <a:pPr indent="0" marL="0">
              <a:buNone/>
            </a:pPr>
            <a:r>
              <a:rPr lang="en-US" sz="1200" dirty="0">
                <a:solidFill>
                  <a:srgbClr val="8A8A87"/>
                </a:solidFill>
                <a:latin typeface="Britti Sans, Helvetica Neue, Helvetica, Arial" pitchFamily="34" charset="0"/>
                <a:ea typeface="Britti Sans, Helvetica Neue, Helvetica, Arial" pitchFamily="34" charset="-122"/>
                <a:cs typeface="Britti Sans, Helvetica Neue, Helvetica, Arial" pitchFamily="34" charset="-120"/>
              </a:rPr>
              <a:t>EU AI Act, FINMA guidance, and SEC examination priorities now flag uncontrolled LLM usage in financial services.</a:t>
            </a:r>
            <a:endParaRPr lang="en-US" sz="1200" dirty="0"/>
          </a:p>
        </p:txBody>
      </p:sp>
      <p:sp>
        <p:nvSpPr>
          <p:cNvPr id="14" name="Text 12"/>
          <p:cNvSpPr/>
          <p:nvPr/>
        </p:nvSpPr>
        <p:spPr>
          <a:xfrm>
            <a:off x="8321040" y="3840480"/>
            <a:ext cx="1371600" cy="502920"/>
          </a:xfrm>
          <a:prstGeom prst="rect">
            <a:avLst/>
          </a:prstGeom>
          <a:noFill/>
          <a:ln/>
        </p:spPr>
        <p:txBody>
          <a:bodyPr wrap="square" lIns="0" tIns="0" rIns="0" bIns="0" rtlCol="0" anchor="ctr"/>
          <a:lstStyle/>
          <a:p>
            <a:pPr indent="0" marL="0">
              <a:buNone/>
            </a:pPr>
            <a:r>
              <a:rPr lang="en-US" sz="1100" spc="800" kern="0" dirty="0">
                <a:solidFill>
                  <a:srgbClr val="ED2024"/>
                </a:solidFill>
                <a:latin typeface="Menlo, Consolas, Courier New" pitchFamily="34" charset="0"/>
                <a:ea typeface="Menlo, Consolas, Courier New" pitchFamily="34" charset="-122"/>
                <a:cs typeface="Menlo, Consolas, Courier New" pitchFamily="34" charset="-120"/>
              </a:rPr>
              <a:t>03</a:t>
            </a:r>
            <a:endParaRPr lang="en-US" sz="1100" dirty="0"/>
          </a:p>
        </p:txBody>
      </p:sp>
      <p:sp>
        <p:nvSpPr>
          <p:cNvPr id="15" name="Shape 13"/>
          <p:cNvSpPr/>
          <p:nvPr/>
        </p:nvSpPr>
        <p:spPr>
          <a:xfrm>
            <a:off x="8321040" y="4389120"/>
            <a:ext cx="457200" cy="4572"/>
          </a:xfrm>
          <a:prstGeom prst="rect">
            <a:avLst/>
          </a:prstGeom>
          <a:solidFill>
            <a:srgbClr val="ED2024"/>
          </a:solidFill>
          <a:ln/>
        </p:spPr>
      </p:sp>
      <p:sp>
        <p:nvSpPr>
          <p:cNvPr id="16" name="Text 14"/>
          <p:cNvSpPr/>
          <p:nvPr/>
        </p:nvSpPr>
        <p:spPr>
          <a:xfrm>
            <a:off x="8321040" y="4572000"/>
            <a:ext cx="3429000" cy="548640"/>
          </a:xfrm>
          <a:prstGeom prst="rect">
            <a:avLst/>
          </a:prstGeom>
          <a:noFill/>
          <a:ln/>
        </p:spPr>
        <p:txBody>
          <a:bodyPr wrap="square" lIns="0" tIns="0" rIns="0" bIns="0" rtlCol="0" anchor="ctr"/>
          <a:lstStyle/>
          <a:p>
            <a:pPr indent="0" marL="0">
              <a:buNone/>
            </a:pPr>
            <a:r>
              <a:rPr lang="en-US" sz="1800" dirty="0">
                <a:solidFill>
                  <a:srgbClr val="F5F5F3"/>
                </a:solidFill>
                <a:latin typeface="Britti Sans, Helvetica Neue, Helvetica, Arial" pitchFamily="34" charset="0"/>
                <a:ea typeface="Britti Sans, Helvetica Neue, Helvetica, Arial" pitchFamily="34" charset="-122"/>
                <a:cs typeface="Britti Sans, Helvetica Neue, Helvetica, Arial" pitchFamily="34" charset="-120"/>
              </a:rPr>
              <a:t>Buyers are educated</a:t>
            </a:r>
            <a:endParaRPr lang="en-US" sz="1800" dirty="0"/>
          </a:p>
        </p:txBody>
      </p:sp>
      <p:sp>
        <p:nvSpPr>
          <p:cNvPr id="17" name="Text 15"/>
          <p:cNvSpPr/>
          <p:nvPr/>
        </p:nvSpPr>
        <p:spPr>
          <a:xfrm>
            <a:off x="8321040" y="5166360"/>
            <a:ext cx="3429000" cy="1097280"/>
          </a:xfrm>
          <a:prstGeom prst="rect">
            <a:avLst/>
          </a:prstGeom>
          <a:noFill/>
          <a:ln/>
        </p:spPr>
        <p:txBody>
          <a:bodyPr wrap="square" lIns="0" tIns="0" rIns="0" bIns="0" rtlCol="0" anchor="t"/>
          <a:lstStyle/>
          <a:p>
            <a:pPr indent="0" marL="0">
              <a:buNone/>
            </a:pPr>
            <a:r>
              <a:rPr lang="en-US" sz="1200" dirty="0">
                <a:solidFill>
                  <a:srgbClr val="8A8A87"/>
                </a:solidFill>
                <a:latin typeface="Britti Sans, Helvetica Neue, Helvetica, Arial" pitchFamily="34" charset="0"/>
                <a:ea typeface="Britti Sans, Helvetica Neue, Helvetica, Arial" pitchFamily="34" charset="-122"/>
                <a:cs typeface="Britti Sans, Helvetica Neue, Helvetica, Arial" pitchFamily="34" charset="-120"/>
              </a:rPr>
              <a:t>Every CFO has AI in their browser. The question isn't whether to use AI — it's how to make it safe.</a:t>
            </a:r>
            <a:endParaRPr lang="en-US" sz="1200" dirty="0"/>
          </a:p>
        </p:txBody>
      </p:sp>
      <p:sp>
        <p:nvSpPr>
          <p:cNvPr id="18" name="Text 16"/>
          <p:cNvSpPr/>
          <p:nvPr/>
        </p:nvSpPr>
        <p:spPr>
          <a:xfrm>
            <a:off x="640080" y="6446520"/>
            <a:ext cx="1828800" cy="274320"/>
          </a:xfrm>
          <a:prstGeom prst="rect">
            <a:avLst/>
          </a:prstGeom>
          <a:noFill/>
          <a:ln/>
        </p:spPr>
        <p:txBody>
          <a:bodyPr wrap="square" lIns="0" tIns="0" rIns="0" bIns="0" rtlCol="0" anchor="ctr"/>
          <a:lstStyle/>
          <a:p>
            <a:pPr indent="0" marL="0">
              <a:buNone/>
            </a:pPr>
            <a:r>
              <a:rPr lang="en-US" sz="800" spc="800" kern="0" dirty="0">
                <a:solidFill>
                  <a:srgbClr val="555552"/>
                </a:solidFill>
                <a:latin typeface="Menlo, Consolas, Courier New" pitchFamily="34" charset="0"/>
                <a:ea typeface="Menlo, Consolas, Courier New" pitchFamily="34" charset="-122"/>
                <a:cs typeface="Menlo, Consolas, Courier New" pitchFamily="34" charset="-120"/>
              </a:rPr>
              <a:t>CALIBER</a:t>
            </a:r>
            <a:endParaRPr lang="en-US" sz="800" dirty="0"/>
          </a:p>
        </p:txBody>
      </p:sp>
      <p:sp>
        <p:nvSpPr>
          <p:cNvPr id="19" name="Text 17"/>
          <p:cNvSpPr/>
          <p:nvPr/>
        </p:nvSpPr>
        <p:spPr>
          <a:xfrm>
            <a:off x="10972800" y="6446520"/>
            <a:ext cx="914400" cy="274320"/>
          </a:xfrm>
          <a:prstGeom prst="rect">
            <a:avLst/>
          </a:prstGeom>
          <a:noFill/>
          <a:ln/>
        </p:spPr>
        <p:txBody>
          <a:bodyPr wrap="square" lIns="0" tIns="0" rIns="0" bIns="0" rtlCol="0" anchor="ctr"/>
          <a:lstStyle/>
          <a:p>
            <a:pPr algn="r" indent="0" marL="0">
              <a:buNone/>
            </a:pPr>
            <a:r>
              <a:rPr lang="en-US" sz="800" spc="400" kern="0" dirty="0">
                <a:solidFill>
                  <a:srgbClr val="555552"/>
                </a:solidFill>
                <a:latin typeface="Menlo, Consolas, Courier New" pitchFamily="34" charset="0"/>
                <a:ea typeface="Menlo, Consolas, Courier New" pitchFamily="34" charset="-122"/>
                <a:cs typeface="Menlo, Consolas, Courier New" pitchFamily="34" charset="-120"/>
              </a:rPr>
              <a:t>12 / 13</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640080" y="502920"/>
            <a:ext cx="10972800" cy="274320"/>
          </a:xfrm>
          <a:prstGeom prst="rect">
            <a:avLst/>
          </a:prstGeom>
          <a:noFill/>
          <a:ln/>
        </p:spPr>
        <p:txBody>
          <a:bodyPr wrap="square" lIns="0" tIns="0" rIns="0" bIns="0" rtlCol="0" anchor="ctr"/>
          <a:lstStyle/>
          <a:p>
            <a:pPr indent="0" marL="0">
              <a:buNone/>
            </a:pPr>
            <a:r>
              <a:rPr lang="en-US" sz="1000" spc="800" kern="0" dirty="0">
                <a:solidFill>
                  <a:srgbClr val="ED2024"/>
                </a:solidFill>
                <a:latin typeface="Menlo, Consolas, Courier New" pitchFamily="34" charset="0"/>
                <a:ea typeface="Menlo, Consolas, Courier New" pitchFamily="34" charset="-122"/>
                <a:cs typeface="Menlo, Consolas, Courier New" pitchFamily="34" charset="-120"/>
              </a:rPr>
              <a:t>12 · NEXT STEPS</a:t>
            </a:r>
            <a:endParaRPr lang="en-US" sz="1000" dirty="0"/>
          </a:p>
        </p:txBody>
      </p:sp>
      <p:sp>
        <p:nvSpPr>
          <p:cNvPr id="3" name="Text 1"/>
          <p:cNvSpPr/>
          <p:nvPr/>
        </p:nvSpPr>
        <p:spPr>
          <a:xfrm>
            <a:off x="640080" y="1005840"/>
            <a:ext cx="10972800" cy="822960"/>
          </a:xfrm>
          <a:prstGeom prst="rect">
            <a:avLst/>
          </a:prstGeom>
          <a:noFill/>
          <a:ln/>
        </p:spPr>
        <p:txBody>
          <a:bodyPr wrap="square" lIns="0" tIns="0" rIns="0" bIns="0" rtlCol="0" anchor="ctr"/>
          <a:lstStyle/>
          <a:p>
            <a:pPr indent="0" marL="0">
              <a:buNone/>
            </a:pPr>
            <a:r>
              <a:rPr lang="en-US" sz="4400" dirty="0">
                <a:solidFill>
                  <a:srgbClr val="F5F5F3"/>
                </a:solidFill>
                <a:latin typeface="Britti Sans, Helvetica Neue, Helvetica, Arial" pitchFamily="34" charset="0"/>
                <a:ea typeface="Britti Sans, Helvetica Neue, Helvetica, Arial" pitchFamily="34" charset="-122"/>
                <a:cs typeface="Britti Sans, Helvetica Neue, Helvetica, Arial" pitchFamily="34" charset="-120"/>
              </a:rPr>
              <a:t>Let's get you safe with AI</a:t>
            </a:r>
            <a:endParaRPr lang="en-US" sz="4400" dirty="0"/>
          </a:p>
        </p:txBody>
      </p:sp>
      <p:sp>
        <p:nvSpPr>
          <p:cNvPr id="4" name="Text 2"/>
          <p:cNvSpPr/>
          <p:nvPr/>
        </p:nvSpPr>
        <p:spPr>
          <a:xfrm>
            <a:off x="640080" y="1691640"/>
            <a:ext cx="10972800" cy="822960"/>
          </a:xfrm>
          <a:prstGeom prst="rect">
            <a:avLst/>
          </a:prstGeom>
          <a:noFill/>
          <a:ln/>
        </p:spPr>
        <p:txBody>
          <a:bodyPr wrap="square" lIns="0" tIns="0" rIns="0" bIns="0" rtlCol="0" anchor="ctr"/>
          <a:lstStyle/>
          <a:p>
            <a:pPr indent="0" marL="0">
              <a:buNone/>
            </a:pPr>
            <a:r>
              <a:rPr lang="en-US" sz="4400" dirty="0">
                <a:solidFill>
                  <a:srgbClr val="ED2024"/>
                </a:solidFill>
                <a:latin typeface="Britti Sans, Helvetica Neue, Helvetica, Arial" pitchFamily="34" charset="0"/>
                <a:ea typeface="Britti Sans, Helvetica Neue, Helvetica, Arial" pitchFamily="34" charset="-122"/>
                <a:cs typeface="Britti Sans, Helvetica Neue, Helvetica, Arial" pitchFamily="34" charset="-120"/>
              </a:rPr>
              <a:t>in the next 30 days.</a:t>
            </a:r>
            <a:endParaRPr lang="en-US" sz="4400" dirty="0"/>
          </a:p>
        </p:txBody>
      </p:sp>
      <p:sp>
        <p:nvSpPr>
          <p:cNvPr id="5" name="Shape 3"/>
          <p:cNvSpPr/>
          <p:nvPr/>
        </p:nvSpPr>
        <p:spPr>
          <a:xfrm>
            <a:off x="640080" y="2788920"/>
            <a:ext cx="914400" cy="4572"/>
          </a:xfrm>
          <a:prstGeom prst="rect">
            <a:avLst/>
          </a:prstGeom>
          <a:solidFill>
            <a:srgbClr val="ED2024"/>
          </a:solidFill>
          <a:ln/>
        </p:spPr>
      </p:sp>
      <p:sp>
        <p:nvSpPr>
          <p:cNvPr id="6" name="Text 4"/>
          <p:cNvSpPr/>
          <p:nvPr/>
        </p:nvSpPr>
        <p:spPr>
          <a:xfrm>
            <a:off x="640080" y="3246120"/>
            <a:ext cx="1371600" cy="411480"/>
          </a:xfrm>
          <a:prstGeom prst="rect">
            <a:avLst/>
          </a:prstGeom>
          <a:noFill/>
          <a:ln/>
        </p:spPr>
        <p:txBody>
          <a:bodyPr wrap="square" lIns="0" tIns="0" rIns="0" bIns="0" rtlCol="0" anchor="ctr"/>
          <a:lstStyle/>
          <a:p>
            <a:pPr indent="0" marL="0">
              <a:buNone/>
            </a:pPr>
            <a:r>
              <a:rPr lang="en-US" sz="1100" spc="800" kern="0" dirty="0">
                <a:solidFill>
                  <a:srgbClr val="ED2024"/>
                </a:solidFill>
                <a:latin typeface="Menlo, Consolas, Courier New" pitchFamily="34" charset="0"/>
                <a:ea typeface="Menlo, Consolas, Courier New" pitchFamily="34" charset="-122"/>
                <a:cs typeface="Menlo, Consolas, Courier New" pitchFamily="34" charset="-120"/>
              </a:rPr>
              <a:t>01</a:t>
            </a:r>
            <a:endParaRPr lang="en-US" sz="1100" dirty="0"/>
          </a:p>
        </p:txBody>
      </p:sp>
      <p:sp>
        <p:nvSpPr>
          <p:cNvPr id="7" name="Shape 5"/>
          <p:cNvSpPr/>
          <p:nvPr/>
        </p:nvSpPr>
        <p:spPr>
          <a:xfrm>
            <a:off x="640080" y="3657600"/>
            <a:ext cx="457200" cy="4572"/>
          </a:xfrm>
          <a:prstGeom prst="rect">
            <a:avLst/>
          </a:prstGeom>
          <a:solidFill>
            <a:srgbClr val="ED2024"/>
          </a:solidFill>
          <a:ln/>
        </p:spPr>
      </p:sp>
      <p:sp>
        <p:nvSpPr>
          <p:cNvPr id="8" name="Text 6"/>
          <p:cNvSpPr/>
          <p:nvPr/>
        </p:nvSpPr>
        <p:spPr>
          <a:xfrm>
            <a:off x="640080" y="3840480"/>
            <a:ext cx="3429000" cy="457200"/>
          </a:xfrm>
          <a:prstGeom prst="rect">
            <a:avLst/>
          </a:prstGeom>
          <a:noFill/>
          <a:ln/>
        </p:spPr>
        <p:txBody>
          <a:bodyPr wrap="square" lIns="0" tIns="0" rIns="0" bIns="0" rtlCol="0" anchor="ctr"/>
          <a:lstStyle/>
          <a:p>
            <a:pPr indent="0" marL="0">
              <a:buNone/>
            </a:pPr>
            <a:r>
              <a:rPr lang="en-US" sz="2000" dirty="0">
                <a:solidFill>
                  <a:srgbClr val="F5F5F3"/>
                </a:solidFill>
                <a:latin typeface="Britti Sans, Helvetica Neue, Helvetica, Arial" pitchFamily="34" charset="0"/>
                <a:ea typeface="Britti Sans, Helvetica Neue, Helvetica, Arial" pitchFamily="34" charset="-122"/>
                <a:cs typeface="Britti Sans, Helvetica Neue, Helvetica, Arial" pitchFamily="34" charset="-120"/>
              </a:rPr>
              <a:t>Kickoff call</a:t>
            </a:r>
            <a:endParaRPr lang="en-US" sz="2000" dirty="0"/>
          </a:p>
        </p:txBody>
      </p:sp>
      <p:sp>
        <p:nvSpPr>
          <p:cNvPr id="9" name="Text 7"/>
          <p:cNvSpPr/>
          <p:nvPr/>
        </p:nvSpPr>
        <p:spPr>
          <a:xfrm>
            <a:off x="640080" y="4343400"/>
            <a:ext cx="3429000" cy="914400"/>
          </a:xfrm>
          <a:prstGeom prst="rect">
            <a:avLst/>
          </a:prstGeom>
          <a:noFill/>
          <a:ln/>
        </p:spPr>
        <p:txBody>
          <a:bodyPr wrap="square" lIns="0" tIns="0" rIns="0" bIns="0" rtlCol="0" anchor="t"/>
          <a:lstStyle/>
          <a:p>
            <a:pPr indent="0" marL="0">
              <a:buNone/>
            </a:pPr>
            <a:r>
              <a:rPr lang="en-US" sz="1200" dirty="0">
                <a:solidFill>
                  <a:srgbClr val="8A8A87"/>
                </a:solidFill>
                <a:latin typeface="Britti Sans, Helvetica Neue, Helvetica, Arial" pitchFamily="34" charset="0"/>
                <a:ea typeface="Britti Sans, Helvetica Neue, Helvetica, Arial" pitchFamily="34" charset="-122"/>
                <a:cs typeface="Britti Sans, Helvetica Neue, Helvetica, Arial" pitchFamily="34" charset="-120"/>
              </a:rPr>
              <a:t>30 minutes, this week. Pick 1-3 data sources to connect first.</a:t>
            </a:r>
            <a:endParaRPr lang="en-US" sz="1200" dirty="0"/>
          </a:p>
        </p:txBody>
      </p:sp>
      <p:sp>
        <p:nvSpPr>
          <p:cNvPr id="10" name="Text 8"/>
          <p:cNvSpPr/>
          <p:nvPr/>
        </p:nvSpPr>
        <p:spPr>
          <a:xfrm>
            <a:off x="4480560" y="3246120"/>
            <a:ext cx="1371600" cy="411480"/>
          </a:xfrm>
          <a:prstGeom prst="rect">
            <a:avLst/>
          </a:prstGeom>
          <a:noFill/>
          <a:ln/>
        </p:spPr>
        <p:txBody>
          <a:bodyPr wrap="square" lIns="0" tIns="0" rIns="0" bIns="0" rtlCol="0" anchor="ctr"/>
          <a:lstStyle/>
          <a:p>
            <a:pPr indent="0" marL="0">
              <a:buNone/>
            </a:pPr>
            <a:r>
              <a:rPr lang="en-US" sz="1100" spc="800" kern="0" dirty="0">
                <a:solidFill>
                  <a:srgbClr val="ED2024"/>
                </a:solidFill>
                <a:latin typeface="Menlo, Consolas, Courier New" pitchFamily="34" charset="0"/>
                <a:ea typeface="Menlo, Consolas, Courier New" pitchFamily="34" charset="-122"/>
                <a:cs typeface="Menlo, Consolas, Courier New" pitchFamily="34" charset="-120"/>
              </a:rPr>
              <a:t>02</a:t>
            </a:r>
            <a:endParaRPr lang="en-US" sz="1100" dirty="0"/>
          </a:p>
        </p:txBody>
      </p:sp>
      <p:sp>
        <p:nvSpPr>
          <p:cNvPr id="11" name="Shape 9"/>
          <p:cNvSpPr/>
          <p:nvPr/>
        </p:nvSpPr>
        <p:spPr>
          <a:xfrm>
            <a:off x="4480560" y="3657600"/>
            <a:ext cx="457200" cy="4572"/>
          </a:xfrm>
          <a:prstGeom prst="rect">
            <a:avLst/>
          </a:prstGeom>
          <a:solidFill>
            <a:srgbClr val="ED2024"/>
          </a:solidFill>
          <a:ln/>
        </p:spPr>
      </p:sp>
      <p:sp>
        <p:nvSpPr>
          <p:cNvPr id="12" name="Text 10"/>
          <p:cNvSpPr/>
          <p:nvPr/>
        </p:nvSpPr>
        <p:spPr>
          <a:xfrm>
            <a:off x="4480560" y="3840480"/>
            <a:ext cx="3429000" cy="457200"/>
          </a:xfrm>
          <a:prstGeom prst="rect">
            <a:avLst/>
          </a:prstGeom>
          <a:noFill/>
          <a:ln/>
        </p:spPr>
        <p:txBody>
          <a:bodyPr wrap="square" lIns="0" tIns="0" rIns="0" bIns="0" rtlCol="0" anchor="ctr"/>
          <a:lstStyle/>
          <a:p>
            <a:pPr indent="0" marL="0">
              <a:buNone/>
            </a:pPr>
            <a:r>
              <a:rPr lang="en-US" sz="2000" dirty="0">
                <a:solidFill>
                  <a:srgbClr val="F5F5F3"/>
                </a:solidFill>
                <a:latin typeface="Britti Sans, Helvetica Neue, Helvetica, Arial" pitchFamily="34" charset="0"/>
                <a:ea typeface="Britti Sans, Helvetica Neue, Helvetica, Arial" pitchFamily="34" charset="-122"/>
                <a:cs typeface="Britti Sans, Helvetica Neue, Helvetica, Arial" pitchFamily="34" charset="-120"/>
              </a:rPr>
              <a:t>Onboarding</a:t>
            </a:r>
            <a:endParaRPr lang="en-US" sz="2000" dirty="0"/>
          </a:p>
        </p:txBody>
      </p:sp>
      <p:sp>
        <p:nvSpPr>
          <p:cNvPr id="13" name="Text 11"/>
          <p:cNvSpPr/>
          <p:nvPr/>
        </p:nvSpPr>
        <p:spPr>
          <a:xfrm>
            <a:off x="4480560" y="4343400"/>
            <a:ext cx="3429000" cy="914400"/>
          </a:xfrm>
          <a:prstGeom prst="rect">
            <a:avLst/>
          </a:prstGeom>
          <a:noFill/>
          <a:ln/>
        </p:spPr>
        <p:txBody>
          <a:bodyPr wrap="square" lIns="0" tIns="0" rIns="0" bIns="0" rtlCol="0" anchor="t"/>
          <a:lstStyle/>
          <a:p>
            <a:pPr indent="0" marL="0">
              <a:buNone/>
            </a:pPr>
            <a:r>
              <a:rPr lang="en-US" sz="1200" dirty="0">
                <a:solidFill>
                  <a:srgbClr val="8A8A87"/>
                </a:solidFill>
                <a:latin typeface="Britti Sans, Helvetica Neue, Helvetica, Arial" pitchFamily="34" charset="0"/>
                <a:ea typeface="Britti Sans, Helvetica Neue, Helvetica, Arial" pitchFamily="34" charset="-122"/>
                <a:cs typeface="Britti Sans, Helvetica Neue, Helvetica, Arial" pitchFamily="34" charset="-120"/>
              </a:rPr>
              <a:t>2-3 days. We connect everything, you walk through the dashboard with your team.</a:t>
            </a:r>
            <a:endParaRPr lang="en-US" sz="1200" dirty="0"/>
          </a:p>
        </p:txBody>
      </p:sp>
      <p:sp>
        <p:nvSpPr>
          <p:cNvPr id="14" name="Text 12"/>
          <p:cNvSpPr/>
          <p:nvPr/>
        </p:nvSpPr>
        <p:spPr>
          <a:xfrm>
            <a:off x="8321040" y="3246120"/>
            <a:ext cx="1371600" cy="411480"/>
          </a:xfrm>
          <a:prstGeom prst="rect">
            <a:avLst/>
          </a:prstGeom>
          <a:noFill/>
          <a:ln/>
        </p:spPr>
        <p:txBody>
          <a:bodyPr wrap="square" lIns="0" tIns="0" rIns="0" bIns="0" rtlCol="0" anchor="ctr"/>
          <a:lstStyle/>
          <a:p>
            <a:pPr indent="0" marL="0">
              <a:buNone/>
            </a:pPr>
            <a:r>
              <a:rPr lang="en-US" sz="1100" spc="800" kern="0" dirty="0">
                <a:solidFill>
                  <a:srgbClr val="ED2024"/>
                </a:solidFill>
                <a:latin typeface="Menlo, Consolas, Courier New" pitchFamily="34" charset="0"/>
                <a:ea typeface="Menlo, Consolas, Courier New" pitchFamily="34" charset="-122"/>
                <a:cs typeface="Menlo, Consolas, Courier New" pitchFamily="34" charset="-120"/>
              </a:rPr>
              <a:t>03</a:t>
            </a:r>
            <a:endParaRPr lang="en-US" sz="1100" dirty="0"/>
          </a:p>
        </p:txBody>
      </p:sp>
      <p:sp>
        <p:nvSpPr>
          <p:cNvPr id="15" name="Shape 13"/>
          <p:cNvSpPr/>
          <p:nvPr/>
        </p:nvSpPr>
        <p:spPr>
          <a:xfrm>
            <a:off x="8321040" y="3657600"/>
            <a:ext cx="457200" cy="4572"/>
          </a:xfrm>
          <a:prstGeom prst="rect">
            <a:avLst/>
          </a:prstGeom>
          <a:solidFill>
            <a:srgbClr val="ED2024"/>
          </a:solidFill>
          <a:ln/>
        </p:spPr>
      </p:sp>
      <p:sp>
        <p:nvSpPr>
          <p:cNvPr id="16" name="Text 14"/>
          <p:cNvSpPr/>
          <p:nvPr/>
        </p:nvSpPr>
        <p:spPr>
          <a:xfrm>
            <a:off x="8321040" y="3840480"/>
            <a:ext cx="3429000" cy="457200"/>
          </a:xfrm>
          <a:prstGeom prst="rect">
            <a:avLst/>
          </a:prstGeom>
          <a:noFill/>
          <a:ln/>
        </p:spPr>
        <p:txBody>
          <a:bodyPr wrap="square" lIns="0" tIns="0" rIns="0" bIns="0" rtlCol="0" anchor="ctr"/>
          <a:lstStyle/>
          <a:p>
            <a:pPr indent="0" marL="0">
              <a:buNone/>
            </a:pPr>
            <a:r>
              <a:rPr lang="en-US" sz="2000" dirty="0">
                <a:solidFill>
                  <a:srgbClr val="F5F5F3"/>
                </a:solidFill>
                <a:latin typeface="Britti Sans, Helvetica Neue, Helvetica, Arial" pitchFamily="34" charset="0"/>
                <a:ea typeface="Britti Sans, Helvetica Neue, Helvetica, Arial" pitchFamily="34" charset="-122"/>
                <a:cs typeface="Britti Sans, Helvetica Neue, Helvetica, Arial" pitchFamily="34" charset="-120"/>
              </a:rPr>
              <a:t>Sprint + decide</a:t>
            </a:r>
            <a:endParaRPr lang="en-US" sz="2000" dirty="0"/>
          </a:p>
        </p:txBody>
      </p:sp>
      <p:sp>
        <p:nvSpPr>
          <p:cNvPr id="17" name="Text 15"/>
          <p:cNvSpPr/>
          <p:nvPr/>
        </p:nvSpPr>
        <p:spPr>
          <a:xfrm>
            <a:off x="8321040" y="4343400"/>
            <a:ext cx="3429000" cy="914400"/>
          </a:xfrm>
          <a:prstGeom prst="rect">
            <a:avLst/>
          </a:prstGeom>
          <a:noFill/>
          <a:ln/>
        </p:spPr>
        <p:txBody>
          <a:bodyPr wrap="square" lIns="0" tIns="0" rIns="0" bIns="0" rtlCol="0" anchor="t"/>
          <a:lstStyle/>
          <a:p>
            <a:pPr indent="0" marL="0">
              <a:buNone/>
            </a:pPr>
            <a:r>
              <a:rPr lang="en-US" sz="1200" dirty="0">
                <a:solidFill>
                  <a:srgbClr val="8A8A87"/>
                </a:solidFill>
                <a:latin typeface="Britti Sans, Helvetica Neue, Helvetica, Arial" pitchFamily="34" charset="0"/>
                <a:ea typeface="Britti Sans, Helvetica Neue, Helvetica, Arial" pitchFamily="34" charset="-122"/>
                <a:cs typeface="Britti Sans, Helvetica Neue, Helvetica, Arial" pitchFamily="34" charset="-120"/>
              </a:rPr>
              <a:t>2 weeks live. Your team uses it daily. At week 2, keep going or walk away.</a:t>
            </a:r>
            <a:endParaRPr lang="en-US" sz="1200" dirty="0"/>
          </a:p>
        </p:txBody>
      </p:sp>
      <p:sp>
        <p:nvSpPr>
          <p:cNvPr id="18" name="Shape 16"/>
          <p:cNvSpPr/>
          <p:nvPr/>
        </p:nvSpPr>
        <p:spPr>
          <a:xfrm>
            <a:off x="640080" y="5715000"/>
            <a:ext cx="10972800" cy="4572"/>
          </a:xfrm>
          <a:prstGeom prst="rect">
            <a:avLst/>
          </a:prstGeom>
          <a:solidFill>
            <a:srgbClr val="1F1F1F"/>
          </a:solidFill>
          <a:ln/>
        </p:spPr>
      </p:sp>
      <p:sp>
        <p:nvSpPr>
          <p:cNvPr id="19" name="Text 17"/>
          <p:cNvSpPr/>
          <p:nvPr/>
        </p:nvSpPr>
        <p:spPr>
          <a:xfrm>
            <a:off x="640080" y="5852160"/>
            <a:ext cx="2743200" cy="274320"/>
          </a:xfrm>
          <a:prstGeom prst="rect">
            <a:avLst/>
          </a:prstGeom>
          <a:noFill/>
          <a:ln/>
        </p:spPr>
        <p:txBody>
          <a:bodyPr wrap="square" lIns="0" tIns="0" rIns="0" bIns="0" rtlCol="0" anchor="ctr"/>
          <a:lstStyle/>
          <a:p>
            <a:pPr indent="0" marL="0">
              <a:buNone/>
            </a:pPr>
            <a:r>
              <a:rPr lang="en-US" sz="900" spc="800" kern="0" dirty="0">
                <a:solidFill>
                  <a:srgbClr val="555552"/>
                </a:solidFill>
                <a:latin typeface="Menlo, Consolas, Courier New" pitchFamily="34" charset="0"/>
                <a:ea typeface="Menlo, Consolas, Courier New" pitchFamily="34" charset="-122"/>
                <a:cs typeface="Menlo, Consolas, Courier New" pitchFamily="34" charset="-120"/>
              </a:rPr>
              <a:t>CONTACT</a:t>
            </a:r>
            <a:endParaRPr lang="en-US" sz="900" dirty="0"/>
          </a:p>
        </p:txBody>
      </p:sp>
      <p:sp>
        <p:nvSpPr>
          <p:cNvPr id="20" name="Text 18"/>
          <p:cNvSpPr/>
          <p:nvPr/>
        </p:nvSpPr>
        <p:spPr>
          <a:xfrm>
            <a:off x="640080" y="6126480"/>
            <a:ext cx="10972800" cy="365760"/>
          </a:xfrm>
          <a:prstGeom prst="rect">
            <a:avLst/>
          </a:prstGeom>
          <a:noFill/>
          <a:ln/>
        </p:spPr>
        <p:txBody>
          <a:bodyPr wrap="square" lIns="0" tIns="0" rIns="0" bIns="0" rtlCol="0" anchor="ctr"/>
          <a:lstStyle/>
          <a:p>
            <a:pPr indent="0" marL="0">
              <a:buNone/>
            </a:pPr>
            <a:r>
              <a:rPr lang="en-US" sz="1400" dirty="0">
                <a:solidFill>
                  <a:srgbClr val="ED2024"/>
                </a:solidFill>
                <a:latin typeface="Britti Sans, Helvetica Neue, Helvetica, Arial" pitchFamily="34" charset="0"/>
                <a:ea typeface="Britti Sans, Helvetica Neue, Helvetica, Arial" pitchFamily="34" charset="-122"/>
                <a:cs typeface="Britti Sans, Helvetica Neue, Helvetica, Arial" pitchFamily="34" charset="-120"/>
              </a:rPr>
              <a:t>amaja@dialectic.com</a:t>
            </a:r>
            <a:pPr indent="0" marL="0">
              <a:buNone/>
            </a:pPr>
            <a:r>
              <a:rPr lang="en-US" sz="1400" dirty="0">
                <a:solidFill>
                  <a:srgbClr val="555552"/>
                </a:solidFill>
                <a:latin typeface="Britti Sans, Helvetica Neue, Helvetica, Arial" pitchFamily="34" charset="0"/>
                <a:ea typeface="Britti Sans, Helvetica Neue, Helvetica, Arial" pitchFamily="34" charset="-122"/>
                <a:cs typeface="Britti Sans, Helvetica Neue, Helvetica, Arial" pitchFamily="34" charset="-120"/>
              </a:rPr>
              <a:t>    ·    </a:t>
            </a:r>
            <a:pPr indent="0" marL="0">
              <a:buNone/>
            </a:pPr>
            <a:r>
              <a:rPr lang="en-US" sz="1400" dirty="0">
                <a:solidFill>
                  <a:srgbClr val="ED2024"/>
                </a:solidFill>
                <a:latin typeface="Britti Sans, Helvetica Neue, Helvetica, Arial" pitchFamily="34" charset="0"/>
                <a:ea typeface="Britti Sans, Helvetica Neue, Helvetica, Arial" pitchFamily="34" charset="-122"/>
                <a:cs typeface="Britti Sans, Helvetica Neue, Helvetica, Arial" pitchFamily="34" charset="-120"/>
              </a:rPr>
              <a:t>caliber.example</a:t>
            </a:r>
            <a:pPr indent="0" marL="0">
              <a:buNone/>
            </a:pPr>
            <a:r>
              <a:rPr lang="en-US" sz="1400" dirty="0">
                <a:solidFill>
                  <a:srgbClr val="555552"/>
                </a:solidFill>
                <a:latin typeface="Britti Sans, Helvetica Neue, Helvetica, Arial" pitchFamily="34" charset="0"/>
                <a:ea typeface="Britti Sans, Helvetica Neue, Helvetica, Arial" pitchFamily="34" charset="-122"/>
                <a:cs typeface="Britti Sans, Helvetica Neue, Helvetica, Arial" pitchFamily="34" charset="-120"/>
              </a:rPr>
              <a:t>    ·    </a:t>
            </a:r>
            <a:pPr indent="0" marL="0">
              <a:buNone/>
            </a:pPr>
            <a:r>
              <a:rPr lang="en-US" sz="1400" dirty="0">
                <a:solidFill>
                  <a:srgbClr val="F5F5F3"/>
                </a:solidFill>
                <a:latin typeface="Britti Sans, Helvetica Neue, Helvetica, Arial" pitchFamily="34" charset="0"/>
                <a:ea typeface="Britti Sans, Helvetica Neue, Helvetica, Arial" pitchFamily="34" charset="-122"/>
                <a:cs typeface="Britti Sans, Helvetica Neue, Helvetica, Arial" pitchFamily="34" charset="-120"/>
              </a:rPr>
              <a:t>+41 79 000 00 00</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Caliber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Caliber — Privacy LLM Gateway</dc:title>
  <dc:subject>PptxGenJS Presentation</dc:subject>
  <dc:creator>Amaan Jalwa</dc:creator>
  <cp:lastModifiedBy>Amaan Jalwa</cp:lastModifiedBy>
  <cp:revision>1</cp:revision>
  <dcterms:created xsi:type="dcterms:W3CDTF">2026-06-02T08:43:46Z</dcterms:created>
  <dcterms:modified xsi:type="dcterms:W3CDTF">2026-06-02T08:43:46Z</dcterms:modified>
</cp:coreProperties>
</file>